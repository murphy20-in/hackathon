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14"/>
  </p:notesMasterIdLst>
  <p:sldIdLst>
    <p:sldId id="268"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4426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GB"/>
              <a:t>Click to edit Master title style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D9E18BD0-BB38-4DF3-9EF9-CD974AE15B64}"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C57ABE-357A-4BDE-AB72-7653B01197E8}" type="slidenum">
              <a:rPr lang="en-IN" smtClean="0"/>
              <a:t>‹#›</a:t>
            </a:fld>
            <a:endParaRPr lang="en-IN"/>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5488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extLst>
      <p:ext uri="{BB962C8B-B14F-4D97-AF65-F5344CB8AC3E}">
        <p14:creationId xmlns:p14="http://schemas.microsoft.com/office/powerpoint/2010/main" val="135437557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763990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GB"/>
              <a:t>Click to edit Master title style</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4/15/2026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969067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GB"/>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822960" y="1936751"/>
            <a:ext cx="3703320" cy="25336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663440" y="1936751"/>
            <a:ext cx="3703320" cy="25336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4/15/2026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95110510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4/15/2026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48405320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4/15/2026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47681846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GB"/>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32ABBEA6-7C60-4B02-AE87-00D78D8422AF}" type="datetimeFigureOut">
              <a:rPr lang="en-US" dirty="0"/>
              <a:t>4/15/2026</a:t>
            </a:fld>
            <a:endParaRPr lang="en-US" dirty="0"/>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365816257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4948" cy="617220"/>
          </a:xfrm>
        </p:spPr>
        <p:txBody>
          <a:bodyPr lIns="91440" tIns="0" rIns="91440" bIns="0" anchor="b">
            <a:noAutofit/>
          </a:bodyPr>
          <a:lstStyle>
            <a:lvl1pPr>
              <a:defRPr sz="2700" b="0">
                <a:solidFill>
                  <a:srgbClr val="FFFFFF"/>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12" y="0"/>
            <a:ext cx="9143989" cy="3686307"/>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822960" y="4430267"/>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4/15/2026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19811201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52580566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11084"/>
            <a:ext cx="1971675" cy="4318066"/>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11083"/>
            <a:ext cx="5800725" cy="4318067"/>
          </a:xfrm>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73331548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2961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4750737"/>
            <a:ext cx="9144001"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fld id="{98624D31-43A5-475A-80CF-332C9F6DCF35}" type="datetimeFigureOut">
              <a:rPr lang="en-US" dirty="0"/>
              <a:t>4/15/2026</a:t>
            </a:fld>
            <a:endParaRPr lang="en-US" dirty="0"/>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6978026"/>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sldNum="0"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A7AB1-2308-0E2F-AB51-1C90AB331E7A}"/>
              </a:ext>
            </a:extLst>
          </p:cNvPr>
          <p:cNvSpPr>
            <a:spLocks noGrp="1"/>
          </p:cNvSpPr>
          <p:nvPr>
            <p:ph type="ctrTitle"/>
          </p:nvPr>
        </p:nvSpPr>
        <p:spPr>
          <a:xfrm>
            <a:off x="253092" y="1285995"/>
            <a:ext cx="8890908" cy="1790700"/>
          </a:xfrm>
        </p:spPr>
        <p:txBody>
          <a:bodyPr>
            <a:noAutofit/>
          </a:bodyPr>
          <a:lstStyle/>
          <a:p>
            <a:pPr algn="ctr"/>
            <a:r>
              <a:rPr lang="en-US" sz="2800" i="1" dirty="0">
                <a:solidFill>
                  <a:schemeClr val="accent1"/>
                </a:solidFill>
                <a:latin typeface="Times New Roman" panose="02020603050405020304" pitchFamily="18" charset="0"/>
                <a:cs typeface="Times New Roman" panose="02020603050405020304" pitchFamily="18" charset="0"/>
              </a:rPr>
              <a:t>Drishti XR: </a:t>
            </a:r>
            <a:r>
              <a:rPr lang="en-US" sz="2800" b="1" i="1" dirty="0">
                <a:solidFill>
                  <a:schemeClr val="bg2">
                    <a:lumMod val="50000"/>
                  </a:schemeClr>
                </a:solidFill>
              </a:rPr>
              <a:t>5G-Enabled Mixed Reality Platform for Real-Time Signal Visualization and Interactive Learning</a:t>
            </a:r>
            <a:br>
              <a:rPr lang="en-US" sz="2800" b="1" i="1" dirty="0">
                <a:solidFill>
                  <a:schemeClr val="bg2">
                    <a:lumMod val="50000"/>
                  </a:schemeClr>
                </a:solidFill>
              </a:rPr>
            </a:br>
            <a:endParaRPr lang="en-IN" sz="2800" dirty="0">
              <a:solidFill>
                <a:schemeClr val="bg2">
                  <a:lumMod val="50000"/>
                </a:schemeClr>
              </a:solidFill>
            </a:endParaRPr>
          </a:p>
        </p:txBody>
      </p:sp>
      <p:sp>
        <p:nvSpPr>
          <p:cNvPr id="3" name="Subtitle 2">
            <a:extLst>
              <a:ext uri="{FF2B5EF4-FFF2-40B4-BE49-F238E27FC236}">
                <a16:creationId xmlns:a16="http://schemas.microsoft.com/office/drawing/2014/main" id="{BC2FC1DC-4BF2-EC6F-7A28-758D3C7C572B}"/>
              </a:ext>
            </a:extLst>
          </p:cNvPr>
          <p:cNvSpPr>
            <a:spLocks noGrp="1"/>
          </p:cNvSpPr>
          <p:nvPr>
            <p:ph type="subTitle" idx="1"/>
          </p:nvPr>
        </p:nvSpPr>
        <p:spPr>
          <a:xfrm>
            <a:off x="124114" y="2922545"/>
            <a:ext cx="8890906" cy="1241822"/>
          </a:xfrm>
        </p:spPr>
        <p:txBody>
          <a:bodyPr>
            <a:noAutofit/>
          </a:bodyPr>
          <a:lstStyle/>
          <a:p>
            <a:pPr algn="ctr"/>
            <a:r>
              <a:rPr lang="en-US" sz="1400" b="1" i="1" dirty="0">
                <a:solidFill>
                  <a:schemeClr val="accent2"/>
                </a:solidFill>
              </a:rPr>
              <a:t>“Making Invisible Wireless Signals Visible, Understandable, and Actionable”</a:t>
            </a:r>
            <a:endParaRPr lang="en-US" sz="1400" b="1" dirty="0">
              <a:solidFill>
                <a:schemeClr val="accent2"/>
              </a:solidFill>
            </a:endParaRPr>
          </a:p>
          <a:p>
            <a:pPr algn="ctr"/>
            <a:endParaRPr lang="en-US" sz="1400" b="1" dirty="0">
              <a:solidFill>
                <a:schemeClr val="accent2"/>
              </a:solidFill>
            </a:endParaRPr>
          </a:p>
          <a:p>
            <a:endParaRPr lang="en-IN" sz="1600" b="1" dirty="0">
              <a:solidFill>
                <a:schemeClr val="accent2"/>
              </a:solidFill>
            </a:endParaRPr>
          </a:p>
        </p:txBody>
      </p:sp>
      <p:sp>
        <p:nvSpPr>
          <p:cNvPr id="4" name="TextBox 3">
            <a:extLst>
              <a:ext uri="{FF2B5EF4-FFF2-40B4-BE49-F238E27FC236}">
                <a16:creationId xmlns:a16="http://schemas.microsoft.com/office/drawing/2014/main" id="{855E54E9-CE6C-FBB8-1377-4E6E597B5812}"/>
              </a:ext>
            </a:extLst>
          </p:cNvPr>
          <p:cNvSpPr txBox="1"/>
          <p:nvPr/>
        </p:nvSpPr>
        <p:spPr>
          <a:xfrm>
            <a:off x="124115" y="3607421"/>
            <a:ext cx="2829108" cy="1061829"/>
          </a:xfrm>
          <a:prstGeom prst="rect">
            <a:avLst/>
          </a:prstGeom>
          <a:noFill/>
        </p:spPr>
        <p:txBody>
          <a:bodyPr wrap="none" rtlCol="0">
            <a:spAutoFit/>
          </a:bodyPr>
          <a:lstStyle/>
          <a:p>
            <a:r>
              <a:rPr lang="en-US" sz="2100" b="1" i="1" dirty="0">
                <a:solidFill>
                  <a:schemeClr val="bg2">
                    <a:lumMod val="25000"/>
                  </a:schemeClr>
                </a:solidFill>
                <a:latin typeface="Times New Roman" panose="02020603050405020304" pitchFamily="18" charset="0"/>
                <a:cs typeface="Times New Roman" panose="02020603050405020304" pitchFamily="18" charset="0"/>
              </a:rPr>
              <a:t>Team Members:</a:t>
            </a:r>
          </a:p>
          <a:p>
            <a:pPr marL="257175" indent="-257175">
              <a:buAutoNum type="arabicPeriod"/>
            </a:pPr>
            <a:r>
              <a:rPr lang="en-US" sz="2100" dirty="0"/>
              <a:t>Nisarga S</a:t>
            </a:r>
          </a:p>
          <a:p>
            <a:pPr marL="257175" indent="-257175">
              <a:buAutoNum type="arabicPeriod"/>
            </a:pPr>
            <a:r>
              <a:rPr lang="en-US" sz="2100" dirty="0" err="1"/>
              <a:t>Kaarthikeya</a:t>
            </a:r>
            <a:r>
              <a:rPr lang="en-US" sz="2100" dirty="0"/>
              <a:t> </a:t>
            </a:r>
            <a:r>
              <a:rPr lang="en-US" sz="2100" dirty="0" err="1"/>
              <a:t>Pahalwan</a:t>
            </a:r>
            <a:endParaRPr lang="en-IN" sz="2100" dirty="0"/>
          </a:p>
        </p:txBody>
      </p:sp>
      <p:sp>
        <p:nvSpPr>
          <p:cNvPr id="5" name="TextBox 4">
            <a:extLst>
              <a:ext uri="{FF2B5EF4-FFF2-40B4-BE49-F238E27FC236}">
                <a16:creationId xmlns:a16="http://schemas.microsoft.com/office/drawing/2014/main" id="{F2986479-F7D4-9BAF-3D23-412117E6736D}"/>
              </a:ext>
            </a:extLst>
          </p:cNvPr>
          <p:cNvSpPr txBox="1"/>
          <p:nvPr/>
        </p:nvSpPr>
        <p:spPr>
          <a:xfrm>
            <a:off x="1380234" y="474250"/>
            <a:ext cx="6378670" cy="646331"/>
          </a:xfrm>
          <a:prstGeom prst="rect">
            <a:avLst/>
          </a:prstGeom>
          <a:noFill/>
        </p:spPr>
        <p:txBody>
          <a:bodyPr wrap="none" rtlCol="0">
            <a:spAutoFit/>
          </a:bodyPr>
          <a:lstStyle/>
          <a:p>
            <a:pPr algn="ctr"/>
            <a:r>
              <a:rPr lang="en-US" sz="3600" b="1" dirty="0">
                <a:latin typeface="Times New Roman" panose="02020603050405020304" pitchFamily="18" charset="0"/>
                <a:cs typeface="Times New Roman" panose="02020603050405020304" pitchFamily="18" charset="0"/>
              </a:rPr>
              <a:t>5G Innovation Hackathon 2026</a:t>
            </a: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4362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365760" y="182880"/>
            <a:ext cx="54864" cy="502920"/>
          </a:xfrm>
          <a:prstGeom prst="rect">
            <a:avLst/>
          </a:prstGeom>
          <a:solidFill>
            <a:srgbClr val="00A8CC"/>
          </a:solidFill>
          <a:ln w="12700">
            <a:solidFill>
              <a:srgbClr val="00A8CC"/>
            </a:solidFill>
            <a:prstDash val="solid"/>
          </a:ln>
        </p:spPr>
        <p:txBody>
          <a:bodyPr/>
          <a:lstStyle/>
          <a:p>
            <a:endParaRPr lang="en-IN"/>
          </a:p>
        </p:txBody>
      </p:sp>
      <p:sp>
        <p:nvSpPr>
          <p:cNvPr id="3" name="Text 1"/>
          <p:cNvSpPr/>
          <p:nvPr/>
        </p:nvSpPr>
        <p:spPr>
          <a:xfrm>
            <a:off x="502920" y="164592"/>
            <a:ext cx="8229600" cy="548640"/>
          </a:xfrm>
          <a:prstGeom prst="rect">
            <a:avLst/>
          </a:prstGeom>
          <a:noFill/>
          <a:ln/>
        </p:spPr>
        <p:txBody>
          <a:bodyPr wrap="square" lIns="0" tIns="0" rIns="0" bIns="0" rtlCol="0" anchor="ctr"/>
          <a:lstStyle/>
          <a:p>
            <a:pPr marL="0" indent="0">
              <a:buNone/>
            </a:pPr>
            <a:r>
              <a:rPr lang="en-US" sz="1100" b="1" dirty="0">
                <a:solidFill>
                  <a:srgbClr val="00A8CC"/>
                </a:solidFill>
                <a:latin typeface="Calibri" pitchFamily="34" charset="0"/>
                <a:ea typeface="Calibri" pitchFamily="34" charset="-122"/>
                <a:cs typeface="Calibri" pitchFamily="34" charset="-120"/>
              </a:rPr>
              <a:t>1.  Introduction</a:t>
            </a:r>
            <a:endParaRPr lang="en-US" sz="1100" dirty="0"/>
          </a:p>
        </p:txBody>
      </p:sp>
      <p:sp>
        <p:nvSpPr>
          <p:cNvPr id="4" name="Text 2"/>
          <p:cNvSpPr/>
          <p:nvPr/>
        </p:nvSpPr>
        <p:spPr>
          <a:xfrm>
            <a:off x="365760" y="749808"/>
            <a:ext cx="8412480" cy="502920"/>
          </a:xfrm>
          <a:prstGeom prst="rect">
            <a:avLst/>
          </a:prstGeom>
          <a:noFill/>
          <a:ln/>
        </p:spPr>
        <p:txBody>
          <a:bodyPr wrap="square" lIns="0" tIns="0" rIns="0" bIns="0" rtlCol="0" anchor="ctr"/>
          <a:lstStyle/>
          <a:p>
            <a:pPr marL="0" indent="0">
              <a:buNone/>
            </a:pPr>
            <a:r>
              <a:rPr lang="en-US" sz="2600" b="1" dirty="0">
                <a:solidFill>
                  <a:srgbClr val="1C2E4A"/>
                </a:solidFill>
                <a:latin typeface="Calibri" pitchFamily="34" charset="0"/>
                <a:ea typeface="Calibri" pitchFamily="34" charset="-122"/>
                <a:cs typeface="Calibri" pitchFamily="34" charset="-120"/>
              </a:rPr>
              <a:t>The Big Idea</a:t>
            </a:r>
            <a:endParaRPr lang="en-US" sz="2600" dirty="0"/>
          </a:p>
        </p:txBody>
      </p:sp>
      <p:sp>
        <p:nvSpPr>
          <p:cNvPr id="5" name="Text 3"/>
          <p:cNvSpPr/>
          <p:nvPr/>
        </p:nvSpPr>
        <p:spPr>
          <a:xfrm>
            <a:off x="365760" y="1335024"/>
            <a:ext cx="5120640" cy="3246120"/>
          </a:xfrm>
          <a:prstGeom prst="rect">
            <a:avLst/>
          </a:prstGeom>
          <a:noFill/>
          <a:ln/>
        </p:spPr>
        <p:txBody>
          <a:bodyPr wrap="square" rtlCol="0" anchor="ctr"/>
          <a:lstStyle/>
          <a:p>
            <a:pPr algn="just"/>
            <a:r>
              <a:rPr lang="en-US" sz="1050" b="1" i="1" dirty="0"/>
              <a:t>We live surrounded by invisible wireless signals — but we have no way to see them.</a:t>
            </a:r>
          </a:p>
          <a:p>
            <a:pPr algn="just"/>
            <a:endParaRPr lang="en-US" sz="1050" b="1" i="1" dirty="0"/>
          </a:p>
          <a:p>
            <a:pPr algn="just"/>
            <a:r>
              <a:rPr lang="en-US" sz="1050" dirty="0"/>
              <a:t>Every home, classroom, office, and hospital is filled with </a:t>
            </a:r>
            <a:r>
              <a:rPr lang="en-US" sz="1050" dirty="0" err="1"/>
              <a:t>WiFi</a:t>
            </a:r>
            <a:r>
              <a:rPr lang="en-US" sz="1050" dirty="0"/>
              <a:t> and 5G signals that shape our digital lives. Yet when the internet is slow, when video calls drop, or when a corner of a room has no signal — people have absolutely no idea why. The problem is invisible.</a:t>
            </a:r>
          </a:p>
          <a:p>
            <a:pPr algn="just"/>
            <a:endParaRPr lang="en-US" sz="1050" dirty="0"/>
          </a:p>
          <a:p>
            <a:pPr algn="just"/>
            <a:r>
              <a:rPr lang="en-US" sz="1050" b="1" dirty="0"/>
              <a:t>DRISHTI XR is a smartphone application that maps wireless signal strength in real time and visualizes congestion and interference through Mixed Reality enabling anyone to understand, diagnose, and fix poor connectivity.</a:t>
            </a:r>
          </a:p>
          <a:p>
            <a:pPr algn="just"/>
            <a:endParaRPr lang="en-US" sz="1050" dirty="0"/>
          </a:p>
          <a:p>
            <a:pPr algn="just"/>
            <a:r>
              <a:rPr lang="en-US" sz="1050" dirty="0"/>
              <a:t>Using only a smartphone, a device everyone already owns, the app allows users to walk through a space and automatically build a real-time spatial map of wireless signal strength. The results are displayed as an interactive Mixed Reality visualization through the phone’s camera, representing signals as color-coded waves, dots, and clusters in the real world.</a:t>
            </a:r>
          </a:p>
          <a:p>
            <a:pPr algn="just"/>
            <a:r>
              <a:rPr lang="en-US" sz="1050" dirty="0"/>
              <a:t>Most importantly, when poor connectivity is detected, the system guides users to resolve it by moving to a better location, repositioning a blocking object, or understanding why dead zones occur. No engineering knowledge is required, and no additional hardware is needed.</a:t>
            </a:r>
          </a:p>
        </p:txBody>
      </p:sp>
      <p:sp>
        <p:nvSpPr>
          <p:cNvPr id="6" name="Shape 4"/>
          <p:cNvSpPr/>
          <p:nvPr/>
        </p:nvSpPr>
        <p:spPr>
          <a:xfrm>
            <a:off x="5760720" y="1335024"/>
            <a:ext cx="3017520" cy="493776"/>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7" name="Shape 5"/>
          <p:cNvSpPr/>
          <p:nvPr/>
        </p:nvSpPr>
        <p:spPr>
          <a:xfrm>
            <a:off x="5760720" y="1335024"/>
            <a:ext cx="54864" cy="493776"/>
          </a:xfrm>
          <a:prstGeom prst="rect">
            <a:avLst/>
          </a:prstGeom>
          <a:solidFill>
            <a:srgbClr val="00A8CC"/>
          </a:solidFill>
          <a:ln w="12700">
            <a:solidFill>
              <a:srgbClr val="00A8CC"/>
            </a:solidFill>
            <a:prstDash val="solid"/>
          </a:ln>
        </p:spPr>
        <p:txBody>
          <a:bodyPr/>
          <a:lstStyle/>
          <a:p>
            <a:endParaRPr lang="en-IN"/>
          </a:p>
        </p:txBody>
      </p:sp>
      <p:sp>
        <p:nvSpPr>
          <p:cNvPr id="8" name="Text 6"/>
          <p:cNvSpPr/>
          <p:nvPr/>
        </p:nvSpPr>
        <p:spPr>
          <a:xfrm>
            <a:off x="5897880" y="1335024"/>
            <a:ext cx="2834640" cy="493776"/>
          </a:xfrm>
          <a:prstGeom prst="rect">
            <a:avLst/>
          </a:prstGeom>
          <a:noFill/>
          <a:ln/>
        </p:spPr>
        <p:txBody>
          <a:bodyPr wrap="square" rtlCol="0" anchor="ctr"/>
          <a:lstStyle/>
          <a:p>
            <a:pPr marL="0" indent="0">
              <a:buNone/>
            </a:pPr>
            <a:r>
              <a:rPr lang="en-US" sz="1000" dirty="0">
                <a:solidFill>
                  <a:srgbClr val="1C2E4A"/>
                </a:solidFill>
                <a:latin typeface="Calibri" pitchFamily="34" charset="0"/>
                <a:ea typeface="Calibri" pitchFamily="34" charset="-122"/>
                <a:cs typeface="Calibri" pitchFamily="34" charset="-120"/>
              </a:rPr>
              <a:t>📱  Works on Any Smartphone</a:t>
            </a:r>
            <a:endParaRPr lang="en-US" sz="1000" dirty="0"/>
          </a:p>
        </p:txBody>
      </p:sp>
      <p:sp>
        <p:nvSpPr>
          <p:cNvPr id="9" name="Shape 7"/>
          <p:cNvSpPr/>
          <p:nvPr/>
        </p:nvSpPr>
        <p:spPr>
          <a:xfrm>
            <a:off x="5760720" y="1911096"/>
            <a:ext cx="3017520" cy="493776"/>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0" name="Shape 8"/>
          <p:cNvSpPr/>
          <p:nvPr/>
        </p:nvSpPr>
        <p:spPr>
          <a:xfrm>
            <a:off x="5760720" y="1911096"/>
            <a:ext cx="54864" cy="493776"/>
          </a:xfrm>
          <a:prstGeom prst="rect">
            <a:avLst/>
          </a:prstGeom>
          <a:solidFill>
            <a:srgbClr val="2C3E6B"/>
          </a:solidFill>
          <a:ln w="12700">
            <a:solidFill>
              <a:srgbClr val="2C3E6B"/>
            </a:solidFill>
            <a:prstDash val="solid"/>
          </a:ln>
        </p:spPr>
        <p:txBody>
          <a:bodyPr/>
          <a:lstStyle/>
          <a:p>
            <a:endParaRPr lang="en-IN"/>
          </a:p>
        </p:txBody>
      </p:sp>
      <p:sp>
        <p:nvSpPr>
          <p:cNvPr id="11" name="Text 9"/>
          <p:cNvSpPr/>
          <p:nvPr/>
        </p:nvSpPr>
        <p:spPr>
          <a:xfrm>
            <a:off x="5897880" y="1911096"/>
            <a:ext cx="2834640" cy="493776"/>
          </a:xfrm>
          <a:prstGeom prst="rect">
            <a:avLst/>
          </a:prstGeom>
          <a:noFill/>
          <a:ln/>
        </p:spPr>
        <p:txBody>
          <a:bodyPr wrap="square" rtlCol="0" anchor="ctr"/>
          <a:lstStyle/>
          <a:p>
            <a:pPr marL="0" indent="0">
              <a:buNone/>
            </a:pPr>
            <a:r>
              <a:rPr lang="en-US" sz="1000" dirty="0">
                <a:solidFill>
                  <a:srgbClr val="1C2E4A"/>
                </a:solidFill>
                <a:latin typeface="Calibri" pitchFamily="34" charset="0"/>
                <a:ea typeface="Calibri" pitchFamily="34" charset="-122"/>
                <a:cs typeface="Calibri" pitchFamily="34" charset="-120"/>
              </a:rPr>
              <a:t>🎓  Built for Education Too</a:t>
            </a:r>
            <a:endParaRPr lang="en-US" sz="1000" dirty="0"/>
          </a:p>
        </p:txBody>
      </p:sp>
      <p:sp>
        <p:nvSpPr>
          <p:cNvPr id="12" name="Shape 10"/>
          <p:cNvSpPr/>
          <p:nvPr/>
        </p:nvSpPr>
        <p:spPr>
          <a:xfrm>
            <a:off x="5760720" y="2487168"/>
            <a:ext cx="3017520" cy="493776"/>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3" name="Shape 11"/>
          <p:cNvSpPr/>
          <p:nvPr/>
        </p:nvSpPr>
        <p:spPr>
          <a:xfrm>
            <a:off x="5760720" y="2487168"/>
            <a:ext cx="54864" cy="493776"/>
          </a:xfrm>
          <a:prstGeom prst="rect">
            <a:avLst/>
          </a:prstGeom>
          <a:solidFill>
            <a:srgbClr val="00A8CC"/>
          </a:solidFill>
          <a:ln w="12700">
            <a:solidFill>
              <a:srgbClr val="00A8CC"/>
            </a:solidFill>
            <a:prstDash val="solid"/>
          </a:ln>
        </p:spPr>
        <p:txBody>
          <a:bodyPr/>
          <a:lstStyle/>
          <a:p>
            <a:endParaRPr lang="en-IN"/>
          </a:p>
        </p:txBody>
      </p:sp>
      <p:sp>
        <p:nvSpPr>
          <p:cNvPr id="14" name="Text 12"/>
          <p:cNvSpPr/>
          <p:nvPr/>
        </p:nvSpPr>
        <p:spPr>
          <a:xfrm>
            <a:off x="5897880" y="2487168"/>
            <a:ext cx="2834640" cy="493776"/>
          </a:xfrm>
          <a:prstGeom prst="rect">
            <a:avLst/>
          </a:prstGeom>
          <a:noFill/>
          <a:ln/>
        </p:spPr>
        <p:txBody>
          <a:bodyPr wrap="square" rtlCol="0" anchor="ctr"/>
          <a:lstStyle/>
          <a:p>
            <a:pPr marL="0" indent="0">
              <a:buNone/>
            </a:pPr>
            <a:r>
              <a:rPr lang="en-US" sz="1000" dirty="0">
                <a:solidFill>
                  <a:srgbClr val="1C2E4A"/>
                </a:solidFill>
                <a:latin typeface="Calibri" pitchFamily="34" charset="0"/>
                <a:ea typeface="Calibri" pitchFamily="34" charset="-122"/>
                <a:cs typeface="Calibri" pitchFamily="34" charset="-120"/>
              </a:rPr>
              <a:t>👁️  See Signals in Mixed Reality</a:t>
            </a:r>
            <a:endParaRPr lang="en-US" sz="1000" dirty="0"/>
          </a:p>
        </p:txBody>
      </p:sp>
      <p:sp>
        <p:nvSpPr>
          <p:cNvPr id="15" name="Shape 13"/>
          <p:cNvSpPr/>
          <p:nvPr/>
        </p:nvSpPr>
        <p:spPr>
          <a:xfrm>
            <a:off x="5760720" y="3063240"/>
            <a:ext cx="3017520" cy="493776"/>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6" name="Shape 14"/>
          <p:cNvSpPr/>
          <p:nvPr/>
        </p:nvSpPr>
        <p:spPr>
          <a:xfrm>
            <a:off x="5760720" y="3063240"/>
            <a:ext cx="54864" cy="493776"/>
          </a:xfrm>
          <a:prstGeom prst="rect">
            <a:avLst/>
          </a:prstGeom>
          <a:solidFill>
            <a:srgbClr val="2C3E6B"/>
          </a:solidFill>
          <a:ln w="12700">
            <a:solidFill>
              <a:srgbClr val="2C3E6B"/>
            </a:solidFill>
            <a:prstDash val="solid"/>
          </a:ln>
        </p:spPr>
        <p:txBody>
          <a:bodyPr/>
          <a:lstStyle/>
          <a:p>
            <a:endParaRPr lang="en-IN"/>
          </a:p>
        </p:txBody>
      </p:sp>
      <p:sp>
        <p:nvSpPr>
          <p:cNvPr id="17" name="Text 15"/>
          <p:cNvSpPr/>
          <p:nvPr/>
        </p:nvSpPr>
        <p:spPr>
          <a:xfrm>
            <a:off x="5897880" y="3063240"/>
            <a:ext cx="2834640" cy="493776"/>
          </a:xfrm>
          <a:prstGeom prst="rect">
            <a:avLst/>
          </a:prstGeom>
          <a:noFill/>
          <a:ln/>
        </p:spPr>
        <p:txBody>
          <a:bodyPr wrap="square" rtlCol="0" anchor="ctr"/>
          <a:lstStyle/>
          <a:p>
            <a:pPr marL="0" indent="0">
              <a:buNone/>
            </a:pPr>
            <a:r>
              <a:rPr lang="en-US" sz="1000" dirty="0">
                <a:solidFill>
                  <a:srgbClr val="1C2E4A"/>
                </a:solidFill>
                <a:latin typeface="Calibri" pitchFamily="34" charset="0"/>
                <a:ea typeface="Calibri" pitchFamily="34" charset="-122"/>
                <a:cs typeface="Calibri" pitchFamily="34" charset="-120"/>
              </a:rPr>
              <a:t>🔧  Fix Issues Without IT Help</a:t>
            </a:r>
            <a:endParaRPr lang="en-US" sz="1000" dirty="0"/>
          </a:p>
        </p:txBody>
      </p:sp>
      <p:sp>
        <p:nvSpPr>
          <p:cNvPr id="18" name="Shape 16"/>
          <p:cNvSpPr/>
          <p:nvPr/>
        </p:nvSpPr>
        <p:spPr>
          <a:xfrm>
            <a:off x="5760720" y="3639312"/>
            <a:ext cx="3017520" cy="493776"/>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9" name="Shape 17"/>
          <p:cNvSpPr/>
          <p:nvPr/>
        </p:nvSpPr>
        <p:spPr>
          <a:xfrm>
            <a:off x="5760720" y="3639312"/>
            <a:ext cx="54864" cy="493776"/>
          </a:xfrm>
          <a:prstGeom prst="rect">
            <a:avLst/>
          </a:prstGeom>
          <a:solidFill>
            <a:srgbClr val="00A8CC"/>
          </a:solidFill>
          <a:ln w="12700">
            <a:solidFill>
              <a:srgbClr val="00A8CC"/>
            </a:solidFill>
            <a:prstDash val="solid"/>
          </a:ln>
        </p:spPr>
        <p:txBody>
          <a:bodyPr/>
          <a:lstStyle/>
          <a:p>
            <a:endParaRPr lang="en-IN"/>
          </a:p>
        </p:txBody>
      </p:sp>
      <p:sp>
        <p:nvSpPr>
          <p:cNvPr id="20" name="Text 18"/>
          <p:cNvSpPr/>
          <p:nvPr/>
        </p:nvSpPr>
        <p:spPr>
          <a:xfrm>
            <a:off x="5897880" y="3639312"/>
            <a:ext cx="2834640" cy="493776"/>
          </a:xfrm>
          <a:prstGeom prst="rect">
            <a:avLst/>
          </a:prstGeom>
          <a:noFill/>
          <a:ln/>
        </p:spPr>
        <p:txBody>
          <a:bodyPr wrap="square" rtlCol="0" anchor="ctr"/>
          <a:lstStyle/>
          <a:p>
            <a:pPr marL="0" indent="0">
              <a:buNone/>
            </a:pPr>
            <a:r>
              <a:rPr lang="en-US" sz="1000" dirty="0">
                <a:solidFill>
                  <a:srgbClr val="1C2E4A"/>
                </a:solidFill>
                <a:latin typeface="Calibri" pitchFamily="34" charset="0"/>
                <a:ea typeface="Calibri" pitchFamily="34" charset="-122"/>
                <a:cs typeface="Calibri" pitchFamily="34" charset="-120"/>
              </a:rPr>
              <a:t>🌍  Free App — Accessible to All</a:t>
            </a:r>
            <a:endParaRPr lang="en-US" sz="1000" dirty="0"/>
          </a:p>
        </p:txBody>
      </p:sp>
      <p:sp>
        <p:nvSpPr>
          <p:cNvPr id="21" name="Shape 19"/>
          <p:cNvSpPr/>
          <p:nvPr/>
        </p:nvSpPr>
        <p:spPr>
          <a:xfrm>
            <a:off x="0" y="4864608"/>
            <a:ext cx="9144000" cy="274320"/>
          </a:xfrm>
          <a:prstGeom prst="rect">
            <a:avLst/>
          </a:prstGeom>
          <a:solidFill>
            <a:srgbClr val="0D1B3E"/>
          </a:solidFill>
          <a:ln w="12700">
            <a:solidFill>
              <a:srgbClr val="0D1B3E"/>
            </a:solidFill>
            <a:prstDash val="solid"/>
          </a:ln>
        </p:spPr>
        <p:txBody>
          <a:bodyPr/>
          <a:lstStyle/>
          <a:p>
            <a:endParaRPr lang="en-IN"/>
          </a:p>
        </p:txBody>
      </p:sp>
      <p:sp>
        <p:nvSpPr>
          <p:cNvPr id="22" name="Text 20"/>
          <p:cNvSpPr/>
          <p:nvPr/>
        </p:nvSpPr>
        <p:spPr>
          <a:xfrm>
            <a:off x="274320" y="4873752"/>
            <a:ext cx="7772400" cy="256032"/>
          </a:xfrm>
          <a:prstGeom prst="rect">
            <a:avLst/>
          </a:prstGeom>
          <a:noFill/>
          <a:ln/>
        </p:spPr>
        <p:txBody>
          <a:bodyPr wrap="square" rtlCol="0" anchor="ctr"/>
          <a:lstStyle/>
          <a:p>
            <a:pPr marL="0" indent="0">
              <a:buNone/>
            </a:pPr>
            <a:r>
              <a:rPr lang="en-US" sz="800" dirty="0">
                <a:solidFill>
                  <a:srgbClr val="8BA0BF"/>
                </a:solidFill>
                <a:latin typeface="Calibri" pitchFamily="34" charset="0"/>
                <a:ea typeface="Calibri" pitchFamily="34" charset="-122"/>
                <a:cs typeface="Calibri" pitchFamily="34" charset="-120"/>
              </a:rPr>
              <a:t>Drishti XR  ·  Wireless Signal Mapping &amp; Visualization for Everyone</a:t>
            </a:r>
            <a:endParaRPr lang="en-US" sz="800" dirty="0"/>
          </a:p>
        </p:txBody>
      </p:sp>
      <p:sp>
        <p:nvSpPr>
          <p:cNvPr id="23" name="Text 21"/>
          <p:cNvSpPr/>
          <p:nvPr/>
        </p:nvSpPr>
        <p:spPr>
          <a:xfrm>
            <a:off x="8412480" y="4873752"/>
            <a:ext cx="548640" cy="256032"/>
          </a:xfrm>
          <a:prstGeom prst="rect">
            <a:avLst/>
          </a:prstGeom>
          <a:noFill/>
          <a:ln/>
        </p:spPr>
        <p:txBody>
          <a:bodyPr wrap="square" rtlCol="0" anchor="ctr"/>
          <a:lstStyle/>
          <a:p>
            <a:pPr marL="0" indent="0" algn="r">
              <a:buNone/>
            </a:pPr>
            <a:r>
              <a:rPr lang="en-US" sz="800" dirty="0">
                <a:solidFill>
                  <a:srgbClr val="8BA0BF"/>
                </a:solidFill>
                <a:latin typeface="Calibri" pitchFamily="34" charset="0"/>
                <a:ea typeface="Calibri" pitchFamily="34" charset="-122"/>
                <a:cs typeface="Calibri" pitchFamily="34" charset="-120"/>
              </a:rPr>
              <a:t>2 / 12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365760" y="182880"/>
            <a:ext cx="54864" cy="502920"/>
          </a:xfrm>
          <a:prstGeom prst="rect">
            <a:avLst/>
          </a:prstGeom>
          <a:solidFill>
            <a:srgbClr val="00A8CC"/>
          </a:solidFill>
          <a:ln w="12700">
            <a:solidFill>
              <a:srgbClr val="00A8CC"/>
            </a:solidFill>
            <a:prstDash val="solid"/>
          </a:ln>
        </p:spPr>
        <p:txBody>
          <a:bodyPr/>
          <a:lstStyle/>
          <a:p>
            <a:endParaRPr lang="en-IN"/>
          </a:p>
        </p:txBody>
      </p:sp>
      <p:sp>
        <p:nvSpPr>
          <p:cNvPr id="3" name="Text 1"/>
          <p:cNvSpPr/>
          <p:nvPr/>
        </p:nvSpPr>
        <p:spPr>
          <a:xfrm>
            <a:off x="502920" y="164592"/>
            <a:ext cx="8229600" cy="548640"/>
          </a:xfrm>
          <a:prstGeom prst="rect">
            <a:avLst/>
          </a:prstGeom>
          <a:noFill/>
          <a:ln/>
        </p:spPr>
        <p:txBody>
          <a:bodyPr wrap="square" lIns="0" tIns="0" rIns="0" bIns="0" rtlCol="0" anchor="ctr"/>
          <a:lstStyle/>
          <a:p>
            <a:pPr marL="0" indent="0">
              <a:buNone/>
            </a:pPr>
            <a:r>
              <a:rPr lang="en-US" sz="1100" b="1" dirty="0">
                <a:solidFill>
                  <a:srgbClr val="00A8CC"/>
                </a:solidFill>
                <a:latin typeface="Calibri" pitchFamily="34" charset="0"/>
                <a:ea typeface="Calibri" pitchFamily="34" charset="-122"/>
                <a:cs typeface="Calibri" pitchFamily="34" charset="-120"/>
              </a:rPr>
              <a:t>2.  Problem Statement</a:t>
            </a:r>
            <a:endParaRPr lang="en-US" sz="1100" dirty="0"/>
          </a:p>
        </p:txBody>
      </p:sp>
      <p:sp>
        <p:nvSpPr>
          <p:cNvPr id="4" name="Text 2"/>
          <p:cNvSpPr/>
          <p:nvPr/>
        </p:nvSpPr>
        <p:spPr>
          <a:xfrm>
            <a:off x="365760" y="749808"/>
            <a:ext cx="8412480" cy="475488"/>
          </a:xfrm>
          <a:prstGeom prst="rect">
            <a:avLst/>
          </a:prstGeom>
          <a:noFill/>
          <a:ln/>
        </p:spPr>
        <p:txBody>
          <a:bodyPr wrap="square" lIns="0" tIns="0" rIns="0" bIns="0" rtlCol="0" anchor="ctr"/>
          <a:lstStyle/>
          <a:p>
            <a:pPr marL="0" indent="0">
              <a:buNone/>
            </a:pPr>
            <a:r>
              <a:rPr lang="en-US" sz="2600" b="1" dirty="0">
                <a:solidFill>
                  <a:srgbClr val="1C2E4A"/>
                </a:solidFill>
                <a:latin typeface="Calibri" pitchFamily="34" charset="0"/>
                <a:ea typeface="Calibri" pitchFamily="34" charset="-122"/>
                <a:cs typeface="Calibri" pitchFamily="34" charset="-120"/>
              </a:rPr>
              <a:t>Why This Matters</a:t>
            </a:r>
            <a:endParaRPr lang="en-US" sz="2600" dirty="0"/>
          </a:p>
        </p:txBody>
      </p:sp>
      <p:sp>
        <p:nvSpPr>
          <p:cNvPr id="5" name="Text 3"/>
          <p:cNvSpPr/>
          <p:nvPr/>
        </p:nvSpPr>
        <p:spPr>
          <a:xfrm>
            <a:off x="365760" y="1261872"/>
            <a:ext cx="8412480" cy="347472"/>
          </a:xfrm>
          <a:prstGeom prst="rect">
            <a:avLst/>
          </a:prstGeom>
          <a:noFill/>
          <a:ln/>
        </p:spPr>
        <p:txBody>
          <a:bodyPr wrap="square" rtlCol="0" anchor="ctr"/>
          <a:lstStyle/>
          <a:p>
            <a:pPr marL="0" indent="0">
              <a:buNone/>
            </a:pPr>
            <a:r>
              <a:rPr lang="en-US" sz="1050" i="1" dirty="0">
                <a:solidFill>
                  <a:srgbClr val="4A6080"/>
                </a:solidFill>
                <a:latin typeface="Calibri" pitchFamily="34" charset="0"/>
                <a:ea typeface="Calibri" pitchFamily="34" charset="-122"/>
                <a:cs typeface="Calibri" pitchFamily="34" charset="-120"/>
              </a:rPr>
              <a:t>Poor wireless connectivity affects billions — yet its cause remains completely invisible to the people experiencing it.</a:t>
            </a:r>
            <a:endParaRPr lang="en-US" sz="1050" dirty="0"/>
          </a:p>
        </p:txBody>
      </p:sp>
      <p:sp>
        <p:nvSpPr>
          <p:cNvPr id="6" name="Shape 4"/>
          <p:cNvSpPr/>
          <p:nvPr/>
        </p:nvSpPr>
        <p:spPr>
          <a:xfrm>
            <a:off x="365760" y="1700784"/>
            <a:ext cx="4160520" cy="94183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7" name="Shape 5"/>
          <p:cNvSpPr/>
          <p:nvPr/>
        </p:nvSpPr>
        <p:spPr>
          <a:xfrm>
            <a:off x="365760" y="1700784"/>
            <a:ext cx="54864" cy="941832"/>
          </a:xfrm>
          <a:prstGeom prst="rect">
            <a:avLst/>
          </a:prstGeom>
          <a:solidFill>
            <a:srgbClr val="00A8CC"/>
          </a:solidFill>
          <a:ln w="12700">
            <a:solidFill>
              <a:srgbClr val="00A8CC"/>
            </a:solidFill>
            <a:prstDash val="solid"/>
          </a:ln>
        </p:spPr>
        <p:txBody>
          <a:bodyPr/>
          <a:lstStyle/>
          <a:p>
            <a:endParaRPr lang="en-IN"/>
          </a:p>
        </p:txBody>
      </p:sp>
      <p:sp>
        <p:nvSpPr>
          <p:cNvPr id="8" name="Text 6"/>
          <p:cNvSpPr/>
          <p:nvPr/>
        </p:nvSpPr>
        <p:spPr>
          <a:xfrm>
            <a:off x="493776" y="1755648"/>
            <a:ext cx="3931920" cy="219456"/>
          </a:xfrm>
          <a:prstGeom prst="rect">
            <a:avLst/>
          </a:prstGeom>
          <a:noFill/>
          <a:ln/>
        </p:spPr>
        <p:txBody>
          <a:bodyPr wrap="square" lIns="0" tIns="0" rIns="0" bIns="0" rtlCol="0" anchor="ctr"/>
          <a:lstStyle/>
          <a:p>
            <a:pPr marL="0" indent="0">
              <a:buNone/>
            </a:pPr>
            <a:r>
              <a:rPr lang="en-US" sz="950" b="1" dirty="0">
                <a:solidFill>
                  <a:srgbClr val="1C2E4A"/>
                </a:solidFill>
                <a:latin typeface="Calibri" pitchFamily="34" charset="0"/>
                <a:ea typeface="Calibri" pitchFamily="34" charset="-122"/>
                <a:cs typeface="Calibri" pitchFamily="34" charset="-120"/>
              </a:rPr>
              <a:t>Dead Zones Are Everywhere</a:t>
            </a:r>
            <a:endParaRPr lang="en-US" sz="950" dirty="0"/>
          </a:p>
        </p:txBody>
      </p:sp>
      <p:sp>
        <p:nvSpPr>
          <p:cNvPr id="9" name="Text 7"/>
          <p:cNvSpPr/>
          <p:nvPr/>
        </p:nvSpPr>
        <p:spPr>
          <a:xfrm>
            <a:off x="493776" y="1975104"/>
            <a:ext cx="3931920" cy="594360"/>
          </a:xfrm>
          <a:prstGeom prst="rect">
            <a:avLst/>
          </a:prstGeom>
          <a:noFill/>
          <a:ln/>
        </p:spPr>
        <p:txBody>
          <a:bodyPr wrap="square" rtlCol="0" anchor="ctr"/>
          <a:lstStyle/>
          <a:p>
            <a:pPr marL="0" indent="0">
              <a:lnSpc>
                <a:spcPct val="120000"/>
              </a:lnSpc>
              <a:buNone/>
            </a:pPr>
            <a:r>
              <a:rPr lang="en-US" sz="850" dirty="0">
                <a:solidFill>
                  <a:srgbClr val="4A6080"/>
                </a:solidFill>
                <a:latin typeface="Calibri" pitchFamily="34" charset="0"/>
                <a:ea typeface="Calibri" pitchFamily="34" charset="-122"/>
                <a:cs typeface="Calibri" pitchFamily="34" charset="-120"/>
              </a:rPr>
              <a:t>Homes, schools, offices, and hospitals all have areas where signal drops  but users have no way to locate, visualize, or understand where these zones are and why they exist.</a:t>
            </a:r>
            <a:endParaRPr lang="en-US" sz="850" dirty="0"/>
          </a:p>
        </p:txBody>
      </p:sp>
      <p:sp>
        <p:nvSpPr>
          <p:cNvPr id="10" name="Shape 8"/>
          <p:cNvSpPr/>
          <p:nvPr/>
        </p:nvSpPr>
        <p:spPr>
          <a:xfrm>
            <a:off x="365760" y="2724912"/>
            <a:ext cx="4160520" cy="94183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1" name="Shape 9"/>
          <p:cNvSpPr/>
          <p:nvPr/>
        </p:nvSpPr>
        <p:spPr>
          <a:xfrm>
            <a:off x="365760" y="2724912"/>
            <a:ext cx="54864" cy="941832"/>
          </a:xfrm>
          <a:prstGeom prst="rect">
            <a:avLst/>
          </a:prstGeom>
          <a:solidFill>
            <a:srgbClr val="00A8CC"/>
          </a:solidFill>
          <a:ln w="12700">
            <a:solidFill>
              <a:srgbClr val="00A8CC"/>
            </a:solidFill>
            <a:prstDash val="solid"/>
          </a:ln>
        </p:spPr>
        <p:txBody>
          <a:bodyPr/>
          <a:lstStyle/>
          <a:p>
            <a:endParaRPr lang="en-IN"/>
          </a:p>
        </p:txBody>
      </p:sp>
      <p:sp>
        <p:nvSpPr>
          <p:cNvPr id="12" name="Text 10"/>
          <p:cNvSpPr/>
          <p:nvPr/>
        </p:nvSpPr>
        <p:spPr>
          <a:xfrm>
            <a:off x="493776" y="2779776"/>
            <a:ext cx="3931920" cy="219456"/>
          </a:xfrm>
          <a:prstGeom prst="rect">
            <a:avLst/>
          </a:prstGeom>
          <a:noFill/>
          <a:ln/>
        </p:spPr>
        <p:txBody>
          <a:bodyPr wrap="square" lIns="0" tIns="0" rIns="0" bIns="0" rtlCol="0" anchor="ctr"/>
          <a:lstStyle/>
          <a:p>
            <a:pPr marL="0" indent="0">
              <a:buNone/>
            </a:pPr>
            <a:r>
              <a:rPr lang="en-US" sz="950" b="1" dirty="0">
                <a:solidFill>
                  <a:srgbClr val="1C2E4A"/>
                </a:solidFill>
                <a:latin typeface="Calibri" pitchFamily="34" charset="0"/>
                <a:ea typeface="Calibri" pitchFamily="34" charset="-122"/>
                <a:cs typeface="Calibri" pitchFamily="34" charset="-120"/>
              </a:rPr>
              <a:t>Congestion Is Invisible</a:t>
            </a:r>
            <a:endParaRPr lang="en-US" sz="950" dirty="0"/>
          </a:p>
        </p:txBody>
      </p:sp>
      <p:sp>
        <p:nvSpPr>
          <p:cNvPr id="13" name="Text 11"/>
          <p:cNvSpPr/>
          <p:nvPr/>
        </p:nvSpPr>
        <p:spPr>
          <a:xfrm>
            <a:off x="493776" y="2999232"/>
            <a:ext cx="3931920" cy="594360"/>
          </a:xfrm>
          <a:prstGeom prst="rect">
            <a:avLst/>
          </a:prstGeom>
          <a:noFill/>
          <a:ln/>
        </p:spPr>
        <p:txBody>
          <a:bodyPr wrap="square" rtlCol="0" anchor="ctr"/>
          <a:lstStyle/>
          <a:p>
            <a:pPr marL="0" indent="0">
              <a:lnSpc>
                <a:spcPct val="120000"/>
              </a:lnSpc>
              <a:buNone/>
            </a:pPr>
            <a:r>
              <a:rPr lang="en-US" sz="850" dirty="0">
                <a:solidFill>
                  <a:srgbClr val="4A6080"/>
                </a:solidFill>
                <a:latin typeface="Calibri" pitchFamily="34" charset="0"/>
                <a:ea typeface="Calibri" pitchFamily="34" charset="-122"/>
                <a:cs typeface="Calibri" pitchFamily="34" charset="-120"/>
              </a:rPr>
              <a:t>Multiple devices and routers compete for the same wireless channels, causing slowdowns that users blame on their internet plan when the real cause is congestion in physical space.</a:t>
            </a:r>
            <a:endParaRPr lang="en-US" sz="850" dirty="0"/>
          </a:p>
        </p:txBody>
      </p:sp>
      <p:sp>
        <p:nvSpPr>
          <p:cNvPr id="14" name="Shape 12"/>
          <p:cNvSpPr/>
          <p:nvPr/>
        </p:nvSpPr>
        <p:spPr>
          <a:xfrm>
            <a:off x="365760" y="3749040"/>
            <a:ext cx="4160520" cy="94183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5" name="Shape 13"/>
          <p:cNvSpPr/>
          <p:nvPr/>
        </p:nvSpPr>
        <p:spPr>
          <a:xfrm>
            <a:off x="365760" y="3749040"/>
            <a:ext cx="54864" cy="941832"/>
          </a:xfrm>
          <a:prstGeom prst="rect">
            <a:avLst/>
          </a:prstGeom>
          <a:solidFill>
            <a:srgbClr val="00A8CC"/>
          </a:solidFill>
          <a:ln w="12700">
            <a:solidFill>
              <a:srgbClr val="00A8CC"/>
            </a:solidFill>
            <a:prstDash val="solid"/>
          </a:ln>
        </p:spPr>
        <p:txBody>
          <a:bodyPr/>
          <a:lstStyle/>
          <a:p>
            <a:endParaRPr lang="en-IN"/>
          </a:p>
        </p:txBody>
      </p:sp>
      <p:sp>
        <p:nvSpPr>
          <p:cNvPr id="16" name="Text 14"/>
          <p:cNvSpPr/>
          <p:nvPr/>
        </p:nvSpPr>
        <p:spPr>
          <a:xfrm>
            <a:off x="493776" y="3803904"/>
            <a:ext cx="3931920" cy="219456"/>
          </a:xfrm>
          <a:prstGeom prst="rect">
            <a:avLst/>
          </a:prstGeom>
          <a:noFill/>
          <a:ln/>
        </p:spPr>
        <p:txBody>
          <a:bodyPr wrap="square" lIns="0" tIns="0" rIns="0" bIns="0" rtlCol="0" anchor="ctr"/>
          <a:lstStyle/>
          <a:p>
            <a:pPr marL="0" indent="0">
              <a:buNone/>
            </a:pPr>
            <a:r>
              <a:rPr lang="en-US" sz="950" b="1" dirty="0">
                <a:solidFill>
                  <a:srgbClr val="1C2E4A"/>
                </a:solidFill>
                <a:latin typeface="Calibri" pitchFamily="34" charset="0"/>
                <a:ea typeface="Calibri" pitchFamily="34" charset="-122"/>
                <a:cs typeface="Calibri" pitchFamily="34" charset="-120"/>
              </a:rPr>
              <a:t>Physical Obstacles Go Unnoticed</a:t>
            </a:r>
            <a:endParaRPr lang="en-US" sz="950" dirty="0"/>
          </a:p>
        </p:txBody>
      </p:sp>
      <p:sp>
        <p:nvSpPr>
          <p:cNvPr id="17" name="Text 15"/>
          <p:cNvSpPr/>
          <p:nvPr/>
        </p:nvSpPr>
        <p:spPr>
          <a:xfrm>
            <a:off x="493776" y="4023360"/>
            <a:ext cx="3931920" cy="594360"/>
          </a:xfrm>
          <a:prstGeom prst="rect">
            <a:avLst/>
          </a:prstGeom>
          <a:noFill/>
          <a:ln/>
        </p:spPr>
        <p:txBody>
          <a:bodyPr wrap="square" rtlCol="0" anchor="ctr"/>
          <a:lstStyle/>
          <a:p>
            <a:pPr marL="0" indent="0">
              <a:lnSpc>
                <a:spcPct val="120000"/>
              </a:lnSpc>
              <a:buNone/>
            </a:pPr>
            <a:r>
              <a:rPr lang="en-US" sz="850" dirty="0">
                <a:solidFill>
                  <a:srgbClr val="4A6080"/>
                </a:solidFill>
                <a:latin typeface="Calibri" pitchFamily="34" charset="0"/>
                <a:ea typeface="Calibri" pitchFamily="34" charset="-122"/>
                <a:cs typeface="Calibri" pitchFamily="34" charset="-120"/>
              </a:rPr>
              <a:t>Walls, furniture, metal objects, and appliances absorb and block wireless signals. Users have no feedback about which objects in their environment are degrading connectivity.</a:t>
            </a:r>
            <a:endParaRPr lang="en-US" sz="850" dirty="0"/>
          </a:p>
        </p:txBody>
      </p:sp>
      <p:sp>
        <p:nvSpPr>
          <p:cNvPr id="18" name="Shape 16"/>
          <p:cNvSpPr/>
          <p:nvPr/>
        </p:nvSpPr>
        <p:spPr>
          <a:xfrm>
            <a:off x="4709160" y="1700784"/>
            <a:ext cx="4160520" cy="94183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9" name="Shape 17"/>
          <p:cNvSpPr/>
          <p:nvPr/>
        </p:nvSpPr>
        <p:spPr>
          <a:xfrm>
            <a:off x="4709160" y="1700784"/>
            <a:ext cx="54864" cy="941832"/>
          </a:xfrm>
          <a:prstGeom prst="rect">
            <a:avLst/>
          </a:prstGeom>
          <a:solidFill>
            <a:srgbClr val="00A8CC"/>
          </a:solidFill>
          <a:ln w="12700">
            <a:solidFill>
              <a:srgbClr val="00A8CC"/>
            </a:solidFill>
            <a:prstDash val="solid"/>
          </a:ln>
        </p:spPr>
        <p:txBody>
          <a:bodyPr/>
          <a:lstStyle/>
          <a:p>
            <a:endParaRPr lang="en-IN"/>
          </a:p>
        </p:txBody>
      </p:sp>
      <p:sp>
        <p:nvSpPr>
          <p:cNvPr id="20" name="Text 18"/>
          <p:cNvSpPr/>
          <p:nvPr/>
        </p:nvSpPr>
        <p:spPr>
          <a:xfrm>
            <a:off x="4837176" y="1755648"/>
            <a:ext cx="3931920" cy="219456"/>
          </a:xfrm>
          <a:prstGeom prst="rect">
            <a:avLst/>
          </a:prstGeom>
          <a:noFill/>
          <a:ln/>
        </p:spPr>
        <p:txBody>
          <a:bodyPr wrap="square" lIns="0" tIns="0" rIns="0" bIns="0" rtlCol="0" anchor="ctr"/>
          <a:lstStyle/>
          <a:p>
            <a:pPr marL="0" indent="0">
              <a:buNone/>
            </a:pPr>
            <a:r>
              <a:rPr lang="en-US" sz="950" b="1" dirty="0">
                <a:solidFill>
                  <a:srgbClr val="1C2E4A"/>
                </a:solidFill>
                <a:latin typeface="Calibri" pitchFamily="34" charset="0"/>
                <a:ea typeface="Calibri" pitchFamily="34" charset="-122"/>
                <a:cs typeface="Calibri" pitchFamily="34" charset="-120"/>
              </a:rPr>
              <a:t>Students Can't Learn RF Concepts</a:t>
            </a:r>
            <a:endParaRPr lang="en-US" sz="950" dirty="0"/>
          </a:p>
        </p:txBody>
      </p:sp>
      <p:sp>
        <p:nvSpPr>
          <p:cNvPr id="21" name="Text 19"/>
          <p:cNvSpPr/>
          <p:nvPr/>
        </p:nvSpPr>
        <p:spPr>
          <a:xfrm>
            <a:off x="4837176" y="1975104"/>
            <a:ext cx="3931920" cy="594360"/>
          </a:xfrm>
          <a:prstGeom prst="rect">
            <a:avLst/>
          </a:prstGeom>
          <a:noFill/>
          <a:ln/>
        </p:spPr>
        <p:txBody>
          <a:bodyPr wrap="square" rtlCol="0" anchor="ctr"/>
          <a:lstStyle/>
          <a:p>
            <a:pPr marL="0" indent="0">
              <a:lnSpc>
                <a:spcPct val="120000"/>
              </a:lnSpc>
              <a:buNone/>
            </a:pPr>
            <a:r>
              <a:rPr lang="en-US" sz="850" dirty="0">
                <a:solidFill>
                  <a:srgbClr val="4A6080"/>
                </a:solidFill>
                <a:latin typeface="Calibri" pitchFamily="34" charset="0"/>
                <a:ea typeface="Calibri" pitchFamily="34" charset="-122"/>
                <a:cs typeface="Calibri" pitchFamily="34" charset="-120"/>
              </a:rPr>
              <a:t>Radio frequency and wireless networking are core topics in engineering, physics, and IT education  but there are no interactive, visual, hands-on tools to make these concepts tangible.</a:t>
            </a:r>
            <a:endParaRPr lang="en-US" sz="850" dirty="0"/>
          </a:p>
        </p:txBody>
      </p:sp>
      <p:sp>
        <p:nvSpPr>
          <p:cNvPr id="22" name="Shape 20"/>
          <p:cNvSpPr/>
          <p:nvPr/>
        </p:nvSpPr>
        <p:spPr>
          <a:xfrm>
            <a:off x="4709160" y="2724912"/>
            <a:ext cx="4160520" cy="94183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23" name="Shape 21"/>
          <p:cNvSpPr/>
          <p:nvPr/>
        </p:nvSpPr>
        <p:spPr>
          <a:xfrm>
            <a:off x="4709160" y="2724912"/>
            <a:ext cx="54864" cy="941832"/>
          </a:xfrm>
          <a:prstGeom prst="rect">
            <a:avLst/>
          </a:prstGeom>
          <a:solidFill>
            <a:srgbClr val="00A8CC"/>
          </a:solidFill>
          <a:ln w="12700">
            <a:solidFill>
              <a:srgbClr val="00A8CC"/>
            </a:solidFill>
            <a:prstDash val="solid"/>
          </a:ln>
        </p:spPr>
        <p:txBody>
          <a:bodyPr/>
          <a:lstStyle/>
          <a:p>
            <a:endParaRPr lang="en-IN"/>
          </a:p>
        </p:txBody>
      </p:sp>
      <p:sp>
        <p:nvSpPr>
          <p:cNvPr id="24" name="Text 22"/>
          <p:cNvSpPr/>
          <p:nvPr/>
        </p:nvSpPr>
        <p:spPr>
          <a:xfrm>
            <a:off x="4837176" y="2779776"/>
            <a:ext cx="3931920" cy="219456"/>
          </a:xfrm>
          <a:prstGeom prst="rect">
            <a:avLst/>
          </a:prstGeom>
          <a:noFill/>
          <a:ln/>
        </p:spPr>
        <p:txBody>
          <a:bodyPr wrap="square" lIns="0" tIns="0" rIns="0" bIns="0" rtlCol="0" anchor="ctr"/>
          <a:lstStyle/>
          <a:p>
            <a:pPr marL="0" indent="0">
              <a:buNone/>
            </a:pPr>
            <a:r>
              <a:rPr lang="en-US" sz="950" b="1" dirty="0">
                <a:solidFill>
                  <a:srgbClr val="1C2E4A"/>
                </a:solidFill>
                <a:latin typeface="Calibri" pitchFamily="34" charset="0"/>
                <a:ea typeface="Calibri" pitchFamily="34" charset="-122"/>
                <a:cs typeface="Calibri" pitchFamily="34" charset="-120"/>
              </a:rPr>
              <a:t>Diagnosis Requires Experts</a:t>
            </a:r>
            <a:endParaRPr lang="en-US" sz="950" dirty="0"/>
          </a:p>
        </p:txBody>
      </p:sp>
      <p:sp>
        <p:nvSpPr>
          <p:cNvPr id="25" name="Text 23"/>
          <p:cNvSpPr/>
          <p:nvPr/>
        </p:nvSpPr>
        <p:spPr>
          <a:xfrm>
            <a:off x="4837176" y="2999232"/>
            <a:ext cx="3931920" cy="594360"/>
          </a:xfrm>
          <a:prstGeom prst="rect">
            <a:avLst/>
          </a:prstGeom>
          <a:noFill/>
          <a:ln/>
        </p:spPr>
        <p:txBody>
          <a:bodyPr wrap="square" rtlCol="0" anchor="ctr"/>
          <a:lstStyle/>
          <a:p>
            <a:pPr marL="0" indent="0">
              <a:lnSpc>
                <a:spcPct val="120000"/>
              </a:lnSpc>
              <a:buNone/>
            </a:pPr>
            <a:r>
              <a:rPr lang="en-US" sz="850" dirty="0">
                <a:solidFill>
                  <a:srgbClr val="4A6080"/>
                </a:solidFill>
                <a:latin typeface="Calibri" pitchFamily="34" charset="0"/>
                <a:ea typeface="Calibri" pitchFamily="34" charset="-122"/>
                <a:cs typeface="Calibri" pitchFamily="34" charset="-120"/>
              </a:rPr>
              <a:t>Identifying the root cause of poor WiFi requires specialized tools most people don't have, making them dependent on expensive technician visits for problems they could fix themselves.</a:t>
            </a:r>
            <a:endParaRPr lang="en-US" sz="850" dirty="0"/>
          </a:p>
        </p:txBody>
      </p:sp>
      <p:sp>
        <p:nvSpPr>
          <p:cNvPr id="26" name="Shape 24"/>
          <p:cNvSpPr/>
          <p:nvPr/>
        </p:nvSpPr>
        <p:spPr>
          <a:xfrm>
            <a:off x="4709160" y="3749040"/>
            <a:ext cx="4160520" cy="94183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27" name="Shape 25"/>
          <p:cNvSpPr/>
          <p:nvPr/>
        </p:nvSpPr>
        <p:spPr>
          <a:xfrm>
            <a:off x="4709160" y="3749040"/>
            <a:ext cx="54864" cy="941832"/>
          </a:xfrm>
          <a:prstGeom prst="rect">
            <a:avLst/>
          </a:prstGeom>
          <a:solidFill>
            <a:srgbClr val="00A8CC"/>
          </a:solidFill>
          <a:ln w="12700">
            <a:solidFill>
              <a:srgbClr val="00A8CC"/>
            </a:solidFill>
            <a:prstDash val="solid"/>
          </a:ln>
        </p:spPr>
        <p:txBody>
          <a:bodyPr/>
          <a:lstStyle/>
          <a:p>
            <a:endParaRPr lang="en-IN"/>
          </a:p>
        </p:txBody>
      </p:sp>
      <p:sp>
        <p:nvSpPr>
          <p:cNvPr id="28" name="Text 26"/>
          <p:cNvSpPr/>
          <p:nvPr/>
        </p:nvSpPr>
        <p:spPr>
          <a:xfrm>
            <a:off x="4837176" y="3803904"/>
            <a:ext cx="3931920" cy="219456"/>
          </a:xfrm>
          <a:prstGeom prst="rect">
            <a:avLst/>
          </a:prstGeom>
          <a:noFill/>
          <a:ln/>
        </p:spPr>
        <p:txBody>
          <a:bodyPr wrap="square" lIns="0" tIns="0" rIns="0" bIns="0" rtlCol="0" anchor="ctr"/>
          <a:lstStyle/>
          <a:p>
            <a:pPr marL="0" indent="0">
              <a:buNone/>
            </a:pPr>
            <a:r>
              <a:rPr lang="en-US" sz="950" b="1" dirty="0">
                <a:solidFill>
                  <a:srgbClr val="1C2E4A"/>
                </a:solidFill>
                <a:latin typeface="Calibri" pitchFamily="34" charset="0"/>
                <a:ea typeface="Calibri" pitchFamily="34" charset="-122"/>
                <a:cs typeface="Calibri" pitchFamily="34" charset="-120"/>
              </a:rPr>
              <a:t>No Consumer-Grade MR Solution</a:t>
            </a:r>
            <a:endParaRPr lang="en-US" sz="950" dirty="0"/>
          </a:p>
        </p:txBody>
      </p:sp>
      <p:sp>
        <p:nvSpPr>
          <p:cNvPr id="29" name="Text 27"/>
          <p:cNvSpPr/>
          <p:nvPr/>
        </p:nvSpPr>
        <p:spPr>
          <a:xfrm>
            <a:off x="4837176" y="4023360"/>
            <a:ext cx="3931920" cy="594360"/>
          </a:xfrm>
          <a:prstGeom prst="rect">
            <a:avLst/>
          </a:prstGeom>
          <a:noFill/>
          <a:ln/>
        </p:spPr>
        <p:txBody>
          <a:bodyPr wrap="square" rtlCol="0" anchor="ctr"/>
          <a:lstStyle/>
          <a:p>
            <a:pPr marL="0" indent="0">
              <a:lnSpc>
                <a:spcPct val="120000"/>
              </a:lnSpc>
              <a:buNone/>
            </a:pPr>
            <a:r>
              <a:rPr lang="en-US" sz="850" dirty="0">
                <a:solidFill>
                  <a:srgbClr val="4A6080"/>
                </a:solidFill>
                <a:latin typeface="Calibri" pitchFamily="34" charset="0"/>
                <a:ea typeface="Calibri" pitchFamily="34" charset="-122"/>
                <a:cs typeface="Calibri" pitchFamily="34" charset="-120"/>
              </a:rPr>
              <a:t>All existing signal visualization tools are flat, 2D, text-heavy applications designed for IT professionals. No intuitive Mixed Reality signal experience exists for everyday users.</a:t>
            </a:r>
            <a:endParaRPr lang="en-US" sz="850" dirty="0"/>
          </a:p>
        </p:txBody>
      </p:sp>
      <p:sp>
        <p:nvSpPr>
          <p:cNvPr id="30" name="Shape 28"/>
          <p:cNvSpPr/>
          <p:nvPr/>
        </p:nvSpPr>
        <p:spPr>
          <a:xfrm>
            <a:off x="0" y="4864608"/>
            <a:ext cx="9144000" cy="274320"/>
          </a:xfrm>
          <a:prstGeom prst="rect">
            <a:avLst/>
          </a:prstGeom>
          <a:solidFill>
            <a:srgbClr val="0D1B3E"/>
          </a:solidFill>
          <a:ln w="12700">
            <a:solidFill>
              <a:srgbClr val="0D1B3E"/>
            </a:solidFill>
            <a:prstDash val="solid"/>
          </a:ln>
        </p:spPr>
        <p:txBody>
          <a:bodyPr/>
          <a:lstStyle/>
          <a:p>
            <a:endParaRPr lang="en-IN"/>
          </a:p>
        </p:txBody>
      </p:sp>
      <p:sp>
        <p:nvSpPr>
          <p:cNvPr id="31" name="Text 29"/>
          <p:cNvSpPr/>
          <p:nvPr/>
        </p:nvSpPr>
        <p:spPr>
          <a:xfrm>
            <a:off x="274320" y="4873752"/>
            <a:ext cx="7772400" cy="256032"/>
          </a:xfrm>
          <a:prstGeom prst="rect">
            <a:avLst/>
          </a:prstGeom>
          <a:noFill/>
          <a:ln/>
        </p:spPr>
        <p:txBody>
          <a:bodyPr wrap="square" rtlCol="0" anchor="ctr"/>
          <a:lstStyle/>
          <a:p>
            <a:r>
              <a:rPr lang="en-US" sz="800" dirty="0">
                <a:solidFill>
                  <a:srgbClr val="8BA0BF"/>
                </a:solidFill>
                <a:latin typeface="Calibri" pitchFamily="34" charset="0"/>
                <a:ea typeface="Calibri" pitchFamily="34" charset="-122"/>
                <a:cs typeface="Calibri" pitchFamily="34" charset="-120"/>
              </a:rPr>
              <a:t>Drishti XR ·  Wireless Signal Mapping &amp; Visualization for Everyone</a:t>
            </a:r>
            <a:endParaRPr lang="en-US" sz="800" dirty="0"/>
          </a:p>
        </p:txBody>
      </p:sp>
      <p:sp>
        <p:nvSpPr>
          <p:cNvPr id="32" name="Text 30"/>
          <p:cNvSpPr/>
          <p:nvPr/>
        </p:nvSpPr>
        <p:spPr>
          <a:xfrm>
            <a:off x="8412480" y="4873752"/>
            <a:ext cx="548640" cy="256032"/>
          </a:xfrm>
          <a:prstGeom prst="rect">
            <a:avLst/>
          </a:prstGeom>
          <a:noFill/>
          <a:ln/>
        </p:spPr>
        <p:txBody>
          <a:bodyPr wrap="square" rtlCol="0" anchor="ctr"/>
          <a:lstStyle/>
          <a:p>
            <a:pPr marL="0" indent="0" algn="r">
              <a:buNone/>
            </a:pPr>
            <a:r>
              <a:rPr lang="en-US" sz="800" dirty="0">
                <a:solidFill>
                  <a:srgbClr val="8BA0BF"/>
                </a:solidFill>
                <a:latin typeface="Calibri" pitchFamily="34" charset="0"/>
                <a:ea typeface="Calibri" pitchFamily="34" charset="-122"/>
                <a:cs typeface="Calibri" pitchFamily="34" charset="-120"/>
              </a:rPr>
              <a:t>3 / 12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365760" y="182880"/>
            <a:ext cx="54864" cy="502920"/>
          </a:xfrm>
          <a:prstGeom prst="rect">
            <a:avLst/>
          </a:prstGeom>
          <a:solidFill>
            <a:srgbClr val="00A8CC"/>
          </a:solidFill>
          <a:ln w="12700">
            <a:solidFill>
              <a:srgbClr val="00A8CC"/>
            </a:solidFill>
            <a:prstDash val="solid"/>
          </a:ln>
        </p:spPr>
        <p:txBody>
          <a:bodyPr/>
          <a:lstStyle/>
          <a:p>
            <a:endParaRPr lang="en-IN"/>
          </a:p>
        </p:txBody>
      </p:sp>
      <p:sp>
        <p:nvSpPr>
          <p:cNvPr id="3" name="Text 1"/>
          <p:cNvSpPr/>
          <p:nvPr/>
        </p:nvSpPr>
        <p:spPr>
          <a:xfrm>
            <a:off x="502920" y="164592"/>
            <a:ext cx="8229600" cy="548640"/>
          </a:xfrm>
          <a:prstGeom prst="rect">
            <a:avLst/>
          </a:prstGeom>
          <a:noFill/>
          <a:ln/>
        </p:spPr>
        <p:txBody>
          <a:bodyPr wrap="square" lIns="0" tIns="0" rIns="0" bIns="0" rtlCol="0" anchor="ctr"/>
          <a:lstStyle/>
          <a:p>
            <a:pPr marL="0" indent="0">
              <a:buNone/>
            </a:pPr>
            <a:r>
              <a:rPr lang="en-US" sz="1100" b="1" dirty="0">
                <a:solidFill>
                  <a:srgbClr val="00A8CC"/>
                </a:solidFill>
                <a:latin typeface="Calibri" pitchFamily="34" charset="0"/>
                <a:ea typeface="Calibri" pitchFamily="34" charset="-122"/>
                <a:cs typeface="Calibri" pitchFamily="34" charset="-120"/>
              </a:rPr>
              <a:t>3.  Objectives</a:t>
            </a:r>
            <a:endParaRPr lang="en-US" sz="1100" dirty="0"/>
          </a:p>
        </p:txBody>
      </p:sp>
      <p:sp>
        <p:nvSpPr>
          <p:cNvPr id="4" name="Text 2"/>
          <p:cNvSpPr/>
          <p:nvPr/>
        </p:nvSpPr>
        <p:spPr>
          <a:xfrm>
            <a:off x="365760" y="749808"/>
            <a:ext cx="8412480" cy="475488"/>
          </a:xfrm>
          <a:prstGeom prst="rect">
            <a:avLst/>
          </a:prstGeom>
          <a:noFill/>
          <a:ln/>
        </p:spPr>
        <p:txBody>
          <a:bodyPr wrap="square" lIns="0" tIns="0" rIns="0" bIns="0" rtlCol="0" anchor="ctr"/>
          <a:lstStyle/>
          <a:p>
            <a:pPr marL="0" indent="0">
              <a:buNone/>
            </a:pPr>
            <a:r>
              <a:rPr lang="en-US" sz="2600" b="1" dirty="0">
                <a:solidFill>
                  <a:srgbClr val="1C2E4A"/>
                </a:solidFill>
                <a:latin typeface="Calibri" pitchFamily="34" charset="0"/>
                <a:ea typeface="Calibri" pitchFamily="34" charset="-122"/>
                <a:cs typeface="Calibri" pitchFamily="34" charset="-120"/>
              </a:rPr>
              <a:t>What the App Will Do</a:t>
            </a:r>
            <a:endParaRPr lang="en-US" sz="2600" dirty="0"/>
          </a:p>
        </p:txBody>
      </p:sp>
      <p:sp>
        <p:nvSpPr>
          <p:cNvPr id="5" name="Shape 3"/>
          <p:cNvSpPr/>
          <p:nvPr/>
        </p:nvSpPr>
        <p:spPr>
          <a:xfrm>
            <a:off x="365760" y="1316736"/>
            <a:ext cx="4160520" cy="1115568"/>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6" name="Shape 4"/>
          <p:cNvSpPr/>
          <p:nvPr/>
        </p:nvSpPr>
        <p:spPr>
          <a:xfrm>
            <a:off x="457200" y="1463040"/>
            <a:ext cx="457200" cy="457200"/>
          </a:xfrm>
          <a:prstGeom prst="ellipse">
            <a:avLst/>
          </a:prstGeom>
          <a:solidFill>
            <a:srgbClr val="00A8CC"/>
          </a:solidFill>
          <a:ln w="12700">
            <a:solidFill>
              <a:srgbClr val="00A8CC"/>
            </a:solidFill>
            <a:prstDash val="solid"/>
          </a:ln>
        </p:spPr>
        <p:txBody>
          <a:bodyPr/>
          <a:lstStyle/>
          <a:p>
            <a:endParaRPr lang="en-IN"/>
          </a:p>
        </p:txBody>
      </p:sp>
      <p:sp>
        <p:nvSpPr>
          <p:cNvPr id="7" name="Text 5"/>
          <p:cNvSpPr/>
          <p:nvPr/>
        </p:nvSpPr>
        <p:spPr>
          <a:xfrm>
            <a:off x="457200" y="1463040"/>
            <a:ext cx="457200" cy="4572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8" name="Text 6"/>
          <p:cNvSpPr/>
          <p:nvPr/>
        </p:nvSpPr>
        <p:spPr>
          <a:xfrm>
            <a:off x="1005840" y="1380744"/>
            <a:ext cx="3429000" cy="274320"/>
          </a:xfrm>
          <a:prstGeom prst="rect">
            <a:avLst/>
          </a:prstGeom>
          <a:noFill/>
          <a:ln/>
        </p:spPr>
        <p:txBody>
          <a:bodyPr wrap="square" lIns="0" tIns="0" rIns="0" bIns="0" rtlCol="0" anchor="ctr"/>
          <a:lstStyle/>
          <a:p>
            <a:pPr marL="0" indent="0">
              <a:buNone/>
            </a:pPr>
            <a:r>
              <a:rPr lang="en-US" sz="1000" b="1" dirty="0">
                <a:solidFill>
                  <a:srgbClr val="1C2E4A"/>
                </a:solidFill>
                <a:latin typeface="Calibri" pitchFamily="34" charset="0"/>
                <a:ea typeface="Calibri" pitchFamily="34" charset="-122"/>
                <a:cs typeface="Calibri" pitchFamily="34" charset="-120"/>
              </a:rPr>
              <a:t>Walk-Based Signal Mapping</a:t>
            </a:r>
            <a:endParaRPr lang="en-US" sz="1000" dirty="0"/>
          </a:p>
        </p:txBody>
      </p:sp>
      <p:sp>
        <p:nvSpPr>
          <p:cNvPr id="9" name="Text 7"/>
          <p:cNvSpPr/>
          <p:nvPr/>
        </p:nvSpPr>
        <p:spPr>
          <a:xfrm>
            <a:off x="1005840" y="1664208"/>
            <a:ext cx="3429000" cy="694944"/>
          </a:xfrm>
          <a:prstGeom prst="rect">
            <a:avLst/>
          </a:prstGeom>
          <a:noFill/>
          <a:ln/>
        </p:spPr>
        <p:txBody>
          <a:bodyPr wrap="square" rtlCol="0" anchor="ctr"/>
          <a:lstStyle/>
          <a:p>
            <a:pPr marL="0" indent="0">
              <a:lnSpc>
                <a:spcPct val="120000"/>
              </a:lnSpc>
              <a:buNone/>
            </a:pPr>
            <a:r>
              <a:rPr lang="en-US" sz="850" dirty="0">
                <a:solidFill>
                  <a:srgbClr val="4A6080"/>
                </a:solidFill>
                <a:latin typeface="Calibri" pitchFamily="34" charset="0"/>
                <a:ea typeface="Calibri" pitchFamily="34" charset="-122"/>
                <a:cs typeface="Calibri" pitchFamily="34" charset="-120"/>
              </a:rPr>
              <a:t>As the user walks through any space, the app continuously records RSSI from all nearby WiFi and 5G sources, building a real-time spatial signal map.</a:t>
            </a:r>
            <a:endParaRPr lang="en-US" sz="850" dirty="0"/>
          </a:p>
        </p:txBody>
      </p:sp>
      <p:sp>
        <p:nvSpPr>
          <p:cNvPr id="10" name="Shape 8"/>
          <p:cNvSpPr/>
          <p:nvPr/>
        </p:nvSpPr>
        <p:spPr>
          <a:xfrm>
            <a:off x="365760" y="2505456"/>
            <a:ext cx="4160520" cy="1115568"/>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1" name="Shape 9"/>
          <p:cNvSpPr/>
          <p:nvPr/>
        </p:nvSpPr>
        <p:spPr>
          <a:xfrm>
            <a:off x="457200" y="2651760"/>
            <a:ext cx="457200" cy="457200"/>
          </a:xfrm>
          <a:prstGeom prst="ellipse">
            <a:avLst/>
          </a:prstGeom>
          <a:solidFill>
            <a:srgbClr val="00A8CC"/>
          </a:solidFill>
          <a:ln w="12700">
            <a:solidFill>
              <a:srgbClr val="00A8CC"/>
            </a:solidFill>
            <a:prstDash val="solid"/>
          </a:ln>
        </p:spPr>
        <p:txBody>
          <a:bodyPr/>
          <a:lstStyle/>
          <a:p>
            <a:endParaRPr lang="en-IN"/>
          </a:p>
        </p:txBody>
      </p:sp>
      <p:sp>
        <p:nvSpPr>
          <p:cNvPr id="12" name="Text 10"/>
          <p:cNvSpPr/>
          <p:nvPr/>
        </p:nvSpPr>
        <p:spPr>
          <a:xfrm>
            <a:off x="457200" y="2651760"/>
            <a:ext cx="457200" cy="4572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13" name="Text 11"/>
          <p:cNvSpPr/>
          <p:nvPr/>
        </p:nvSpPr>
        <p:spPr>
          <a:xfrm>
            <a:off x="1005840" y="2569464"/>
            <a:ext cx="3429000" cy="274320"/>
          </a:xfrm>
          <a:prstGeom prst="rect">
            <a:avLst/>
          </a:prstGeom>
          <a:noFill/>
          <a:ln/>
        </p:spPr>
        <p:txBody>
          <a:bodyPr wrap="square" lIns="0" tIns="0" rIns="0" bIns="0" rtlCol="0" anchor="ctr"/>
          <a:lstStyle/>
          <a:p>
            <a:pPr marL="0" indent="0">
              <a:buNone/>
            </a:pPr>
            <a:r>
              <a:rPr lang="en-US" sz="1000" b="1" dirty="0">
                <a:solidFill>
                  <a:srgbClr val="1C2E4A"/>
                </a:solidFill>
                <a:latin typeface="Calibri" pitchFamily="34" charset="0"/>
                <a:ea typeface="Calibri" pitchFamily="34" charset="-122"/>
                <a:cs typeface="Calibri" pitchFamily="34" charset="-120"/>
              </a:rPr>
              <a:t>Mixed Reality Signal Visualization</a:t>
            </a:r>
            <a:endParaRPr lang="en-US" sz="1000" dirty="0"/>
          </a:p>
        </p:txBody>
      </p:sp>
      <p:sp>
        <p:nvSpPr>
          <p:cNvPr id="14" name="Text 12"/>
          <p:cNvSpPr/>
          <p:nvPr/>
        </p:nvSpPr>
        <p:spPr>
          <a:xfrm>
            <a:off x="1005840" y="2852928"/>
            <a:ext cx="3429000" cy="694944"/>
          </a:xfrm>
          <a:prstGeom prst="rect">
            <a:avLst/>
          </a:prstGeom>
          <a:noFill/>
          <a:ln/>
        </p:spPr>
        <p:txBody>
          <a:bodyPr wrap="square" rtlCol="0" anchor="ctr"/>
          <a:lstStyle/>
          <a:p>
            <a:pPr marL="0" indent="0">
              <a:lnSpc>
                <a:spcPct val="120000"/>
              </a:lnSpc>
              <a:buNone/>
            </a:pPr>
            <a:r>
              <a:rPr lang="en-US" sz="850" dirty="0">
                <a:solidFill>
                  <a:srgbClr val="4A6080"/>
                </a:solidFill>
                <a:latin typeface="Calibri" pitchFamily="34" charset="0"/>
                <a:ea typeface="Calibri" pitchFamily="34" charset="-122"/>
                <a:cs typeface="Calibri" pitchFamily="34" charset="-120"/>
              </a:rPr>
              <a:t>Through the phone camera, the app overlays the signal map as animated waves, glowing dots, and color-coded clusters — green for strong, yellow for moderate, red for weak.</a:t>
            </a:r>
            <a:endParaRPr lang="en-US" sz="850" dirty="0"/>
          </a:p>
        </p:txBody>
      </p:sp>
      <p:sp>
        <p:nvSpPr>
          <p:cNvPr id="15" name="Shape 13"/>
          <p:cNvSpPr/>
          <p:nvPr/>
        </p:nvSpPr>
        <p:spPr>
          <a:xfrm>
            <a:off x="365760" y="3694176"/>
            <a:ext cx="4160520" cy="1115568"/>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6" name="Shape 14"/>
          <p:cNvSpPr/>
          <p:nvPr/>
        </p:nvSpPr>
        <p:spPr>
          <a:xfrm>
            <a:off x="457200" y="3840480"/>
            <a:ext cx="457200" cy="457200"/>
          </a:xfrm>
          <a:prstGeom prst="ellipse">
            <a:avLst/>
          </a:prstGeom>
          <a:solidFill>
            <a:srgbClr val="00A8CC"/>
          </a:solidFill>
          <a:ln w="12700">
            <a:solidFill>
              <a:srgbClr val="00A8CC"/>
            </a:solidFill>
            <a:prstDash val="solid"/>
          </a:ln>
        </p:spPr>
        <p:txBody>
          <a:bodyPr/>
          <a:lstStyle/>
          <a:p>
            <a:endParaRPr lang="en-IN"/>
          </a:p>
        </p:txBody>
      </p:sp>
      <p:sp>
        <p:nvSpPr>
          <p:cNvPr id="17" name="Text 15"/>
          <p:cNvSpPr/>
          <p:nvPr/>
        </p:nvSpPr>
        <p:spPr>
          <a:xfrm>
            <a:off x="457200" y="3840480"/>
            <a:ext cx="457200" cy="4572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18" name="Text 16"/>
          <p:cNvSpPr/>
          <p:nvPr/>
        </p:nvSpPr>
        <p:spPr>
          <a:xfrm>
            <a:off x="1005840" y="3758184"/>
            <a:ext cx="3429000" cy="274320"/>
          </a:xfrm>
          <a:prstGeom prst="rect">
            <a:avLst/>
          </a:prstGeom>
          <a:noFill/>
          <a:ln/>
        </p:spPr>
        <p:txBody>
          <a:bodyPr wrap="square" lIns="0" tIns="0" rIns="0" bIns="0" rtlCol="0" anchor="ctr"/>
          <a:lstStyle/>
          <a:p>
            <a:pPr marL="0" indent="0">
              <a:buNone/>
            </a:pPr>
            <a:r>
              <a:rPr lang="en-US" sz="1000" b="1" dirty="0">
                <a:solidFill>
                  <a:srgbClr val="1C2E4A"/>
                </a:solidFill>
                <a:latin typeface="Calibri" pitchFamily="34" charset="0"/>
                <a:ea typeface="Calibri" pitchFamily="34" charset="-122"/>
                <a:cs typeface="Calibri" pitchFamily="34" charset="-120"/>
              </a:rPr>
              <a:t>Congestion &amp; Interference Detection</a:t>
            </a:r>
            <a:endParaRPr lang="en-US" sz="1000" dirty="0"/>
          </a:p>
        </p:txBody>
      </p:sp>
      <p:sp>
        <p:nvSpPr>
          <p:cNvPr id="19" name="Text 17"/>
          <p:cNvSpPr/>
          <p:nvPr/>
        </p:nvSpPr>
        <p:spPr>
          <a:xfrm>
            <a:off x="1005840" y="4041648"/>
            <a:ext cx="3429000" cy="694944"/>
          </a:xfrm>
          <a:prstGeom prst="rect">
            <a:avLst/>
          </a:prstGeom>
          <a:noFill/>
          <a:ln/>
        </p:spPr>
        <p:txBody>
          <a:bodyPr wrap="square" rtlCol="0" anchor="ctr"/>
          <a:lstStyle/>
          <a:p>
            <a:pPr marL="0" indent="0">
              <a:lnSpc>
                <a:spcPct val="120000"/>
              </a:lnSpc>
              <a:buNone/>
            </a:pPr>
            <a:r>
              <a:rPr lang="en-US" sz="850" dirty="0">
                <a:solidFill>
                  <a:srgbClr val="4A6080"/>
                </a:solidFill>
                <a:latin typeface="Calibri" pitchFamily="34" charset="0"/>
                <a:ea typeface="Calibri" pitchFamily="34" charset="-122"/>
                <a:cs typeface="Calibri" pitchFamily="34" charset="-120"/>
              </a:rPr>
              <a:t>The app automatically identifies areas where multiple signals overlap and compete, flagging congested zones visually so users understand exactly where their connection struggles.</a:t>
            </a:r>
            <a:endParaRPr lang="en-US" sz="850" dirty="0"/>
          </a:p>
        </p:txBody>
      </p:sp>
      <p:sp>
        <p:nvSpPr>
          <p:cNvPr id="20" name="Shape 18"/>
          <p:cNvSpPr/>
          <p:nvPr/>
        </p:nvSpPr>
        <p:spPr>
          <a:xfrm>
            <a:off x="4709160" y="1316736"/>
            <a:ext cx="4160520" cy="1115568"/>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21" name="Shape 19"/>
          <p:cNvSpPr/>
          <p:nvPr/>
        </p:nvSpPr>
        <p:spPr>
          <a:xfrm>
            <a:off x="4800600" y="1463040"/>
            <a:ext cx="457200" cy="457200"/>
          </a:xfrm>
          <a:prstGeom prst="ellipse">
            <a:avLst/>
          </a:prstGeom>
          <a:solidFill>
            <a:srgbClr val="00A8CC"/>
          </a:solidFill>
          <a:ln w="12700">
            <a:solidFill>
              <a:srgbClr val="00A8CC"/>
            </a:solidFill>
            <a:prstDash val="solid"/>
          </a:ln>
        </p:spPr>
        <p:txBody>
          <a:bodyPr/>
          <a:lstStyle/>
          <a:p>
            <a:endParaRPr lang="en-IN"/>
          </a:p>
        </p:txBody>
      </p:sp>
      <p:sp>
        <p:nvSpPr>
          <p:cNvPr id="22" name="Text 20"/>
          <p:cNvSpPr/>
          <p:nvPr/>
        </p:nvSpPr>
        <p:spPr>
          <a:xfrm>
            <a:off x="4800600" y="1463040"/>
            <a:ext cx="457200" cy="4572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23" name="Text 21"/>
          <p:cNvSpPr/>
          <p:nvPr/>
        </p:nvSpPr>
        <p:spPr>
          <a:xfrm>
            <a:off x="5349240" y="1380744"/>
            <a:ext cx="3429000" cy="274320"/>
          </a:xfrm>
          <a:prstGeom prst="rect">
            <a:avLst/>
          </a:prstGeom>
          <a:noFill/>
          <a:ln/>
        </p:spPr>
        <p:txBody>
          <a:bodyPr wrap="square" lIns="0" tIns="0" rIns="0" bIns="0" rtlCol="0" anchor="ctr"/>
          <a:lstStyle/>
          <a:p>
            <a:pPr marL="0" indent="0">
              <a:buNone/>
            </a:pPr>
            <a:r>
              <a:rPr lang="en-US" sz="1000" b="1" dirty="0">
                <a:solidFill>
                  <a:srgbClr val="1C2E4A"/>
                </a:solidFill>
                <a:latin typeface="Calibri" pitchFamily="34" charset="0"/>
                <a:ea typeface="Calibri" pitchFamily="34" charset="-122"/>
                <a:cs typeface="Calibri" pitchFamily="34" charset="-120"/>
              </a:rPr>
              <a:t>Obstacle Impact Visualization</a:t>
            </a:r>
            <a:endParaRPr lang="en-US" sz="1000" dirty="0"/>
          </a:p>
        </p:txBody>
      </p:sp>
      <p:sp>
        <p:nvSpPr>
          <p:cNvPr id="24" name="Text 22"/>
          <p:cNvSpPr/>
          <p:nvPr/>
        </p:nvSpPr>
        <p:spPr>
          <a:xfrm>
            <a:off x="5349240" y="1664208"/>
            <a:ext cx="3429000" cy="694944"/>
          </a:xfrm>
          <a:prstGeom prst="rect">
            <a:avLst/>
          </a:prstGeom>
          <a:noFill/>
          <a:ln/>
        </p:spPr>
        <p:txBody>
          <a:bodyPr wrap="square" rtlCol="0" anchor="ctr"/>
          <a:lstStyle/>
          <a:p>
            <a:pPr marL="0" indent="0">
              <a:lnSpc>
                <a:spcPct val="120000"/>
              </a:lnSpc>
              <a:buNone/>
            </a:pPr>
            <a:r>
              <a:rPr lang="en-US" sz="850" dirty="0">
                <a:solidFill>
                  <a:srgbClr val="4A6080"/>
                </a:solidFill>
                <a:latin typeface="Calibri" pitchFamily="34" charset="0"/>
                <a:ea typeface="Calibri" pitchFamily="34" charset="-122"/>
                <a:cs typeface="Calibri" pitchFamily="34" charset="-120"/>
              </a:rPr>
              <a:t>When signal strength drops near a wall or object, the app highlights that object as a signal blocker in MR, giving users actionable insight about what physical changes can improve connectivity.</a:t>
            </a:r>
            <a:endParaRPr lang="en-US" sz="850" dirty="0"/>
          </a:p>
        </p:txBody>
      </p:sp>
      <p:sp>
        <p:nvSpPr>
          <p:cNvPr id="25" name="Shape 23"/>
          <p:cNvSpPr/>
          <p:nvPr/>
        </p:nvSpPr>
        <p:spPr>
          <a:xfrm>
            <a:off x="4709160" y="2505456"/>
            <a:ext cx="4160520" cy="1115568"/>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26" name="Shape 24"/>
          <p:cNvSpPr/>
          <p:nvPr/>
        </p:nvSpPr>
        <p:spPr>
          <a:xfrm>
            <a:off x="4800600" y="2651760"/>
            <a:ext cx="457200" cy="457200"/>
          </a:xfrm>
          <a:prstGeom prst="ellipse">
            <a:avLst/>
          </a:prstGeom>
          <a:solidFill>
            <a:srgbClr val="00A8CC"/>
          </a:solidFill>
          <a:ln w="12700">
            <a:solidFill>
              <a:srgbClr val="00A8CC"/>
            </a:solidFill>
            <a:prstDash val="solid"/>
          </a:ln>
        </p:spPr>
        <p:txBody>
          <a:bodyPr/>
          <a:lstStyle/>
          <a:p>
            <a:endParaRPr lang="en-IN"/>
          </a:p>
        </p:txBody>
      </p:sp>
      <p:sp>
        <p:nvSpPr>
          <p:cNvPr id="27" name="Text 25"/>
          <p:cNvSpPr/>
          <p:nvPr/>
        </p:nvSpPr>
        <p:spPr>
          <a:xfrm>
            <a:off x="4800600" y="2651760"/>
            <a:ext cx="457200" cy="4572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05</a:t>
            </a:r>
            <a:endParaRPr lang="en-US" sz="900" dirty="0"/>
          </a:p>
        </p:txBody>
      </p:sp>
      <p:sp>
        <p:nvSpPr>
          <p:cNvPr id="28" name="Text 26"/>
          <p:cNvSpPr/>
          <p:nvPr/>
        </p:nvSpPr>
        <p:spPr>
          <a:xfrm>
            <a:off x="5349240" y="2569464"/>
            <a:ext cx="3429000" cy="274320"/>
          </a:xfrm>
          <a:prstGeom prst="rect">
            <a:avLst/>
          </a:prstGeom>
          <a:noFill/>
          <a:ln/>
        </p:spPr>
        <p:txBody>
          <a:bodyPr wrap="square" lIns="0" tIns="0" rIns="0" bIns="0" rtlCol="0" anchor="ctr"/>
          <a:lstStyle/>
          <a:p>
            <a:pPr marL="0" indent="0">
              <a:buNone/>
            </a:pPr>
            <a:r>
              <a:rPr lang="en-US" sz="1000" b="1" dirty="0">
                <a:solidFill>
                  <a:srgbClr val="1C2E4A"/>
                </a:solidFill>
                <a:latin typeface="Calibri" pitchFamily="34" charset="0"/>
                <a:ea typeface="Calibri" pitchFamily="34" charset="-122"/>
                <a:cs typeface="Calibri" pitchFamily="34" charset="-120"/>
              </a:rPr>
              <a:t>Guided Fix Recommendations</a:t>
            </a:r>
            <a:endParaRPr lang="en-US" sz="1000" dirty="0"/>
          </a:p>
        </p:txBody>
      </p:sp>
      <p:sp>
        <p:nvSpPr>
          <p:cNvPr id="29" name="Text 27"/>
          <p:cNvSpPr/>
          <p:nvPr/>
        </p:nvSpPr>
        <p:spPr>
          <a:xfrm>
            <a:off x="5349240" y="2852928"/>
            <a:ext cx="3429000" cy="694944"/>
          </a:xfrm>
          <a:prstGeom prst="rect">
            <a:avLst/>
          </a:prstGeom>
          <a:noFill/>
          <a:ln/>
        </p:spPr>
        <p:txBody>
          <a:bodyPr wrap="square" rtlCol="0" anchor="ctr"/>
          <a:lstStyle/>
          <a:p>
            <a:pPr marL="0" indent="0">
              <a:lnSpc>
                <a:spcPct val="120000"/>
              </a:lnSpc>
              <a:buNone/>
            </a:pPr>
            <a:r>
              <a:rPr lang="en-US" sz="850" dirty="0">
                <a:solidFill>
                  <a:srgbClr val="4A6080"/>
                </a:solidFill>
                <a:latin typeface="Calibri" pitchFamily="34" charset="0"/>
                <a:ea typeface="Calibri" pitchFamily="34" charset="-122"/>
                <a:cs typeface="Calibri" pitchFamily="34" charset="-120"/>
              </a:rPr>
              <a:t>Once problem areas are identified, the app guides users toward solutions: move to a stronger zone, reposition the router, or understand connectivity patterns in the space.</a:t>
            </a:r>
            <a:endParaRPr lang="en-US" sz="850" dirty="0"/>
          </a:p>
        </p:txBody>
      </p:sp>
      <p:sp>
        <p:nvSpPr>
          <p:cNvPr id="30" name="Shape 28"/>
          <p:cNvSpPr/>
          <p:nvPr/>
        </p:nvSpPr>
        <p:spPr>
          <a:xfrm>
            <a:off x="4709160" y="3694176"/>
            <a:ext cx="4160520" cy="1115568"/>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31" name="Shape 29"/>
          <p:cNvSpPr/>
          <p:nvPr/>
        </p:nvSpPr>
        <p:spPr>
          <a:xfrm>
            <a:off x="4800600" y="3840480"/>
            <a:ext cx="457200" cy="457200"/>
          </a:xfrm>
          <a:prstGeom prst="ellipse">
            <a:avLst/>
          </a:prstGeom>
          <a:solidFill>
            <a:srgbClr val="00A8CC"/>
          </a:solidFill>
          <a:ln w="12700">
            <a:solidFill>
              <a:srgbClr val="00A8CC"/>
            </a:solidFill>
            <a:prstDash val="solid"/>
          </a:ln>
        </p:spPr>
        <p:txBody>
          <a:bodyPr/>
          <a:lstStyle/>
          <a:p>
            <a:endParaRPr lang="en-IN"/>
          </a:p>
        </p:txBody>
      </p:sp>
      <p:sp>
        <p:nvSpPr>
          <p:cNvPr id="32" name="Text 30"/>
          <p:cNvSpPr/>
          <p:nvPr/>
        </p:nvSpPr>
        <p:spPr>
          <a:xfrm>
            <a:off x="4800600" y="3840480"/>
            <a:ext cx="457200" cy="4572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06</a:t>
            </a:r>
            <a:endParaRPr lang="en-US" sz="900" dirty="0"/>
          </a:p>
        </p:txBody>
      </p:sp>
      <p:sp>
        <p:nvSpPr>
          <p:cNvPr id="33" name="Text 31"/>
          <p:cNvSpPr/>
          <p:nvPr/>
        </p:nvSpPr>
        <p:spPr>
          <a:xfrm>
            <a:off x="5349240" y="3758184"/>
            <a:ext cx="3429000" cy="274320"/>
          </a:xfrm>
          <a:prstGeom prst="rect">
            <a:avLst/>
          </a:prstGeom>
          <a:noFill/>
          <a:ln/>
        </p:spPr>
        <p:txBody>
          <a:bodyPr wrap="square" lIns="0" tIns="0" rIns="0" bIns="0" rtlCol="0" anchor="ctr"/>
          <a:lstStyle/>
          <a:p>
            <a:pPr marL="0" indent="0">
              <a:buNone/>
            </a:pPr>
            <a:r>
              <a:rPr lang="en-US" sz="1000" b="1" dirty="0">
                <a:solidFill>
                  <a:srgbClr val="1C2E4A"/>
                </a:solidFill>
                <a:latin typeface="Calibri" pitchFamily="34" charset="0"/>
                <a:ea typeface="Calibri" pitchFamily="34" charset="-122"/>
                <a:cs typeface="Calibri" pitchFamily="34" charset="-120"/>
              </a:rPr>
              <a:t>Education Mode</a:t>
            </a:r>
            <a:endParaRPr lang="en-US" sz="1000" dirty="0"/>
          </a:p>
        </p:txBody>
      </p:sp>
      <p:sp>
        <p:nvSpPr>
          <p:cNvPr id="34" name="Text 32"/>
          <p:cNvSpPr/>
          <p:nvPr/>
        </p:nvSpPr>
        <p:spPr>
          <a:xfrm>
            <a:off x="5349240" y="4041648"/>
            <a:ext cx="3429000" cy="694944"/>
          </a:xfrm>
          <a:prstGeom prst="rect">
            <a:avLst/>
          </a:prstGeom>
          <a:noFill/>
          <a:ln/>
        </p:spPr>
        <p:txBody>
          <a:bodyPr wrap="square" rtlCol="0" anchor="ctr"/>
          <a:lstStyle/>
          <a:p>
            <a:pPr marL="0" indent="0">
              <a:lnSpc>
                <a:spcPct val="120000"/>
              </a:lnSpc>
              <a:buNone/>
            </a:pPr>
            <a:r>
              <a:rPr lang="en-US" sz="850" dirty="0">
                <a:solidFill>
                  <a:srgbClr val="4A6080"/>
                </a:solidFill>
                <a:latin typeface="Calibri" pitchFamily="34" charset="0"/>
                <a:ea typeface="Calibri" pitchFamily="34" charset="-122"/>
                <a:cs typeface="Calibri" pitchFamily="34" charset="-120"/>
              </a:rPr>
              <a:t>A dedicated learning mode turns the app into an interactive RF classroom — students can see how signals propagate, how obstacles affect transmission, and how congestion forms.</a:t>
            </a:r>
            <a:endParaRPr lang="en-US" sz="850" dirty="0"/>
          </a:p>
        </p:txBody>
      </p:sp>
      <p:sp>
        <p:nvSpPr>
          <p:cNvPr id="35" name="Shape 33"/>
          <p:cNvSpPr/>
          <p:nvPr/>
        </p:nvSpPr>
        <p:spPr>
          <a:xfrm>
            <a:off x="0" y="4864608"/>
            <a:ext cx="9144000" cy="274320"/>
          </a:xfrm>
          <a:prstGeom prst="rect">
            <a:avLst/>
          </a:prstGeom>
          <a:solidFill>
            <a:srgbClr val="0D1B3E"/>
          </a:solidFill>
          <a:ln w="12700">
            <a:solidFill>
              <a:srgbClr val="0D1B3E"/>
            </a:solidFill>
            <a:prstDash val="solid"/>
          </a:ln>
        </p:spPr>
        <p:txBody>
          <a:bodyPr/>
          <a:lstStyle/>
          <a:p>
            <a:endParaRPr lang="en-IN"/>
          </a:p>
        </p:txBody>
      </p:sp>
      <p:sp>
        <p:nvSpPr>
          <p:cNvPr id="36" name="Text 34"/>
          <p:cNvSpPr/>
          <p:nvPr/>
        </p:nvSpPr>
        <p:spPr>
          <a:xfrm>
            <a:off x="274320" y="4873752"/>
            <a:ext cx="7772400" cy="256032"/>
          </a:xfrm>
          <a:prstGeom prst="rect">
            <a:avLst/>
          </a:prstGeom>
          <a:noFill/>
          <a:ln/>
        </p:spPr>
        <p:txBody>
          <a:bodyPr wrap="square" rtlCol="0" anchor="ctr"/>
          <a:lstStyle/>
          <a:p>
            <a:r>
              <a:rPr lang="en-US" sz="800" dirty="0">
                <a:solidFill>
                  <a:srgbClr val="8BA0BF"/>
                </a:solidFill>
                <a:latin typeface="Calibri" pitchFamily="34" charset="0"/>
                <a:ea typeface="Calibri" pitchFamily="34" charset="-122"/>
                <a:cs typeface="Calibri" pitchFamily="34" charset="-120"/>
              </a:rPr>
              <a:t>Drishti XR ·  Wireless Signal Mapping &amp; Visualization for Everyone</a:t>
            </a:r>
            <a:endParaRPr lang="en-US" sz="800" dirty="0"/>
          </a:p>
        </p:txBody>
      </p:sp>
      <p:sp>
        <p:nvSpPr>
          <p:cNvPr id="37" name="Text 35"/>
          <p:cNvSpPr/>
          <p:nvPr/>
        </p:nvSpPr>
        <p:spPr>
          <a:xfrm>
            <a:off x="8412480" y="4873752"/>
            <a:ext cx="548640" cy="256032"/>
          </a:xfrm>
          <a:prstGeom prst="rect">
            <a:avLst/>
          </a:prstGeom>
          <a:noFill/>
          <a:ln/>
        </p:spPr>
        <p:txBody>
          <a:bodyPr wrap="square" rtlCol="0" anchor="ctr"/>
          <a:lstStyle/>
          <a:p>
            <a:pPr marL="0" indent="0" algn="r">
              <a:buNone/>
            </a:pPr>
            <a:r>
              <a:rPr lang="en-US" sz="800" dirty="0">
                <a:solidFill>
                  <a:srgbClr val="8BA0BF"/>
                </a:solidFill>
                <a:latin typeface="Calibri" pitchFamily="34" charset="0"/>
                <a:ea typeface="Calibri" pitchFamily="34" charset="-122"/>
                <a:cs typeface="Calibri" pitchFamily="34" charset="-120"/>
              </a:rPr>
              <a:t>4 / 12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365760" y="182880"/>
            <a:ext cx="54864" cy="502920"/>
          </a:xfrm>
          <a:prstGeom prst="rect">
            <a:avLst/>
          </a:prstGeom>
          <a:solidFill>
            <a:srgbClr val="00A8CC"/>
          </a:solidFill>
          <a:ln w="12700">
            <a:solidFill>
              <a:srgbClr val="00A8CC"/>
            </a:solidFill>
            <a:prstDash val="solid"/>
          </a:ln>
        </p:spPr>
        <p:txBody>
          <a:bodyPr/>
          <a:lstStyle/>
          <a:p>
            <a:endParaRPr lang="en-IN"/>
          </a:p>
        </p:txBody>
      </p:sp>
      <p:sp>
        <p:nvSpPr>
          <p:cNvPr id="3" name="Text 1"/>
          <p:cNvSpPr/>
          <p:nvPr/>
        </p:nvSpPr>
        <p:spPr>
          <a:xfrm>
            <a:off x="502920" y="164592"/>
            <a:ext cx="8229600" cy="548640"/>
          </a:xfrm>
          <a:prstGeom prst="rect">
            <a:avLst/>
          </a:prstGeom>
          <a:noFill/>
          <a:ln/>
        </p:spPr>
        <p:txBody>
          <a:bodyPr wrap="square" lIns="0" tIns="0" rIns="0" bIns="0" rtlCol="0" anchor="ctr"/>
          <a:lstStyle/>
          <a:p>
            <a:pPr marL="0" indent="0">
              <a:buNone/>
            </a:pPr>
            <a:r>
              <a:rPr lang="en-US" sz="1100" b="1" dirty="0">
                <a:solidFill>
                  <a:srgbClr val="00A8CC"/>
                </a:solidFill>
                <a:latin typeface="Calibri" pitchFamily="34" charset="0"/>
                <a:ea typeface="Calibri" pitchFamily="34" charset="-122"/>
                <a:cs typeface="Calibri" pitchFamily="34" charset="-120"/>
              </a:rPr>
              <a:t>4.  How It Works</a:t>
            </a:r>
            <a:endParaRPr lang="en-US" sz="1100" dirty="0"/>
          </a:p>
        </p:txBody>
      </p:sp>
      <p:sp>
        <p:nvSpPr>
          <p:cNvPr id="4" name="Text 2"/>
          <p:cNvSpPr/>
          <p:nvPr/>
        </p:nvSpPr>
        <p:spPr>
          <a:xfrm>
            <a:off x="365760" y="749808"/>
            <a:ext cx="8412480" cy="475488"/>
          </a:xfrm>
          <a:prstGeom prst="rect">
            <a:avLst/>
          </a:prstGeom>
          <a:noFill/>
          <a:ln/>
        </p:spPr>
        <p:txBody>
          <a:bodyPr wrap="square" lIns="0" tIns="0" rIns="0" bIns="0" rtlCol="0" anchor="ctr"/>
          <a:lstStyle/>
          <a:p>
            <a:pPr marL="0" indent="0">
              <a:buNone/>
            </a:pPr>
            <a:r>
              <a:rPr lang="en-US" sz="2600" b="1" dirty="0">
                <a:solidFill>
                  <a:srgbClr val="1C2E4A"/>
                </a:solidFill>
                <a:latin typeface="Calibri" pitchFamily="34" charset="0"/>
                <a:ea typeface="Calibri" pitchFamily="34" charset="-122"/>
                <a:cs typeface="Calibri" pitchFamily="34" charset="-120"/>
              </a:rPr>
              <a:t>Simple. Intuitive. Powerful.</a:t>
            </a:r>
            <a:endParaRPr lang="en-US" sz="2600" dirty="0"/>
          </a:p>
        </p:txBody>
      </p:sp>
      <p:sp>
        <p:nvSpPr>
          <p:cNvPr id="5" name="Shape 3"/>
          <p:cNvSpPr/>
          <p:nvPr/>
        </p:nvSpPr>
        <p:spPr>
          <a:xfrm>
            <a:off x="365760" y="1353312"/>
            <a:ext cx="1371600" cy="3383280"/>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6" name="Shape 4"/>
          <p:cNvSpPr/>
          <p:nvPr/>
        </p:nvSpPr>
        <p:spPr>
          <a:xfrm>
            <a:off x="365760" y="1353312"/>
            <a:ext cx="1371600" cy="457200"/>
          </a:xfrm>
          <a:prstGeom prst="rect">
            <a:avLst/>
          </a:prstGeom>
          <a:solidFill>
            <a:srgbClr val="00A8CC"/>
          </a:solidFill>
          <a:ln w="12700">
            <a:solidFill>
              <a:srgbClr val="00A8CC"/>
            </a:solidFill>
            <a:prstDash val="solid"/>
          </a:ln>
        </p:spPr>
        <p:txBody>
          <a:bodyPr/>
          <a:lstStyle/>
          <a:p>
            <a:endParaRPr lang="en-IN"/>
          </a:p>
        </p:txBody>
      </p:sp>
      <p:sp>
        <p:nvSpPr>
          <p:cNvPr id="7" name="Text 5"/>
          <p:cNvSpPr/>
          <p:nvPr/>
        </p:nvSpPr>
        <p:spPr>
          <a:xfrm>
            <a:off x="365760" y="1353312"/>
            <a:ext cx="13716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365760" y="1856232"/>
            <a:ext cx="1371600" cy="4572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9" name="Text 7"/>
          <p:cNvSpPr/>
          <p:nvPr/>
        </p:nvSpPr>
        <p:spPr>
          <a:xfrm>
            <a:off x="438912" y="2359152"/>
            <a:ext cx="1234440" cy="365760"/>
          </a:xfrm>
          <a:prstGeom prst="rect">
            <a:avLst/>
          </a:prstGeom>
          <a:noFill/>
          <a:ln/>
        </p:spPr>
        <p:txBody>
          <a:bodyPr wrap="square" rtlCol="0" anchor="ctr"/>
          <a:lstStyle/>
          <a:p>
            <a:pPr marL="0" indent="0" algn="ctr">
              <a:buNone/>
            </a:pPr>
            <a:r>
              <a:rPr lang="en-US" sz="900" b="1" dirty="0">
                <a:solidFill>
                  <a:srgbClr val="1C2E4A"/>
                </a:solidFill>
                <a:latin typeface="Calibri" pitchFamily="34" charset="0"/>
                <a:ea typeface="Calibri" pitchFamily="34" charset="-122"/>
                <a:cs typeface="Calibri" pitchFamily="34" charset="-120"/>
              </a:rPr>
              <a:t>Download the App</a:t>
            </a:r>
            <a:endParaRPr lang="en-US" sz="900" dirty="0"/>
          </a:p>
        </p:txBody>
      </p:sp>
      <p:sp>
        <p:nvSpPr>
          <p:cNvPr id="10" name="Text 8"/>
          <p:cNvSpPr/>
          <p:nvPr/>
        </p:nvSpPr>
        <p:spPr>
          <a:xfrm>
            <a:off x="438912" y="2770632"/>
            <a:ext cx="1234440" cy="1463040"/>
          </a:xfrm>
          <a:prstGeom prst="rect">
            <a:avLst/>
          </a:prstGeom>
          <a:noFill/>
          <a:ln/>
        </p:spPr>
        <p:txBody>
          <a:bodyPr wrap="square" rtlCol="0" anchor="ctr"/>
          <a:lstStyle/>
          <a:p>
            <a:pPr marL="0" indent="0" algn="l">
              <a:lnSpc>
                <a:spcPct val="125000"/>
              </a:lnSpc>
              <a:buNone/>
            </a:pPr>
            <a:r>
              <a:rPr lang="en-US" sz="800" dirty="0">
                <a:solidFill>
                  <a:srgbClr val="4A6080"/>
                </a:solidFill>
                <a:latin typeface="Calibri" pitchFamily="34" charset="0"/>
                <a:ea typeface="Calibri" pitchFamily="34" charset="-122"/>
                <a:cs typeface="Calibri" pitchFamily="34" charset="-120"/>
              </a:rPr>
              <a:t>Install Drishti XR on any iPhone or Android smartphone. </a:t>
            </a:r>
            <a:endParaRPr lang="en-US" sz="800" dirty="0"/>
          </a:p>
        </p:txBody>
      </p:sp>
      <p:sp>
        <p:nvSpPr>
          <p:cNvPr id="11" name="Shape 9"/>
          <p:cNvSpPr/>
          <p:nvPr/>
        </p:nvSpPr>
        <p:spPr>
          <a:xfrm>
            <a:off x="1828800" y="1353312"/>
            <a:ext cx="1371600" cy="3383280"/>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2" name="Shape 10"/>
          <p:cNvSpPr/>
          <p:nvPr/>
        </p:nvSpPr>
        <p:spPr>
          <a:xfrm>
            <a:off x="1828800" y="1353312"/>
            <a:ext cx="1371600" cy="457200"/>
          </a:xfrm>
          <a:prstGeom prst="rect">
            <a:avLst/>
          </a:prstGeom>
          <a:solidFill>
            <a:srgbClr val="00A8CC"/>
          </a:solidFill>
          <a:ln w="12700">
            <a:solidFill>
              <a:srgbClr val="00A8CC"/>
            </a:solidFill>
            <a:prstDash val="solid"/>
          </a:ln>
        </p:spPr>
        <p:txBody>
          <a:bodyPr/>
          <a:lstStyle/>
          <a:p>
            <a:endParaRPr lang="en-IN"/>
          </a:p>
        </p:txBody>
      </p:sp>
      <p:sp>
        <p:nvSpPr>
          <p:cNvPr id="13" name="Text 11"/>
          <p:cNvSpPr/>
          <p:nvPr/>
        </p:nvSpPr>
        <p:spPr>
          <a:xfrm>
            <a:off x="1828800" y="1353312"/>
            <a:ext cx="13716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2"/>
          <p:cNvSpPr/>
          <p:nvPr/>
        </p:nvSpPr>
        <p:spPr>
          <a:xfrm>
            <a:off x="1828800" y="1856232"/>
            <a:ext cx="1371600" cy="4572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5" name="Text 13"/>
          <p:cNvSpPr/>
          <p:nvPr/>
        </p:nvSpPr>
        <p:spPr>
          <a:xfrm>
            <a:off x="1901952" y="2359152"/>
            <a:ext cx="1234440" cy="365760"/>
          </a:xfrm>
          <a:prstGeom prst="rect">
            <a:avLst/>
          </a:prstGeom>
          <a:noFill/>
          <a:ln/>
        </p:spPr>
        <p:txBody>
          <a:bodyPr wrap="square" rtlCol="0" anchor="ctr"/>
          <a:lstStyle/>
          <a:p>
            <a:pPr marL="0" indent="0" algn="ctr">
              <a:buNone/>
            </a:pPr>
            <a:r>
              <a:rPr lang="en-US" sz="900" b="1" dirty="0">
                <a:solidFill>
                  <a:srgbClr val="1C2E4A"/>
                </a:solidFill>
                <a:latin typeface="Calibri" pitchFamily="34" charset="0"/>
                <a:ea typeface="Calibri" pitchFamily="34" charset="-122"/>
                <a:cs typeface="Calibri" pitchFamily="34" charset="-120"/>
              </a:rPr>
              <a:t>Walk the Space</a:t>
            </a:r>
            <a:endParaRPr lang="en-US" sz="900" dirty="0"/>
          </a:p>
        </p:txBody>
      </p:sp>
      <p:sp>
        <p:nvSpPr>
          <p:cNvPr id="16" name="Text 14"/>
          <p:cNvSpPr/>
          <p:nvPr/>
        </p:nvSpPr>
        <p:spPr>
          <a:xfrm>
            <a:off x="1901952" y="2770632"/>
            <a:ext cx="1234440" cy="1463040"/>
          </a:xfrm>
          <a:prstGeom prst="rect">
            <a:avLst/>
          </a:prstGeom>
          <a:noFill/>
          <a:ln/>
        </p:spPr>
        <p:txBody>
          <a:bodyPr wrap="square" rtlCol="0" anchor="ctr"/>
          <a:lstStyle/>
          <a:p>
            <a:pPr marL="0" indent="0" algn="l">
              <a:lnSpc>
                <a:spcPct val="125000"/>
              </a:lnSpc>
              <a:buNone/>
            </a:pPr>
            <a:r>
              <a:rPr lang="en-US" sz="800" dirty="0">
                <a:solidFill>
                  <a:srgbClr val="4A6080"/>
                </a:solidFill>
                <a:latin typeface="Calibri" pitchFamily="34" charset="0"/>
                <a:ea typeface="Calibri" pitchFamily="34" charset="-122"/>
                <a:cs typeface="Calibri" pitchFamily="34" charset="-120"/>
              </a:rPr>
              <a:t>Simply walk through your room, floor, or building. The phone silently scans signal strength at every step.</a:t>
            </a:r>
            <a:endParaRPr lang="en-US" sz="800" dirty="0"/>
          </a:p>
        </p:txBody>
      </p:sp>
      <p:sp>
        <p:nvSpPr>
          <p:cNvPr id="17" name="Shape 15"/>
          <p:cNvSpPr/>
          <p:nvPr/>
        </p:nvSpPr>
        <p:spPr>
          <a:xfrm>
            <a:off x="3291840" y="1353312"/>
            <a:ext cx="1371600" cy="3383280"/>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8" name="Shape 16"/>
          <p:cNvSpPr/>
          <p:nvPr/>
        </p:nvSpPr>
        <p:spPr>
          <a:xfrm>
            <a:off x="3291840" y="1353312"/>
            <a:ext cx="1371600" cy="457200"/>
          </a:xfrm>
          <a:prstGeom prst="rect">
            <a:avLst/>
          </a:prstGeom>
          <a:solidFill>
            <a:srgbClr val="00A8CC"/>
          </a:solidFill>
          <a:ln w="12700">
            <a:solidFill>
              <a:srgbClr val="00A8CC"/>
            </a:solidFill>
            <a:prstDash val="solid"/>
          </a:ln>
        </p:spPr>
        <p:txBody>
          <a:bodyPr/>
          <a:lstStyle/>
          <a:p>
            <a:endParaRPr lang="en-IN"/>
          </a:p>
        </p:txBody>
      </p:sp>
      <p:sp>
        <p:nvSpPr>
          <p:cNvPr id="19" name="Text 17"/>
          <p:cNvSpPr/>
          <p:nvPr/>
        </p:nvSpPr>
        <p:spPr>
          <a:xfrm>
            <a:off x="3291840" y="1353312"/>
            <a:ext cx="13716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0" name="Text 18"/>
          <p:cNvSpPr/>
          <p:nvPr/>
        </p:nvSpPr>
        <p:spPr>
          <a:xfrm>
            <a:off x="3291840" y="1856232"/>
            <a:ext cx="1371600" cy="4572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1" name="Text 19"/>
          <p:cNvSpPr/>
          <p:nvPr/>
        </p:nvSpPr>
        <p:spPr>
          <a:xfrm>
            <a:off x="3364992" y="2359152"/>
            <a:ext cx="1234440" cy="365760"/>
          </a:xfrm>
          <a:prstGeom prst="rect">
            <a:avLst/>
          </a:prstGeom>
          <a:noFill/>
          <a:ln/>
        </p:spPr>
        <p:txBody>
          <a:bodyPr wrap="square" rtlCol="0" anchor="ctr"/>
          <a:lstStyle/>
          <a:p>
            <a:pPr marL="0" indent="0" algn="ctr">
              <a:buNone/>
            </a:pPr>
            <a:r>
              <a:rPr lang="en-US" sz="900" b="1" dirty="0">
                <a:solidFill>
                  <a:srgbClr val="1C2E4A"/>
                </a:solidFill>
                <a:latin typeface="Calibri" pitchFamily="34" charset="0"/>
                <a:ea typeface="Calibri" pitchFamily="34" charset="-122"/>
                <a:cs typeface="Calibri" pitchFamily="34" charset="-120"/>
              </a:rPr>
              <a:t>Map Is Built</a:t>
            </a:r>
            <a:endParaRPr lang="en-US" sz="900" dirty="0"/>
          </a:p>
        </p:txBody>
      </p:sp>
      <p:sp>
        <p:nvSpPr>
          <p:cNvPr id="22" name="Text 20"/>
          <p:cNvSpPr/>
          <p:nvPr/>
        </p:nvSpPr>
        <p:spPr>
          <a:xfrm>
            <a:off x="3364992" y="2770632"/>
            <a:ext cx="1234440" cy="1463040"/>
          </a:xfrm>
          <a:prstGeom prst="rect">
            <a:avLst/>
          </a:prstGeom>
          <a:noFill/>
          <a:ln/>
        </p:spPr>
        <p:txBody>
          <a:bodyPr wrap="square" rtlCol="0" anchor="ctr"/>
          <a:lstStyle/>
          <a:p>
            <a:pPr marL="0" indent="0" algn="l">
              <a:lnSpc>
                <a:spcPct val="125000"/>
              </a:lnSpc>
              <a:buNone/>
            </a:pPr>
            <a:r>
              <a:rPr lang="en-US" sz="800" dirty="0">
                <a:solidFill>
                  <a:srgbClr val="4A6080"/>
                </a:solidFill>
                <a:latin typeface="Calibri" pitchFamily="34" charset="0"/>
                <a:ea typeface="Calibri" pitchFamily="34" charset="-122"/>
                <a:cs typeface="Calibri" pitchFamily="34" charset="-120"/>
              </a:rPr>
              <a:t>As you walk, the app builds a live signal strength heatmap anchored to your physical location using your phone's sensors.</a:t>
            </a:r>
            <a:endParaRPr lang="en-US" sz="800" dirty="0"/>
          </a:p>
        </p:txBody>
      </p:sp>
      <p:sp>
        <p:nvSpPr>
          <p:cNvPr id="23" name="Shape 21"/>
          <p:cNvSpPr/>
          <p:nvPr/>
        </p:nvSpPr>
        <p:spPr>
          <a:xfrm>
            <a:off x="4754880" y="1353312"/>
            <a:ext cx="1371600" cy="3383280"/>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24" name="Shape 22"/>
          <p:cNvSpPr/>
          <p:nvPr/>
        </p:nvSpPr>
        <p:spPr>
          <a:xfrm>
            <a:off x="4754880" y="1353312"/>
            <a:ext cx="1371600" cy="457200"/>
          </a:xfrm>
          <a:prstGeom prst="rect">
            <a:avLst/>
          </a:prstGeom>
          <a:solidFill>
            <a:srgbClr val="00A8CC"/>
          </a:solidFill>
          <a:ln w="12700">
            <a:solidFill>
              <a:srgbClr val="00A8CC"/>
            </a:solidFill>
            <a:prstDash val="solid"/>
          </a:ln>
        </p:spPr>
        <p:txBody>
          <a:bodyPr/>
          <a:lstStyle/>
          <a:p>
            <a:endParaRPr lang="en-IN"/>
          </a:p>
        </p:txBody>
      </p:sp>
      <p:sp>
        <p:nvSpPr>
          <p:cNvPr id="25" name="Text 23"/>
          <p:cNvSpPr/>
          <p:nvPr/>
        </p:nvSpPr>
        <p:spPr>
          <a:xfrm>
            <a:off x="4754880" y="1353312"/>
            <a:ext cx="13716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6" name="Text 24"/>
          <p:cNvSpPr/>
          <p:nvPr/>
        </p:nvSpPr>
        <p:spPr>
          <a:xfrm>
            <a:off x="4754880" y="1856232"/>
            <a:ext cx="1371600" cy="4572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7" name="Text 25"/>
          <p:cNvSpPr/>
          <p:nvPr/>
        </p:nvSpPr>
        <p:spPr>
          <a:xfrm>
            <a:off x="4828032" y="2359152"/>
            <a:ext cx="1234440" cy="365760"/>
          </a:xfrm>
          <a:prstGeom prst="rect">
            <a:avLst/>
          </a:prstGeom>
          <a:noFill/>
          <a:ln/>
        </p:spPr>
        <p:txBody>
          <a:bodyPr wrap="square" rtlCol="0" anchor="ctr"/>
          <a:lstStyle/>
          <a:p>
            <a:pPr marL="0" indent="0" algn="ctr">
              <a:buNone/>
            </a:pPr>
            <a:r>
              <a:rPr lang="en-US" sz="900" b="1" dirty="0">
                <a:solidFill>
                  <a:srgbClr val="1C2E4A"/>
                </a:solidFill>
                <a:latin typeface="Calibri" pitchFamily="34" charset="0"/>
                <a:ea typeface="Calibri" pitchFamily="34" charset="-122"/>
                <a:cs typeface="Calibri" pitchFamily="34" charset="-120"/>
              </a:rPr>
              <a:t>Point &amp; See in MR</a:t>
            </a:r>
            <a:endParaRPr lang="en-US" sz="900" dirty="0"/>
          </a:p>
        </p:txBody>
      </p:sp>
      <p:sp>
        <p:nvSpPr>
          <p:cNvPr id="28" name="Text 26"/>
          <p:cNvSpPr/>
          <p:nvPr/>
        </p:nvSpPr>
        <p:spPr>
          <a:xfrm>
            <a:off x="4828032" y="2770632"/>
            <a:ext cx="1234440" cy="1463040"/>
          </a:xfrm>
          <a:prstGeom prst="rect">
            <a:avLst/>
          </a:prstGeom>
          <a:noFill/>
          <a:ln/>
        </p:spPr>
        <p:txBody>
          <a:bodyPr wrap="square" rtlCol="0" anchor="ctr"/>
          <a:lstStyle/>
          <a:p>
            <a:pPr marL="0" indent="0" algn="l">
              <a:lnSpc>
                <a:spcPct val="125000"/>
              </a:lnSpc>
              <a:buNone/>
            </a:pPr>
            <a:r>
              <a:rPr lang="en-US" sz="800" dirty="0">
                <a:solidFill>
                  <a:srgbClr val="4A6080"/>
                </a:solidFill>
                <a:latin typeface="Calibri" pitchFamily="34" charset="0"/>
                <a:ea typeface="Calibri" pitchFamily="34" charset="-122"/>
                <a:cs typeface="Calibri" pitchFamily="34" charset="-120"/>
              </a:rPr>
              <a:t>Point your phone's camera at the space. Colored signal waves, dots, and clusters appear floating in the real world through your screen.</a:t>
            </a:r>
            <a:endParaRPr lang="en-US" sz="800" dirty="0"/>
          </a:p>
        </p:txBody>
      </p:sp>
      <p:sp>
        <p:nvSpPr>
          <p:cNvPr id="29" name="Shape 27"/>
          <p:cNvSpPr/>
          <p:nvPr/>
        </p:nvSpPr>
        <p:spPr>
          <a:xfrm>
            <a:off x="6217920" y="1353312"/>
            <a:ext cx="1371600" cy="3383280"/>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30" name="Shape 28"/>
          <p:cNvSpPr/>
          <p:nvPr/>
        </p:nvSpPr>
        <p:spPr>
          <a:xfrm>
            <a:off x="6217920" y="1353312"/>
            <a:ext cx="1371600" cy="457200"/>
          </a:xfrm>
          <a:prstGeom prst="rect">
            <a:avLst/>
          </a:prstGeom>
          <a:solidFill>
            <a:srgbClr val="00A8CC"/>
          </a:solidFill>
          <a:ln w="12700">
            <a:solidFill>
              <a:srgbClr val="00A8CC"/>
            </a:solidFill>
            <a:prstDash val="solid"/>
          </a:ln>
        </p:spPr>
        <p:txBody>
          <a:bodyPr/>
          <a:lstStyle/>
          <a:p>
            <a:endParaRPr lang="en-IN"/>
          </a:p>
        </p:txBody>
      </p:sp>
      <p:sp>
        <p:nvSpPr>
          <p:cNvPr id="31" name="Text 29"/>
          <p:cNvSpPr/>
          <p:nvPr/>
        </p:nvSpPr>
        <p:spPr>
          <a:xfrm>
            <a:off x="6217920" y="1353312"/>
            <a:ext cx="13716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2" name="Text 30"/>
          <p:cNvSpPr/>
          <p:nvPr/>
        </p:nvSpPr>
        <p:spPr>
          <a:xfrm>
            <a:off x="6217920" y="1856232"/>
            <a:ext cx="1371600" cy="4572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33" name="Text 31"/>
          <p:cNvSpPr/>
          <p:nvPr/>
        </p:nvSpPr>
        <p:spPr>
          <a:xfrm>
            <a:off x="6291072" y="2359152"/>
            <a:ext cx="1234440" cy="365760"/>
          </a:xfrm>
          <a:prstGeom prst="rect">
            <a:avLst/>
          </a:prstGeom>
          <a:noFill/>
          <a:ln/>
        </p:spPr>
        <p:txBody>
          <a:bodyPr wrap="square" rtlCol="0" anchor="ctr"/>
          <a:lstStyle/>
          <a:p>
            <a:pPr marL="0" indent="0" algn="ctr">
              <a:buNone/>
            </a:pPr>
            <a:r>
              <a:rPr lang="en-US" sz="900" b="1" dirty="0">
                <a:solidFill>
                  <a:srgbClr val="1C2E4A"/>
                </a:solidFill>
                <a:latin typeface="Calibri" pitchFamily="34" charset="0"/>
                <a:ea typeface="Calibri" pitchFamily="34" charset="-122"/>
                <a:cs typeface="Calibri" pitchFamily="34" charset="-120"/>
              </a:rPr>
              <a:t>Spots &amp; Blockers Highlighted</a:t>
            </a:r>
            <a:endParaRPr lang="en-US" sz="900" dirty="0"/>
          </a:p>
        </p:txBody>
      </p:sp>
      <p:sp>
        <p:nvSpPr>
          <p:cNvPr id="34" name="Text 32"/>
          <p:cNvSpPr/>
          <p:nvPr/>
        </p:nvSpPr>
        <p:spPr>
          <a:xfrm>
            <a:off x="6291072" y="2770632"/>
            <a:ext cx="1234440" cy="1463040"/>
          </a:xfrm>
          <a:prstGeom prst="rect">
            <a:avLst/>
          </a:prstGeom>
          <a:noFill/>
          <a:ln/>
        </p:spPr>
        <p:txBody>
          <a:bodyPr wrap="square" rtlCol="0" anchor="ctr"/>
          <a:lstStyle/>
          <a:p>
            <a:pPr marL="0" indent="0" algn="l">
              <a:lnSpc>
                <a:spcPct val="125000"/>
              </a:lnSpc>
              <a:buNone/>
            </a:pPr>
            <a:r>
              <a:rPr lang="en-US" sz="800" dirty="0">
                <a:solidFill>
                  <a:srgbClr val="4A6080"/>
                </a:solidFill>
                <a:latin typeface="Calibri" pitchFamily="34" charset="0"/>
                <a:ea typeface="Calibri" pitchFamily="34" charset="-122"/>
                <a:cs typeface="Calibri" pitchFamily="34" charset="-120"/>
              </a:rPr>
              <a:t>Dead zones pulse red. Congested areas crackle. Blocking objects glow orange. Everything that hurts your signal is visible.</a:t>
            </a:r>
            <a:endParaRPr lang="en-US" sz="800" dirty="0"/>
          </a:p>
        </p:txBody>
      </p:sp>
      <p:sp>
        <p:nvSpPr>
          <p:cNvPr id="35" name="Shape 33"/>
          <p:cNvSpPr/>
          <p:nvPr/>
        </p:nvSpPr>
        <p:spPr>
          <a:xfrm>
            <a:off x="7680960" y="1353312"/>
            <a:ext cx="1371600" cy="3383280"/>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36" name="Shape 34"/>
          <p:cNvSpPr/>
          <p:nvPr/>
        </p:nvSpPr>
        <p:spPr>
          <a:xfrm>
            <a:off x="7680960" y="1353312"/>
            <a:ext cx="1371600" cy="457200"/>
          </a:xfrm>
          <a:prstGeom prst="rect">
            <a:avLst/>
          </a:prstGeom>
          <a:solidFill>
            <a:srgbClr val="00A8CC"/>
          </a:solidFill>
          <a:ln w="12700">
            <a:solidFill>
              <a:srgbClr val="00A8CC"/>
            </a:solidFill>
            <a:prstDash val="solid"/>
          </a:ln>
        </p:spPr>
        <p:txBody>
          <a:bodyPr/>
          <a:lstStyle/>
          <a:p>
            <a:endParaRPr lang="en-IN"/>
          </a:p>
        </p:txBody>
      </p:sp>
      <p:sp>
        <p:nvSpPr>
          <p:cNvPr id="37" name="Text 35"/>
          <p:cNvSpPr/>
          <p:nvPr/>
        </p:nvSpPr>
        <p:spPr>
          <a:xfrm>
            <a:off x="7680960" y="1353312"/>
            <a:ext cx="13716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8" name="Text 36"/>
          <p:cNvSpPr/>
          <p:nvPr/>
        </p:nvSpPr>
        <p:spPr>
          <a:xfrm>
            <a:off x="7680960" y="1856232"/>
            <a:ext cx="1371600" cy="4572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39" name="Text 37"/>
          <p:cNvSpPr/>
          <p:nvPr/>
        </p:nvSpPr>
        <p:spPr>
          <a:xfrm>
            <a:off x="7754112" y="2359152"/>
            <a:ext cx="1234440" cy="365760"/>
          </a:xfrm>
          <a:prstGeom prst="rect">
            <a:avLst/>
          </a:prstGeom>
          <a:noFill/>
          <a:ln/>
        </p:spPr>
        <p:txBody>
          <a:bodyPr wrap="square" rtlCol="0" anchor="ctr"/>
          <a:lstStyle/>
          <a:p>
            <a:pPr marL="0" indent="0" algn="ctr">
              <a:buNone/>
            </a:pPr>
            <a:r>
              <a:rPr lang="en-US" sz="900" b="1" dirty="0">
                <a:solidFill>
                  <a:srgbClr val="1C2E4A"/>
                </a:solidFill>
                <a:latin typeface="Calibri" pitchFamily="34" charset="0"/>
                <a:ea typeface="Calibri" pitchFamily="34" charset="-122"/>
                <a:cs typeface="Calibri" pitchFamily="34" charset="-120"/>
              </a:rPr>
              <a:t>Fix It</a:t>
            </a:r>
            <a:endParaRPr lang="en-US" sz="900" dirty="0"/>
          </a:p>
        </p:txBody>
      </p:sp>
      <p:sp>
        <p:nvSpPr>
          <p:cNvPr id="40" name="Text 38"/>
          <p:cNvSpPr/>
          <p:nvPr/>
        </p:nvSpPr>
        <p:spPr>
          <a:xfrm>
            <a:off x="7754112" y="2770632"/>
            <a:ext cx="1234440" cy="1463040"/>
          </a:xfrm>
          <a:prstGeom prst="rect">
            <a:avLst/>
          </a:prstGeom>
          <a:noFill/>
          <a:ln/>
        </p:spPr>
        <p:txBody>
          <a:bodyPr wrap="square" rtlCol="0" anchor="ctr"/>
          <a:lstStyle/>
          <a:p>
            <a:pPr marL="0" indent="0" algn="l">
              <a:lnSpc>
                <a:spcPct val="125000"/>
              </a:lnSpc>
              <a:buNone/>
            </a:pPr>
            <a:r>
              <a:rPr lang="en-US" sz="800" dirty="0">
                <a:solidFill>
                  <a:srgbClr val="4A6080"/>
                </a:solidFill>
                <a:latin typeface="Calibri" pitchFamily="34" charset="0"/>
                <a:ea typeface="Calibri" pitchFamily="34" charset="-122"/>
                <a:cs typeface="Calibri" pitchFamily="34" charset="-120"/>
              </a:rPr>
              <a:t>Move to a green zone. Shift a furniture piece away from the router. Relocate your device. The MR view updates live as you make changes.</a:t>
            </a:r>
            <a:endParaRPr lang="en-US" sz="800" dirty="0"/>
          </a:p>
        </p:txBody>
      </p:sp>
      <p:sp>
        <p:nvSpPr>
          <p:cNvPr id="41" name="Shape 39"/>
          <p:cNvSpPr/>
          <p:nvPr/>
        </p:nvSpPr>
        <p:spPr>
          <a:xfrm>
            <a:off x="0" y="4864608"/>
            <a:ext cx="9144000" cy="274320"/>
          </a:xfrm>
          <a:prstGeom prst="rect">
            <a:avLst/>
          </a:prstGeom>
          <a:solidFill>
            <a:srgbClr val="0D1B3E"/>
          </a:solidFill>
          <a:ln w="12700">
            <a:solidFill>
              <a:srgbClr val="0D1B3E"/>
            </a:solidFill>
            <a:prstDash val="solid"/>
          </a:ln>
        </p:spPr>
        <p:txBody>
          <a:bodyPr/>
          <a:lstStyle/>
          <a:p>
            <a:endParaRPr lang="en-IN"/>
          </a:p>
        </p:txBody>
      </p:sp>
      <p:sp>
        <p:nvSpPr>
          <p:cNvPr id="42" name="Text 40"/>
          <p:cNvSpPr/>
          <p:nvPr/>
        </p:nvSpPr>
        <p:spPr>
          <a:xfrm>
            <a:off x="274320" y="4873752"/>
            <a:ext cx="7772400" cy="256032"/>
          </a:xfrm>
          <a:prstGeom prst="rect">
            <a:avLst/>
          </a:prstGeom>
          <a:noFill/>
          <a:ln/>
        </p:spPr>
        <p:txBody>
          <a:bodyPr wrap="square" rtlCol="0" anchor="ctr"/>
          <a:lstStyle/>
          <a:p>
            <a:r>
              <a:rPr lang="en-US" sz="800" dirty="0">
                <a:solidFill>
                  <a:srgbClr val="8BA0BF"/>
                </a:solidFill>
                <a:latin typeface="Calibri" pitchFamily="34" charset="0"/>
                <a:ea typeface="Calibri" pitchFamily="34" charset="-122"/>
                <a:cs typeface="Calibri" pitchFamily="34" charset="-120"/>
              </a:rPr>
              <a:t>Drishti XR ·  Wireless Signal Mapping &amp; Visualization for Everyone</a:t>
            </a:r>
            <a:endParaRPr lang="en-US" sz="800" dirty="0"/>
          </a:p>
        </p:txBody>
      </p:sp>
      <p:sp>
        <p:nvSpPr>
          <p:cNvPr id="43" name="Text 41"/>
          <p:cNvSpPr/>
          <p:nvPr/>
        </p:nvSpPr>
        <p:spPr>
          <a:xfrm>
            <a:off x="8412480" y="4873752"/>
            <a:ext cx="548640" cy="256032"/>
          </a:xfrm>
          <a:prstGeom prst="rect">
            <a:avLst/>
          </a:prstGeom>
          <a:noFill/>
          <a:ln/>
        </p:spPr>
        <p:txBody>
          <a:bodyPr wrap="square" rtlCol="0" anchor="ctr"/>
          <a:lstStyle/>
          <a:p>
            <a:pPr marL="0" indent="0" algn="r">
              <a:buNone/>
            </a:pPr>
            <a:r>
              <a:rPr lang="en-US" sz="800" dirty="0">
                <a:solidFill>
                  <a:srgbClr val="8BA0BF"/>
                </a:solidFill>
                <a:latin typeface="Calibri" pitchFamily="34" charset="0"/>
                <a:ea typeface="Calibri" pitchFamily="34" charset="-122"/>
                <a:cs typeface="Calibri" pitchFamily="34" charset="-120"/>
              </a:rPr>
              <a:t>5 / 12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365760" y="182880"/>
            <a:ext cx="54864" cy="502920"/>
          </a:xfrm>
          <a:prstGeom prst="rect">
            <a:avLst/>
          </a:prstGeom>
          <a:solidFill>
            <a:srgbClr val="00A8CC"/>
          </a:solidFill>
          <a:ln w="12700">
            <a:solidFill>
              <a:srgbClr val="00A8CC"/>
            </a:solidFill>
            <a:prstDash val="solid"/>
          </a:ln>
        </p:spPr>
        <p:txBody>
          <a:bodyPr/>
          <a:lstStyle/>
          <a:p>
            <a:endParaRPr lang="en-IN"/>
          </a:p>
        </p:txBody>
      </p:sp>
      <p:sp>
        <p:nvSpPr>
          <p:cNvPr id="3" name="Text 1"/>
          <p:cNvSpPr/>
          <p:nvPr/>
        </p:nvSpPr>
        <p:spPr>
          <a:xfrm>
            <a:off x="502920" y="164592"/>
            <a:ext cx="8229600" cy="548640"/>
          </a:xfrm>
          <a:prstGeom prst="rect">
            <a:avLst/>
          </a:prstGeom>
          <a:noFill/>
          <a:ln/>
        </p:spPr>
        <p:txBody>
          <a:bodyPr wrap="square" lIns="0" tIns="0" rIns="0" bIns="0" rtlCol="0" anchor="ctr"/>
          <a:lstStyle/>
          <a:p>
            <a:pPr marL="0" indent="0">
              <a:buNone/>
            </a:pPr>
            <a:r>
              <a:rPr lang="en-US" sz="1100" b="1" dirty="0">
                <a:solidFill>
                  <a:srgbClr val="00A8CC"/>
                </a:solidFill>
                <a:latin typeface="Calibri" pitchFamily="34" charset="0"/>
                <a:ea typeface="Calibri" pitchFamily="34" charset="-122"/>
                <a:cs typeface="Calibri" pitchFamily="34" charset="-120"/>
              </a:rPr>
              <a:t>5.  What Users See in Mixed Reality</a:t>
            </a:r>
            <a:endParaRPr lang="en-US" sz="1100" dirty="0"/>
          </a:p>
        </p:txBody>
      </p:sp>
      <p:sp>
        <p:nvSpPr>
          <p:cNvPr id="4" name="Text 2"/>
          <p:cNvSpPr/>
          <p:nvPr/>
        </p:nvSpPr>
        <p:spPr>
          <a:xfrm>
            <a:off x="365760" y="749808"/>
            <a:ext cx="8412480" cy="475488"/>
          </a:xfrm>
          <a:prstGeom prst="rect">
            <a:avLst/>
          </a:prstGeom>
          <a:noFill/>
          <a:ln/>
        </p:spPr>
        <p:txBody>
          <a:bodyPr wrap="square" lIns="0" tIns="0" rIns="0" bIns="0" rtlCol="0" anchor="ctr"/>
          <a:lstStyle/>
          <a:p>
            <a:pPr marL="0" indent="0">
              <a:buNone/>
            </a:pPr>
            <a:r>
              <a:rPr lang="en-US" sz="2600" b="1" dirty="0">
                <a:solidFill>
                  <a:srgbClr val="1C2E4A"/>
                </a:solidFill>
                <a:latin typeface="Calibri" pitchFamily="34" charset="0"/>
                <a:ea typeface="Calibri" pitchFamily="34" charset="-122"/>
                <a:cs typeface="Calibri" pitchFamily="34" charset="-120"/>
              </a:rPr>
              <a:t>The Visual Experience</a:t>
            </a:r>
            <a:endParaRPr lang="en-US" sz="2600" dirty="0"/>
          </a:p>
        </p:txBody>
      </p:sp>
      <p:sp>
        <p:nvSpPr>
          <p:cNvPr id="5" name="Text 3"/>
          <p:cNvSpPr/>
          <p:nvPr/>
        </p:nvSpPr>
        <p:spPr>
          <a:xfrm>
            <a:off x="365760" y="1261872"/>
            <a:ext cx="8412480" cy="310896"/>
          </a:xfrm>
          <a:prstGeom prst="rect">
            <a:avLst/>
          </a:prstGeom>
          <a:noFill/>
          <a:ln/>
        </p:spPr>
        <p:txBody>
          <a:bodyPr wrap="square" rtlCol="0" anchor="ctr"/>
          <a:lstStyle/>
          <a:p>
            <a:pPr marL="0" indent="0">
              <a:buNone/>
            </a:pPr>
            <a:r>
              <a:rPr lang="en-US" sz="1000" i="1" dirty="0">
                <a:solidFill>
                  <a:srgbClr val="4A6080"/>
                </a:solidFill>
                <a:latin typeface="Calibri" pitchFamily="34" charset="0"/>
                <a:ea typeface="Calibri" pitchFamily="34" charset="-122"/>
                <a:cs typeface="Calibri" pitchFamily="34" charset="-120"/>
              </a:rPr>
              <a:t>Through the phone camera, the invisible becomes visible — signal data becomes art you can interact with.</a:t>
            </a:r>
            <a:endParaRPr lang="en-US" sz="1000" dirty="0"/>
          </a:p>
        </p:txBody>
      </p:sp>
      <p:sp>
        <p:nvSpPr>
          <p:cNvPr id="6" name="Shape 4"/>
          <p:cNvSpPr/>
          <p:nvPr/>
        </p:nvSpPr>
        <p:spPr>
          <a:xfrm>
            <a:off x="365760" y="1664208"/>
            <a:ext cx="4160520" cy="98755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7" name="Shape 5"/>
          <p:cNvSpPr/>
          <p:nvPr/>
        </p:nvSpPr>
        <p:spPr>
          <a:xfrm>
            <a:off x="365760" y="1664208"/>
            <a:ext cx="54864" cy="987552"/>
          </a:xfrm>
          <a:prstGeom prst="rect">
            <a:avLst/>
          </a:prstGeom>
          <a:solidFill>
            <a:srgbClr val="27AE60"/>
          </a:solidFill>
          <a:ln w="12700">
            <a:solidFill>
              <a:srgbClr val="27AE60"/>
            </a:solidFill>
            <a:prstDash val="solid"/>
          </a:ln>
        </p:spPr>
        <p:txBody>
          <a:bodyPr/>
          <a:lstStyle/>
          <a:p>
            <a:endParaRPr lang="en-IN"/>
          </a:p>
        </p:txBody>
      </p:sp>
      <p:sp>
        <p:nvSpPr>
          <p:cNvPr id="8" name="Text 6"/>
          <p:cNvSpPr/>
          <p:nvPr/>
        </p:nvSpPr>
        <p:spPr>
          <a:xfrm>
            <a:off x="475488" y="1737360"/>
            <a:ext cx="365760" cy="3657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9" name="Text 7"/>
          <p:cNvSpPr/>
          <p:nvPr/>
        </p:nvSpPr>
        <p:spPr>
          <a:xfrm>
            <a:off x="868680" y="1737360"/>
            <a:ext cx="3566160" cy="256032"/>
          </a:xfrm>
          <a:prstGeom prst="rect">
            <a:avLst/>
          </a:prstGeom>
          <a:noFill/>
          <a:ln/>
        </p:spPr>
        <p:txBody>
          <a:bodyPr wrap="square" lIns="0" tIns="0" rIns="0" bIns="0" rtlCol="0" anchor="ctr"/>
          <a:lstStyle/>
          <a:p>
            <a:pPr marL="0" indent="0">
              <a:buNone/>
            </a:pPr>
            <a:r>
              <a:rPr lang="en-US" sz="950" b="1" dirty="0">
                <a:solidFill>
                  <a:srgbClr val="1C2E4A"/>
                </a:solidFill>
                <a:latin typeface="Calibri" pitchFamily="34" charset="0"/>
                <a:ea typeface="Calibri" pitchFamily="34" charset="-122"/>
                <a:cs typeface="Calibri" pitchFamily="34" charset="-120"/>
              </a:rPr>
              <a:t>Signal Nodes (Green Dots)</a:t>
            </a:r>
            <a:endParaRPr lang="en-US" sz="950" dirty="0"/>
          </a:p>
        </p:txBody>
      </p:sp>
      <p:sp>
        <p:nvSpPr>
          <p:cNvPr id="10" name="Text 8"/>
          <p:cNvSpPr/>
          <p:nvPr/>
        </p:nvSpPr>
        <p:spPr>
          <a:xfrm>
            <a:off x="868680" y="2011680"/>
            <a:ext cx="3566160" cy="576072"/>
          </a:xfrm>
          <a:prstGeom prst="rect">
            <a:avLst/>
          </a:prstGeom>
          <a:noFill/>
          <a:ln/>
        </p:spPr>
        <p:txBody>
          <a:bodyPr wrap="square" rtlCol="0" anchor="ctr"/>
          <a:lstStyle/>
          <a:p>
            <a:pPr marL="0" indent="0">
              <a:lnSpc>
                <a:spcPct val="120000"/>
              </a:lnSpc>
              <a:buNone/>
            </a:pPr>
            <a:r>
              <a:rPr lang="en-US" sz="820" dirty="0">
                <a:solidFill>
                  <a:srgbClr val="4A6080"/>
                </a:solidFill>
                <a:latin typeface="Calibri" pitchFamily="34" charset="0"/>
                <a:ea typeface="Calibri" pitchFamily="34" charset="-122"/>
                <a:cs typeface="Calibri" pitchFamily="34" charset="-120"/>
              </a:rPr>
              <a:t>Each WiFi or 5G access point near you appears as a glowing dot floating in 3D space — positioned roughly where the signal source is, brighter = stronger signal.</a:t>
            </a:r>
            <a:endParaRPr lang="en-US" sz="820" dirty="0"/>
          </a:p>
        </p:txBody>
      </p:sp>
      <p:sp>
        <p:nvSpPr>
          <p:cNvPr id="11" name="Shape 9"/>
          <p:cNvSpPr/>
          <p:nvPr/>
        </p:nvSpPr>
        <p:spPr>
          <a:xfrm>
            <a:off x="365760" y="2724912"/>
            <a:ext cx="4160520" cy="98755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2" name="Shape 10"/>
          <p:cNvSpPr/>
          <p:nvPr/>
        </p:nvSpPr>
        <p:spPr>
          <a:xfrm>
            <a:off x="365760" y="2724912"/>
            <a:ext cx="54864" cy="987552"/>
          </a:xfrm>
          <a:prstGeom prst="rect">
            <a:avLst/>
          </a:prstGeom>
          <a:solidFill>
            <a:srgbClr val="00A8CC"/>
          </a:solidFill>
          <a:ln w="12700">
            <a:solidFill>
              <a:srgbClr val="00A8CC"/>
            </a:solidFill>
            <a:prstDash val="solid"/>
          </a:ln>
        </p:spPr>
        <p:txBody>
          <a:bodyPr/>
          <a:lstStyle/>
          <a:p>
            <a:endParaRPr lang="en-IN"/>
          </a:p>
        </p:txBody>
      </p:sp>
      <p:sp>
        <p:nvSpPr>
          <p:cNvPr id="13" name="Text 11"/>
          <p:cNvSpPr/>
          <p:nvPr/>
        </p:nvSpPr>
        <p:spPr>
          <a:xfrm>
            <a:off x="475488" y="2798064"/>
            <a:ext cx="365760" cy="3657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4" name="Text 12"/>
          <p:cNvSpPr/>
          <p:nvPr/>
        </p:nvSpPr>
        <p:spPr>
          <a:xfrm>
            <a:off x="868680" y="2798064"/>
            <a:ext cx="3566160" cy="256032"/>
          </a:xfrm>
          <a:prstGeom prst="rect">
            <a:avLst/>
          </a:prstGeom>
          <a:noFill/>
          <a:ln/>
        </p:spPr>
        <p:txBody>
          <a:bodyPr wrap="square" lIns="0" tIns="0" rIns="0" bIns="0" rtlCol="0" anchor="ctr"/>
          <a:lstStyle/>
          <a:p>
            <a:pPr marL="0" indent="0">
              <a:buNone/>
            </a:pPr>
            <a:r>
              <a:rPr lang="en-US" sz="950" b="1" dirty="0">
                <a:solidFill>
                  <a:srgbClr val="1C2E4A"/>
                </a:solidFill>
                <a:latin typeface="Calibri" pitchFamily="34" charset="0"/>
                <a:ea typeface="Calibri" pitchFamily="34" charset="-122"/>
                <a:cs typeface="Calibri" pitchFamily="34" charset="-120"/>
              </a:rPr>
              <a:t>Signal Waves (Ripple Rings)</a:t>
            </a:r>
            <a:endParaRPr lang="en-US" sz="950" dirty="0"/>
          </a:p>
        </p:txBody>
      </p:sp>
      <p:sp>
        <p:nvSpPr>
          <p:cNvPr id="15" name="Text 13"/>
          <p:cNvSpPr/>
          <p:nvPr/>
        </p:nvSpPr>
        <p:spPr>
          <a:xfrm>
            <a:off x="868680" y="3072384"/>
            <a:ext cx="3566160" cy="576072"/>
          </a:xfrm>
          <a:prstGeom prst="rect">
            <a:avLst/>
          </a:prstGeom>
          <a:noFill/>
          <a:ln/>
        </p:spPr>
        <p:txBody>
          <a:bodyPr wrap="square" rtlCol="0" anchor="ctr"/>
          <a:lstStyle/>
          <a:p>
            <a:pPr marL="0" indent="0">
              <a:lnSpc>
                <a:spcPct val="120000"/>
              </a:lnSpc>
              <a:buNone/>
            </a:pPr>
            <a:r>
              <a:rPr lang="en-US" sz="820" dirty="0">
                <a:solidFill>
                  <a:srgbClr val="4A6080"/>
                </a:solidFill>
                <a:latin typeface="Calibri" pitchFamily="34" charset="0"/>
                <a:ea typeface="Calibri" pitchFamily="34" charset="-122"/>
                <a:cs typeface="Calibri" pitchFamily="34" charset="-120"/>
              </a:rPr>
              <a:t>Animated concentric rings radiate outward from each signal source  like ripples in water. As you walk farther from a router, the rings get smaller and fade.</a:t>
            </a:r>
            <a:endParaRPr lang="en-US" sz="820" dirty="0"/>
          </a:p>
        </p:txBody>
      </p:sp>
      <p:sp>
        <p:nvSpPr>
          <p:cNvPr id="16" name="Shape 14"/>
          <p:cNvSpPr/>
          <p:nvPr/>
        </p:nvSpPr>
        <p:spPr>
          <a:xfrm>
            <a:off x="365760" y="3785616"/>
            <a:ext cx="4160520" cy="98755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7" name="Shape 15"/>
          <p:cNvSpPr/>
          <p:nvPr/>
        </p:nvSpPr>
        <p:spPr>
          <a:xfrm>
            <a:off x="365760" y="3785616"/>
            <a:ext cx="54864" cy="987552"/>
          </a:xfrm>
          <a:prstGeom prst="rect">
            <a:avLst/>
          </a:prstGeom>
          <a:solidFill>
            <a:srgbClr val="E67E22"/>
          </a:solidFill>
          <a:ln w="12700">
            <a:solidFill>
              <a:srgbClr val="E67E22"/>
            </a:solidFill>
            <a:prstDash val="solid"/>
          </a:ln>
        </p:spPr>
        <p:txBody>
          <a:bodyPr/>
          <a:lstStyle/>
          <a:p>
            <a:endParaRPr lang="en-IN"/>
          </a:p>
        </p:txBody>
      </p:sp>
      <p:sp>
        <p:nvSpPr>
          <p:cNvPr id="18" name="Text 16"/>
          <p:cNvSpPr/>
          <p:nvPr/>
        </p:nvSpPr>
        <p:spPr>
          <a:xfrm>
            <a:off x="475488" y="3858768"/>
            <a:ext cx="365760" cy="3657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9" name="Text 17"/>
          <p:cNvSpPr/>
          <p:nvPr/>
        </p:nvSpPr>
        <p:spPr>
          <a:xfrm>
            <a:off x="868680" y="3858768"/>
            <a:ext cx="3566160" cy="256032"/>
          </a:xfrm>
          <a:prstGeom prst="rect">
            <a:avLst/>
          </a:prstGeom>
          <a:noFill/>
          <a:ln/>
        </p:spPr>
        <p:txBody>
          <a:bodyPr wrap="square" lIns="0" tIns="0" rIns="0" bIns="0" rtlCol="0" anchor="ctr"/>
          <a:lstStyle/>
          <a:p>
            <a:pPr marL="0" indent="0">
              <a:buNone/>
            </a:pPr>
            <a:r>
              <a:rPr lang="en-US" sz="950" b="1" dirty="0">
                <a:solidFill>
                  <a:srgbClr val="1C2E4A"/>
                </a:solidFill>
                <a:latin typeface="Calibri" pitchFamily="34" charset="0"/>
                <a:ea typeface="Calibri" pitchFamily="34" charset="-122"/>
                <a:cs typeface="Calibri" pitchFamily="34" charset="-120"/>
              </a:rPr>
              <a:t>Congestion Clusters (Orange Blobs)</a:t>
            </a:r>
            <a:endParaRPr lang="en-US" sz="950" dirty="0"/>
          </a:p>
        </p:txBody>
      </p:sp>
      <p:sp>
        <p:nvSpPr>
          <p:cNvPr id="20" name="Text 18"/>
          <p:cNvSpPr/>
          <p:nvPr/>
        </p:nvSpPr>
        <p:spPr>
          <a:xfrm>
            <a:off x="868680" y="4133088"/>
            <a:ext cx="3566160" cy="576072"/>
          </a:xfrm>
          <a:prstGeom prst="rect">
            <a:avLst/>
          </a:prstGeom>
          <a:noFill/>
          <a:ln/>
        </p:spPr>
        <p:txBody>
          <a:bodyPr wrap="square" rtlCol="0" anchor="ctr"/>
          <a:lstStyle/>
          <a:p>
            <a:pPr marL="0" indent="0">
              <a:lnSpc>
                <a:spcPct val="120000"/>
              </a:lnSpc>
              <a:buNone/>
            </a:pPr>
            <a:r>
              <a:rPr lang="en-US" sz="820" dirty="0">
                <a:solidFill>
                  <a:srgbClr val="4A6080"/>
                </a:solidFill>
                <a:latin typeface="Calibri" pitchFamily="34" charset="0"/>
                <a:ea typeface="Calibri" pitchFamily="34" charset="-122"/>
                <a:cs typeface="Calibri" pitchFamily="34" charset="-120"/>
              </a:rPr>
              <a:t>Where multiple signals overlap and compete for the same space, an orange cluster appears , the denser the cluster, the more congested the area.</a:t>
            </a:r>
            <a:endParaRPr lang="en-US" sz="820" dirty="0"/>
          </a:p>
        </p:txBody>
      </p:sp>
      <p:sp>
        <p:nvSpPr>
          <p:cNvPr id="21" name="Shape 19"/>
          <p:cNvSpPr/>
          <p:nvPr/>
        </p:nvSpPr>
        <p:spPr>
          <a:xfrm>
            <a:off x="4709160" y="1664208"/>
            <a:ext cx="4160520" cy="98755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22" name="Shape 20"/>
          <p:cNvSpPr/>
          <p:nvPr/>
        </p:nvSpPr>
        <p:spPr>
          <a:xfrm>
            <a:off x="4709160" y="1664208"/>
            <a:ext cx="54864" cy="987552"/>
          </a:xfrm>
          <a:prstGeom prst="rect">
            <a:avLst/>
          </a:prstGeom>
          <a:solidFill>
            <a:srgbClr val="E74C3C"/>
          </a:solidFill>
          <a:ln w="12700">
            <a:solidFill>
              <a:srgbClr val="E74C3C"/>
            </a:solidFill>
            <a:prstDash val="solid"/>
          </a:ln>
        </p:spPr>
        <p:txBody>
          <a:bodyPr/>
          <a:lstStyle/>
          <a:p>
            <a:endParaRPr lang="en-IN"/>
          </a:p>
        </p:txBody>
      </p:sp>
      <p:sp>
        <p:nvSpPr>
          <p:cNvPr id="23" name="Text 21"/>
          <p:cNvSpPr/>
          <p:nvPr/>
        </p:nvSpPr>
        <p:spPr>
          <a:xfrm>
            <a:off x="4818888" y="1737360"/>
            <a:ext cx="365760" cy="3657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4" name="Text 22"/>
          <p:cNvSpPr/>
          <p:nvPr/>
        </p:nvSpPr>
        <p:spPr>
          <a:xfrm>
            <a:off x="5212080" y="1737360"/>
            <a:ext cx="3566160" cy="256032"/>
          </a:xfrm>
          <a:prstGeom prst="rect">
            <a:avLst/>
          </a:prstGeom>
          <a:noFill/>
          <a:ln/>
        </p:spPr>
        <p:txBody>
          <a:bodyPr wrap="square" lIns="0" tIns="0" rIns="0" bIns="0" rtlCol="0" anchor="ctr"/>
          <a:lstStyle/>
          <a:p>
            <a:pPr marL="0" indent="0">
              <a:buNone/>
            </a:pPr>
            <a:r>
              <a:rPr lang="en-US" sz="950" b="1" dirty="0">
                <a:solidFill>
                  <a:srgbClr val="1C2E4A"/>
                </a:solidFill>
                <a:latin typeface="Calibri" pitchFamily="34" charset="0"/>
                <a:ea typeface="Calibri" pitchFamily="34" charset="-122"/>
                <a:cs typeface="Calibri" pitchFamily="34" charset="-120"/>
              </a:rPr>
              <a:t>Dead Zones (Red Haze)</a:t>
            </a:r>
            <a:endParaRPr lang="en-US" sz="950" dirty="0"/>
          </a:p>
        </p:txBody>
      </p:sp>
      <p:sp>
        <p:nvSpPr>
          <p:cNvPr id="25" name="Text 23"/>
          <p:cNvSpPr/>
          <p:nvPr/>
        </p:nvSpPr>
        <p:spPr>
          <a:xfrm>
            <a:off x="5212080" y="2011680"/>
            <a:ext cx="3566160" cy="576072"/>
          </a:xfrm>
          <a:prstGeom prst="rect">
            <a:avLst/>
          </a:prstGeom>
          <a:noFill/>
          <a:ln/>
        </p:spPr>
        <p:txBody>
          <a:bodyPr wrap="square" rtlCol="0" anchor="ctr"/>
          <a:lstStyle/>
          <a:p>
            <a:pPr marL="0" indent="0">
              <a:lnSpc>
                <a:spcPct val="120000"/>
              </a:lnSpc>
              <a:buNone/>
            </a:pPr>
            <a:r>
              <a:rPr lang="en-US" sz="820" dirty="0">
                <a:solidFill>
                  <a:srgbClr val="4A6080"/>
                </a:solidFill>
                <a:latin typeface="Calibri" pitchFamily="34" charset="0"/>
                <a:ea typeface="Calibri" pitchFamily="34" charset="-122"/>
                <a:cs typeface="Calibri" pitchFamily="34" charset="-120"/>
              </a:rPr>
              <a:t>Areas where signal strength falls below usable levels are covered in a red haze visible through the camera  making dead zones physically locatable for the first time.</a:t>
            </a:r>
            <a:endParaRPr lang="en-US" sz="820" dirty="0"/>
          </a:p>
        </p:txBody>
      </p:sp>
      <p:sp>
        <p:nvSpPr>
          <p:cNvPr id="26" name="Shape 24"/>
          <p:cNvSpPr/>
          <p:nvPr/>
        </p:nvSpPr>
        <p:spPr>
          <a:xfrm>
            <a:off x="4709160" y="2724912"/>
            <a:ext cx="4160520" cy="98755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27" name="Shape 25"/>
          <p:cNvSpPr/>
          <p:nvPr/>
        </p:nvSpPr>
        <p:spPr>
          <a:xfrm>
            <a:off x="4709160" y="2724912"/>
            <a:ext cx="54864" cy="987552"/>
          </a:xfrm>
          <a:prstGeom prst="rect">
            <a:avLst/>
          </a:prstGeom>
          <a:solidFill>
            <a:srgbClr val="E67E22"/>
          </a:solidFill>
          <a:ln w="12700">
            <a:solidFill>
              <a:srgbClr val="E67E22"/>
            </a:solidFill>
            <a:prstDash val="solid"/>
          </a:ln>
        </p:spPr>
        <p:txBody>
          <a:bodyPr/>
          <a:lstStyle/>
          <a:p>
            <a:endParaRPr lang="en-IN"/>
          </a:p>
        </p:txBody>
      </p:sp>
      <p:sp>
        <p:nvSpPr>
          <p:cNvPr id="28" name="Text 26"/>
          <p:cNvSpPr/>
          <p:nvPr/>
        </p:nvSpPr>
        <p:spPr>
          <a:xfrm>
            <a:off x="4818888" y="2798064"/>
            <a:ext cx="365760" cy="3657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9" name="Text 27"/>
          <p:cNvSpPr/>
          <p:nvPr/>
        </p:nvSpPr>
        <p:spPr>
          <a:xfrm>
            <a:off x="5212080" y="2798064"/>
            <a:ext cx="3566160" cy="256032"/>
          </a:xfrm>
          <a:prstGeom prst="rect">
            <a:avLst/>
          </a:prstGeom>
          <a:noFill/>
          <a:ln/>
        </p:spPr>
        <p:txBody>
          <a:bodyPr wrap="square" lIns="0" tIns="0" rIns="0" bIns="0" rtlCol="0" anchor="ctr"/>
          <a:lstStyle/>
          <a:p>
            <a:pPr marL="0" indent="0">
              <a:buNone/>
            </a:pPr>
            <a:r>
              <a:rPr lang="en-US" sz="950" b="1" dirty="0">
                <a:solidFill>
                  <a:srgbClr val="1C2E4A"/>
                </a:solidFill>
                <a:latin typeface="Calibri" pitchFamily="34" charset="0"/>
                <a:ea typeface="Calibri" pitchFamily="34" charset="-122"/>
                <a:cs typeface="Calibri" pitchFamily="34" charset="-120"/>
              </a:rPr>
              <a:t>Obstacle Blockers (Orange Glow)</a:t>
            </a:r>
            <a:endParaRPr lang="en-US" sz="950" dirty="0"/>
          </a:p>
        </p:txBody>
      </p:sp>
      <p:sp>
        <p:nvSpPr>
          <p:cNvPr id="30" name="Text 28"/>
          <p:cNvSpPr/>
          <p:nvPr/>
        </p:nvSpPr>
        <p:spPr>
          <a:xfrm>
            <a:off x="5212080" y="3072384"/>
            <a:ext cx="3566160" cy="576072"/>
          </a:xfrm>
          <a:prstGeom prst="rect">
            <a:avLst/>
          </a:prstGeom>
          <a:noFill/>
          <a:ln/>
        </p:spPr>
        <p:txBody>
          <a:bodyPr wrap="square" rtlCol="0" anchor="ctr"/>
          <a:lstStyle/>
          <a:p>
            <a:pPr marL="0" indent="0">
              <a:lnSpc>
                <a:spcPct val="120000"/>
              </a:lnSpc>
              <a:buNone/>
            </a:pPr>
            <a:r>
              <a:rPr lang="en-US" sz="820" dirty="0">
                <a:solidFill>
                  <a:srgbClr val="4A6080"/>
                </a:solidFill>
                <a:latin typeface="Calibri" pitchFamily="34" charset="0"/>
                <a:ea typeface="Calibri" pitchFamily="34" charset="-122"/>
                <a:cs typeface="Calibri" pitchFamily="34" charset="-120"/>
              </a:rPr>
              <a:t>Physical objects causing signal blockage like walls, metal furniture, appliances are highlighted with an orange outline glow in MR.</a:t>
            </a:r>
            <a:endParaRPr lang="en-US" sz="820" dirty="0"/>
          </a:p>
        </p:txBody>
      </p:sp>
      <p:sp>
        <p:nvSpPr>
          <p:cNvPr id="31" name="Shape 29"/>
          <p:cNvSpPr/>
          <p:nvPr/>
        </p:nvSpPr>
        <p:spPr>
          <a:xfrm>
            <a:off x="4709160" y="3785616"/>
            <a:ext cx="4160520" cy="98755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32" name="Shape 30"/>
          <p:cNvSpPr/>
          <p:nvPr/>
        </p:nvSpPr>
        <p:spPr>
          <a:xfrm>
            <a:off x="4709160" y="3785616"/>
            <a:ext cx="54864" cy="987552"/>
          </a:xfrm>
          <a:prstGeom prst="rect">
            <a:avLst/>
          </a:prstGeom>
          <a:solidFill>
            <a:srgbClr val="7D3C98"/>
          </a:solidFill>
          <a:ln w="12700">
            <a:solidFill>
              <a:srgbClr val="7D3C98"/>
            </a:solidFill>
            <a:prstDash val="solid"/>
          </a:ln>
        </p:spPr>
        <p:txBody>
          <a:bodyPr/>
          <a:lstStyle/>
          <a:p>
            <a:endParaRPr lang="en-IN"/>
          </a:p>
        </p:txBody>
      </p:sp>
      <p:sp>
        <p:nvSpPr>
          <p:cNvPr id="33" name="Text 31"/>
          <p:cNvSpPr/>
          <p:nvPr/>
        </p:nvSpPr>
        <p:spPr>
          <a:xfrm>
            <a:off x="4818888" y="3858768"/>
            <a:ext cx="365760" cy="3657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34" name="Text 32"/>
          <p:cNvSpPr/>
          <p:nvPr/>
        </p:nvSpPr>
        <p:spPr>
          <a:xfrm>
            <a:off x="5212080" y="3858768"/>
            <a:ext cx="3566160" cy="256032"/>
          </a:xfrm>
          <a:prstGeom prst="rect">
            <a:avLst/>
          </a:prstGeom>
          <a:noFill/>
          <a:ln/>
        </p:spPr>
        <p:txBody>
          <a:bodyPr wrap="square" lIns="0" tIns="0" rIns="0" bIns="0" rtlCol="0" anchor="ctr"/>
          <a:lstStyle/>
          <a:p>
            <a:pPr marL="0" indent="0">
              <a:buNone/>
            </a:pPr>
            <a:r>
              <a:rPr lang="en-US" sz="950" b="1" dirty="0">
                <a:solidFill>
                  <a:srgbClr val="1C2E4A"/>
                </a:solidFill>
                <a:latin typeface="Calibri" pitchFamily="34" charset="0"/>
                <a:ea typeface="Calibri" pitchFamily="34" charset="-122"/>
                <a:cs typeface="Calibri" pitchFamily="34" charset="-120"/>
              </a:rPr>
              <a:t>Your Walk Trail (Purple Path)</a:t>
            </a:r>
            <a:endParaRPr lang="en-US" sz="950" dirty="0"/>
          </a:p>
        </p:txBody>
      </p:sp>
      <p:sp>
        <p:nvSpPr>
          <p:cNvPr id="35" name="Text 33"/>
          <p:cNvSpPr/>
          <p:nvPr/>
        </p:nvSpPr>
        <p:spPr>
          <a:xfrm>
            <a:off x="5212080" y="4133088"/>
            <a:ext cx="3566160" cy="576072"/>
          </a:xfrm>
          <a:prstGeom prst="rect">
            <a:avLst/>
          </a:prstGeom>
          <a:noFill/>
          <a:ln/>
        </p:spPr>
        <p:txBody>
          <a:bodyPr wrap="square" rtlCol="0" anchor="ctr"/>
          <a:lstStyle/>
          <a:p>
            <a:pPr marL="0" indent="0">
              <a:lnSpc>
                <a:spcPct val="120000"/>
              </a:lnSpc>
              <a:buNone/>
            </a:pPr>
            <a:r>
              <a:rPr lang="en-US" sz="820" dirty="0">
                <a:solidFill>
                  <a:srgbClr val="4A6080"/>
                </a:solidFill>
                <a:latin typeface="Calibri" pitchFamily="34" charset="0"/>
                <a:ea typeface="Calibri" pitchFamily="34" charset="-122"/>
                <a:cs typeface="Calibri" pitchFamily="34" charset="-120"/>
              </a:rPr>
              <a:t>As you walk, a colored trail is painted behind you showing the signal quality at each step , green where it was good, red where it dropped.</a:t>
            </a:r>
            <a:endParaRPr lang="en-US" sz="820" dirty="0"/>
          </a:p>
        </p:txBody>
      </p:sp>
      <p:sp>
        <p:nvSpPr>
          <p:cNvPr id="36" name="Shape 34"/>
          <p:cNvSpPr/>
          <p:nvPr/>
        </p:nvSpPr>
        <p:spPr>
          <a:xfrm>
            <a:off x="0" y="4864608"/>
            <a:ext cx="9144000" cy="274320"/>
          </a:xfrm>
          <a:prstGeom prst="rect">
            <a:avLst/>
          </a:prstGeom>
          <a:solidFill>
            <a:srgbClr val="0D1B3E"/>
          </a:solidFill>
          <a:ln w="12700">
            <a:solidFill>
              <a:srgbClr val="0D1B3E"/>
            </a:solidFill>
            <a:prstDash val="solid"/>
          </a:ln>
        </p:spPr>
        <p:txBody>
          <a:bodyPr/>
          <a:lstStyle/>
          <a:p>
            <a:endParaRPr lang="en-IN"/>
          </a:p>
        </p:txBody>
      </p:sp>
      <p:sp>
        <p:nvSpPr>
          <p:cNvPr id="37" name="Text 35"/>
          <p:cNvSpPr/>
          <p:nvPr/>
        </p:nvSpPr>
        <p:spPr>
          <a:xfrm>
            <a:off x="274320" y="4873752"/>
            <a:ext cx="7772400" cy="256032"/>
          </a:xfrm>
          <a:prstGeom prst="rect">
            <a:avLst/>
          </a:prstGeom>
          <a:noFill/>
          <a:ln/>
        </p:spPr>
        <p:txBody>
          <a:bodyPr wrap="square" rtlCol="0" anchor="ctr"/>
          <a:lstStyle/>
          <a:p>
            <a:r>
              <a:rPr lang="en-US" sz="800" dirty="0">
                <a:solidFill>
                  <a:srgbClr val="8BA0BF"/>
                </a:solidFill>
                <a:latin typeface="Calibri" pitchFamily="34" charset="0"/>
                <a:ea typeface="Calibri" pitchFamily="34" charset="-122"/>
                <a:cs typeface="Calibri" pitchFamily="34" charset="-120"/>
              </a:rPr>
              <a:t>Drishti XR  - Wireless Signal Mapping &amp; Visualization for Everyone</a:t>
            </a:r>
            <a:endParaRPr lang="en-US" sz="800" dirty="0"/>
          </a:p>
        </p:txBody>
      </p:sp>
      <p:sp>
        <p:nvSpPr>
          <p:cNvPr id="38" name="Text 36"/>
          <p:cNvSpPr/>
          <p:nvPr/>
        </p:nvSpPr>
        <p:spPr>
          <a:xfrm>
            <a:off x="8412480" y="4873752"/>
            <a:ext cx="548640" cy="256032"/>
          </a:xfrm>
          <a:prstGeom prst="rect">
            <a:avLst/>
          </a:prstGeom>
          <a:noFill/>
          <a:ln/>
        </p:spPr>
        <p:txBody>
          <a:bodyPr wrap="square" rtlCol="0" anchor="ctr"/>
          <a:lstStyle/>
          <a:p>
            <a:pPr marL="0" indent="0" algn="r">
              <a:buNone/>
            </a:pPr>
            <a:r>
              <a:rPr lang="en-US" sz="800" dirty="0">
                <a:solidFill>
                  <a:srgbClr val="8BA0BF"/>
                </a:solidFill>
                <a:latin typeface="Calibri" pitchFamily="34" charset="0"/>
                <a:ea typeface="Calibri" pitchFamily="34" charset="-122"/>
                <a:cs typeface="Calibri" pitchFamily="34" charset="-120"/>
              </a:rPr>
              <a:t>6 / 12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365760" y="182880"/>
            <a:ext cx="54864" cy="502920"/>
          </a:xfrm>
          <a:prstGeom prst="rect">
            <a:avLst/>
          </a:prstGeom>
          <a:solidFill>
            <a:srgbClr val="00A8CC"/>
          </a:solidFill>
          <a:ln w="12700">
            <a:solidFill>
              <a:srgbClr val="00A8CC"/>
            </a:solidFill>
            <a:prstDash val="solid"/>
          </a:ln>
        </p:spPr>
        <p:txBody>
          <a:bodyPr/>
          <a:lstStyle/>
          <a:p>
            <a:endParaRPr lang="en-IN"/>
          </a:p>
        </p:txBody>
      </p:sp>
      <p:sp>
        <p:nvSpPr>
          <p:cNvPr id="3" name="Text 1"/>
          <p:cNvSpPr/>
          <p:nvPr/>
        </p:nvSpPr>
        <p:spPr>
          <a:xfrm>
            <a:off x="502920" y="164592"/>
            <a:ext cx="8229600" cy="548640"/>
          </a:xfrm>
          <a:prstGeom prst="rect">
            <a:avLst/>
          </a:prstGeom>
          <a:noFill/>
          <a:ln/>
        </p:spPr>
        <p:txBody>
          <a:bodyPr wrap="square" lIns="0" tIns="0" rIns="0" bIns="0" rtlCol="0" anchor="ctr"/>
          <a:lstStyle/>
          <a:p>
            <a:pPr marL="0" indent="0">
              <a:buNone/>
            </a:pPr>
            <a:r>
              <a:rPr lang="en-US" sz="1100" b="1" dirty="0">
                <a:solidFill>
                  <a:srgbClr val="00A8CC"/>
                </a:solidFill>
                <a:latin typeface="Calibri" pitchFamily="34" charset="0"/>
                <a:ea typeface="Calibri" pitchFamily="34" charset="-122"/>
                <a:cs typeface="Calibri" pitchFamily="34" charset="-120"/>
              </a:rPr>
              <a:t>6.  Review of Existing Work</a:t>
            </a:r>
            <a:endParaRPr lang="en-US" sz="1100" dirty="0"/>
          </a:p>
        </p:txBody>
      </p:sp>
      <p:sp>
        <p:nvSpPr>
          <p:cNvPr id="4" name="Text 2"/>
          <p:cNvSpPr/>
          <p:nvPr/>
        </p:nvSpPr>
        <p:spPr>
          <a:xfrm>
            <a:off x="365760" y="749808"/>
            <a:ext cx="8412480" cy="475488"/>
          </a:xfrm>
          <a:prstGeom prst="rect">
            <a:avLst/>
          </a:prstGeom>
          <a:noFill/>
          <a:ln/>
        </p:spPr>
        <p:txBody>
          <a:bodyPr wrap="square" lIns="0" tIns="0" rIns="0" bIns="0" rtlCol="0" anchor="ctr"/>
          <a:lstStyle/>
          <a:p>
            <a:pPr marL="0" indent="0">
              <a:buNone/>
            </a:pPr>
            <a:r>
              <a:rPr lang="en-US" sz="2600" b="1" dirty="0">
                <a:solidFill>
                  <a:srgbClr val="1C2E4A"/>
                </a:solidFill>
                <a:latin typeface="Calibri" pitchFamily="34" charset="0"/>
                <a:ea typeface="Calibri" pitchFamily="34" charset="-122"/>
                <a:cs typeface="Calibri" pitchFamily="34" charset="-120"/>
              </a:rPr>
              <a:t>What's Out There</a:t>
            </a:r>
            <a:endParaRPr lang="en-US" sz="2600" dirty="0"/>
          </a:p>
        </p:txBody>
      </p:sp>
      <p:sp>
        <p:nvSpPr>
          <p:cNvPr id="5" name="Shape 3"/>
          <p:cNvSpPr/>
          <p:nvPr/>
        </p:nvSpPr>
        <p:spPr>
          <a:xfrm>
            <a:off x="365760" y="1316736"/>
            <a:ext cx="4160520" cy="1133856"/>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6" name="Shape 4"/>
          <p:cNvSpPr/>
          <p:nvPr/>
        </p:nvSpPr>
        <p:spPr>
          <a:xfrm>
            <a:off x="365760" y="1316736"/>
            <a:ext cx="54864" cy="1133856"/>
          </a:xfrm>
          <a:prstGeom prst="rect">
            <a:avLst/>
          </a:prstGeom>
          <a:solidFill>
            <a:srgbClr val="2C3E6B"/>
          </a:solidFill>
          <a:ln w="12700">
            <a:solidFill>
              <a:srgbClr val="2C3E6B"/>
            </a:solidFill>
            <a:prstDash val="solid"/>
          </a:ln>
        </p:spPr>
        <p:txBody>
          <a:bodyPr/>
          <a:lstStyle/>
          <a:p>
            <a:endParaRPr lang="en-IN"/>
          </a:p>
        </p:txBody>
      </p:sp>
      <p:sp>
        <p:nvSpPr>
          <p:cNvPr id="7" name="Text 5"/>
          <p:cNvSpPr/>
          <p:nvPr/>
        </p:nvSpPr>
        <p:spPr>
          <a:xfrm>
            <a:off x="493776" y="1371600"/>
            <a:ext cx="3931920" cy="219456"/>
          </a:xfrm>
          <a:prstGeom prst="rect">
            <a:avLst/>
          </a:prstGeom>
          <a:noFill/>
          <a:ln/>
        </p:spPr>
        <p:txBody>
          <a:bodyPr wrap="square" lIns="0" tIns="0" rIns="0" bIns="0" rtlCol="0" anchor="ctr"/>
          <a:lstStyle/>
          <a:p>
            <a:pPr marL="0" indent="0">
              <a:buNone/>
            </a:pPr>
            <a:r>
              <a:rPr lang="en-US" sz="950" b="1" dirty="0">
                <a:solidFill>
                  <a:srgbClr val="1C2E4A"/>
                </a:solidFill>
                <a:latin typeface="Calibri" pitchFamily="34" charset="0"/>
                <a:ea typeface="Calibri" pitchFamily="34" charset="-122"/>
                <a:cs typeface="Calibri" pitchFamily="34" charset="-120"/>
              </a:rPr>
              <a:t>WiFi Analyzer Apps</a:t>
            </a:r>
            <a:endParaRPr lang="en-US" sz="950" dirty="0"/>
          </a:p>
        </p:txBody>
      </p:sp>
      <p:sp>
        <p:nvSpPr>
          <p:cNvPr id="8" name="Text 6"/>
          <p:cNvSpPr/>
          <p:nvPr/>
        </p:nvSpPr>
        <p:spPr>
          <a:xfrm>
            <a:off x="493776" y="1591056"/>
            <a:ext cx="3931920" cy="502920"/>
          </a:xfrm>
          <a:prstGeom prst="rect">
            <a:avLst/>
          </a:prstGeom>
          <a:noFill/>
          <a:ln/>
        </p:spPr>
        <p:txBody>
          <a:bodyPr wrap="square" rtlCol="0" anchor="ctr"/>
          <a:lstStyle/>
          <a:p>
            <a:pPr marL="0" indent="0">
              <a:lnSpc>
                <a:spcPct val="115000"/>
              </a:lnSpc>
              <a:buNone/>
            </a:pPr>
            <a:r>
              <a:rPr lang="en-US" sz="820" dirty="0">
                <a:solidFill>
                  <a:srgbClr val="4A6080"/>
                </a:solidFill>
                <a:latin typeface="Calibri" pitchFamily="34" charset="0"/>
                <a:ea typeface="Calibri" pitchFamily="34" charset="-122"/>
                <a:cs typeface="Calibri" pitchFamily="34" charset="-120"/>
              </a:rPr>
              <a:t>Apps like NetSpot and WiFi Analyzer show signal bars and 2D channel graphs. They require technical knowledge to interpret and show no spatial or physical relationship to the space around the user.</a:t>
            </a:r>
            <a:endParaRPr lang="en-US" sz="820" dirty="0"/>
          </a:p>
        </p:txBody>
      </p:sp>
      <p:sp>
        <p:nvSpPr>
          <p:cNvPr id="9" name="Shape 7"/>
          <p:cNvSpPr/>
          <p:nvPr/>
        </p:nvSpPr>
        <p:spPr>
          <a:xfrm>
            <a:off x="548640" y="2121408"/>
            <a:ext cx="3931920" cy="237744"/>
          </a:xfrm>
          <a:prstGeom prst="rect">
            <a:avLst/>
          </a:prstGeom>
          <a:solidFill>
            <a:srgbClr val="FFF0F0"/>
          </a:solidFill>
          <a:ln w="12700">
            <a:solidFill>
              <a:srgbClr val="FFCCCC"/>
            </a:solidFill>
            <a:prstDash val="solid"/>
          </a:ln>
        </p:spPr>
        <p:txBody>
          <a:bodyPr/>
          <a:lstStyle/>
          <a:p>
            <a:endParaRPr lang="en-IN"/>
          </a:p>
        </p:txBody>
      </p:sp>
      <p:sp>
        <p:nvSpPr>
          <p:cNvPr id="10" name="Text 8"/>
          <p:cNvSpPr/>
          <p:nvPr/>
        </p:nvSpPr>
        <p:spPr>
          <a:xfrm>
            <a:off x="548640" y="2121408"/>
            <a:ext cx="3840480" cy="237744"/>
          </a:xfrm>
          <a:prstGeom prst="rect">
            <a:avLst/>
          </a:prstGeom>
          <a:noFill/>
          <a:ln/>
        </p:spPr>
        <p:txBody>
          <a:bodyPr wrap="square" rtlCol="0" anchor="ctr"/>
          <a:lstStyle/>
          <a:p>
            <a:pPr marL="0" indent="0">
              <a:buNone/>
            </a:pPr>
            <a:r>
              <a:rPr lang="en-US" sz="800" i="1" dirty="0">
                <a:solidFill>
                  <a:srgbClr val="E74C3C"/>
                </a:solidFill>
                <a:latin typeface="Calibri" pitchFamily="34" charset="0"/>
                <a:ea typeface="Calibri" pitchFamily="34" charset="-122"/>
                <a:cs typeface="Calibri" pitchFamily="34" charset="-120"/>
              </a:rPr>
              <a:t>✗  Gap: 2D only, expert-level, no Mixed Reality</a:t>
            </a:r>
            <a:endParaRPr lang="en-US" sz="800" dirty="0"/>
          </a:p>
        </p:txBody>
      </p:sp>
      <p:sp>
        <p:nvSpPr>
          <p:cNvPr id="11" name="Shape 9"/>
          <p:cNvSpPr/>
          <p:nvPr/>
        </p:nvSpPr>
        <p:spPr>
          <a:xfrm>
            <a:off x="365760" y="2523744"/>
            <a:ext cx="4160520" cy="1133856"/>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2" name="Shape 10"/>
          <p:cNvSpPr/>
          <p:nvPr/>
        </p:nvSpPr>
        <p:spPr>
          <a:xfrm>
            <a:off x="365760" y="2523744"/>
            <a:ext cx="54864" cy="1133856"/>
          </a:xfrm>
          <a:prstGeom prst="rect">
            <a:avLst/>
          </a:prstGeom>
          <a:solidFill>
            <a:srgbClr val="2C3E6B"/>
          </a:solidFill>
          <a:ln w="12700">
            <a:solidFill>
              <a:srgbClr val="2C3E6B"/>
            </a:solidFill>
            <a:prstDash val="solid"/>
          </a:ln>
        </p:spPr>
        <p:txBody>
          <a:bodyPr/>
          <a:lstStyle/>
          <a:p>
            <a:endParaRPr lang="en-IN"/>
          </a:p>
        </p:txBody>
      </p:sp>
      <p:sp>
        <p:nvSpPr>
          <p:cNvPr id="13" name="Text 11"/>
          <p:cNvSpPr/>
          <p:nvPr/>
        </p:nvSpPr>
        <p:spPr>
          <a:xfrm>
            <a:off x="493776" y="2578608"/>
            <a:ext cx="3931920" cy="219456"/>
          </a:xfrm>
          <a:prstGeom prst="rect">
            <a:avLst/>
          </a:prstGeom>
          <a:noFill/>
          <a:ln/>
        </p:spPr>
        <p:txBody>
          <a:bodyPr wrap="square" lIns="0" tIns="0" rIns="0" bIns="0" rtlCol="0" anchor="ctr"/>
          <a:lstStyle/>
          <a:p>
            <a:pPr marL="0" indent="0">
              <a:buNone/>
            </a:pPr>
            <a:r>
              <a:rPr lang="en-US" sz="950" b="1" dirty="0">
                <a:solidFill>
                  <a:srgbClr val="1C2E4A"/>
                </a:solidFill>
                <a:latin typeface="Calibri" pitchFamily="34" charset="0"/>
                <a:ea typeface="Calibri" pitchFamily="34" charset="-122"/>
                <a:cs typeface="Calibri" pitchFamily="34" charset="-120"/>
              </a:rPr>
              <a:t>Indoor Navigation Apps</a:t>
            </a:r>
            <a:endParaRPr lang="en-US" sz="950" dirty="0"/>
          </a:p>
        </p:txBody>
      </p:sp>
      <p:sp>
        <p:nvSpPr>
          <p:cNvPr id="14" name="Text 12"/>
          <p:cNvSpPr/>
          <p:nvPr/>
        </p:nvSpPr>
        <p:spPr>
          <a:xfrm>
            <a:off x="493776" y="2798064"/>
            <a:ext cx="3931920" cy="502920"/>
          </a:xfrm>
          <a:prstGeom prst="rect">
            <a:avLst/>
          </a:prstGeom>
          <a:noFill/>
          <a:ln/>
        </p:spPr>
        <p:txBody>
          <a:bodyPr wrap="square" rtlCol="0" anchor="ctr"/>
          <a:lstStyle/>
          <a:p>
            <a:pPr marL="0" indent="0">
              <a:lnSpc>
                <a:spcPct val="115000"/>
              </a:lnSpc>
              <a:buNone/>
            </a:pPr>
            <a:r>
              <a:rPr lang="en-US" sz="820" dirty="0">
                <a:solidFill>
                  <a:srgbClr val="4A6080"/>
                </a:solidFill>
                <a:latin typeface="Calibri" pitchFamily="34" charset="0"/>
                <a:ea typeface="Calibri" pitchFamily="34" charset="-122"/>
                <a:cs typeface="Calibri" pitchFamily="34" charset="-120"/>
              </a:rPr>
              <a:t>Apps like Google Maps Indoor use WiFi for positioning but do not visualize signal strength itself. They use signals as input — not as something to understand or diagnose.</a:t>
            </a:r>
            <a:endParaRPr lang="en-US" sz="820" dirty="0"/>
          </a:p>
        </p:txBody>
      </p:sp>
      <p:sp>
        <p:nvSpPr>
          <p:cNvPr id="15" name="Shape 13"/>
          <p:cNvSpPr/>
          <p:nvPr/>
        </p:nvSpPr>
        <p:spPr>
          <a:xfrm>
            <a:off x="493776" y="3328416"/>
            <a:ext cx="3931920" cy="237744"/>
          </a:xfrm>
          <a:prstGeom prst="rect">
            <a:avLst/>
          </a:prstGeom>
          <a:solidFill>
            <a:srgbClr val="FFF0F0"/>
          </a:solidFill>
          <a:ln w="12700">
            <a:solidFill>
              <a:srgbClr val="FFCCCC"/>
            </a:solidFill>
            <a:prstDash val="solid"/>
          </a:ln>
        </p:spPr>
        <p:txBody>
          <a:bodyPr/>
          <a:lstStyle/>
          <a:p>
            <a:endParaRPr lang="en-IN"/>
          </a:p>
        </p:txBody>
      </p:sp>
      <p:sp>
        <p:nvSpPr>
          <p:cNvPr id="16" name="Text 14"/>
          <p:cNvSpPr/>
          <p:nvPr/>
        </p:nvSpPr>
        <p:spPr>
          <a:xfrm>
            <a:off x="548640" y="3328416"/>
            <a:ext cx="3840480" cy="237744"/>
          </a:xfrm>
          <a:prstGeom prst="rect">
            <a:avLst/>
          </a:prstGeom>
          <a:noFill/>
          <a:ln/>
        </p:spPr>
        <p:txBody>
          <a:bodyPr wrap="square" rtlCol="0" anchor="ctr"/>
          <a:lstStyle/>
          <a:p>
            <a:pPr marL="0" indent="0">
              <a:buNone/>
            </a:pPr>
            <a:r>
              <a:rPr lang="en-US" sz="800" i="1" dirty="0">
                <a:solidFill>
                  <a:srgbClr val="E74C3C"/>
                </a:solidFill>
                <a:latin typeface="Calibri" pitchFamily="34" charset="0"/>
                <a:ea typeface="Calibri" pitchFamily="34" charset="-122"/>
                <a:cs typeface="Calibri" pitchFamily="34" charset="-120"/>
              </a:rPr>
              <a:t>✗  Gap: Not designed for signal awareness</a:t>
            </a:r>
            <a:endParaRPr lang="en-US" sz="800" dirty="0"/>
          </a:p>
        </p:txBody>
      </p:sp>
      <p:sp>
        <p:nvSpPr>
          <p:cNvPr id="17" name="Shape 15"/>
          <p:cNvSpPr/>
          <p:nvPr/>
        </p:nvSpPr>
        <p:spPr>
          <a:xfrm>
            <a:off x="365760" y="3730752"/>
            <a:ext cx="4160520" cy="1133856"/>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8" name="Shape 16"/>
          <p:cNvSpPr/>
          <p:nvPr/>
        </p:nvSpPr>
        <p:spPr>
          <a:xfrm>
            <a:off x="365760" y="3730752"/>
            <a:ext cx="54864" cy="1133856"/>
          </a:xfrm>
          <a:prstGeom prst="rect">
            <a:avLst/>
          </a:prstGeom>
          <a:solidFill>
            <a:srgbClr val="2C3E6B"/>
          </a:solidFill>
          <a:ln w="12700">
            <a:solidFill>
              <a:srgbClr val="2C3E6B"/>
            </a:solidFill>
            <a:prstDash val="solid"/>
          </a:ln>
        </p:spPr>
        <p:txBody>
          <a:bodyPr/>
          <a:lstStyle/>
          <a:p>
            <a:endParaRPr lang="en-IN"/>
          </a:p>
        </p:txBody>
      </p:sp>
      <p:sp>
        <p:nvSpPr>
          <p:cNvPr id="19" name="Text 17"/>
          <p:cNvSpPr/>
          <p:nvPr/>
        </p:nvSpPr>
        <p:spPr>
          <a:xfrm>
            <a:off x="493776" y="3785616"/>
            <a:ext cx="3931920" cy="219456"/>
          </a:xfrm>
          <a:prstGeom prst="rect">
            <a:avLst/>
          </a:prstGeom>
          <a:noFill/>
          <a:ln/>
        </p:spPr>
        <p:txBody>
          <a:bodyPr wrap="square" lIns="0" tIns="0" rIns="0" bIns="0" rtlCol="0" anchor="ctr"/>
          <a:lstStyle/>
          <a:p>
            <a:pPr marL="0" indent="0">
              <a:buNone/>
            </a:pPr>
            <a:r>
              <a:rPr lang="en-US" sz="950" b="1" dirty="0">
                <a:solidFill>
                  <a:srgbClr val="1C2E4A"/>
                </a:solidFill>
                <a:latin typeface="Calibri" pitchFamily="34" charset="0"/>
                <a:ea typeface="Calibri" pitchFamily="34" charset="-122"/>
                <a:cs typeface="Calibri" pitchFamily="34" charset="-120"/>
              </a:rPr>
              <a:t>Network Heat Map Tools</a:t>
            </a:r>
            <a:endParaRPr lang="en-US" sz="950" dirty="0"/>
          </a:p>
        </p:txBody>
      </p:sp>
      <p:sp>
        <p:nvSpPr>
          <p:cNvPr id="20" name="Text 18"/>
          <p:cNvSpPr/>
          <p:nvPr/>
        </p:nvSpPr>
        <p:spPr>
          <a:xfrm>
            <a:off x="493776" y="4005072"/>
            <a:ext cx="3931920" cy="502920"/>
          </a:xfrm>
          <a:prstGeom prst="rect">
            <a:avLst/>
          </a:prstGeom>
          <a:noFill/>
          <a:ln/>
        </p:spPr>
        <p:txBody>
          <a:bodyPr wrap="square" rtlCol="0" anchor="ctr"/>
          <a:lstStyle/>
          <a:p>
            <a:pPr marL="0" indent="0">
              <a:lnSpc>
                <a:spcPct val="115000"/>
              </a:lnSpc>
              <a:buNone/>
            </a:pPr>
            <a:r>
              <a:rPr lang="en-US" sz="820" dirty="0">
                <a:solidFill>
                  <a:srgbClr val="4A6080"/>
                </a:solidFill>
                <a:latin typeface="Calibri" pitchFamily="34" charset="0"/>
                <a:ea typeface="Calibri" pitchFamily="34" charset="-122"/>
                <a:cs typeface="Calibri" pitchFamily="34" charset="-120"/>
              </a:rPr>
              <a:t>Tools like Ekahau produce professional heat maps by having engineers walk a space. They cost thousands of dollars, need special hardware, and output flat images — not live MR.</a:t>
            </a:r>
            <a:endParaRPr lang="en-US" sz="820" dirty="0"/>
          </a:p>
        </p:txBody>
      </p:sp>
      <p:sp>
        <p:nvSpPr>
          <p:cNvPr id="21" name="Shape 19"/>
          <p:cNvSpPr/>
          <p:nvPr/>
        </p:nvSpPr>
        <p:spPr>
          <a:xfrm>
            <a:off x="493776" y="4535424"/>
            <a:ext cx="3931920" cy="237744"/>
          </a:xfrm>
          <a:prstGeom prst="rect">
            <a:avLst/>
          </a:prstGeom>
          <a:solidFill>
            <a:srgbClr val="FFF0F0"/>
          </a:solidFill>
          <a:ln w="12700">
            <a:solidFill>
              <a:srgbClr val="FFCCCC"/>
            </a:solidFill>
            <a:prstDash val="solid"/>
          </a:ln>
        </p:spPr>
        <p:txBody>
          <a:bodyPr/>
          <a:lstStyle/>
          <a:p>
            <a:endParaRPr lang="en-IN"/>
          </a:p>
        </p:txBody>
      </p:sp>
      <p:sp>
        <p:nvSpPr>
          <p:cNvPr id="22" name="Text 20"/>
          <p:cNvSpPr/>
          <p:nvPr/>
        </p:nvSpPr>
        <p:spPr>
          <a:xfrm>
            <a:off x="548640" y="4535424"/>
            <a:ext cx="3840480" cy="237744"/>
          </a:xfrm>
          <a:prstGeom prst="rect">
            <a:avLst/>
          </a:prstGeom>
          <a:noFill/>
          <a:ln/>
        </p:spPr>
        <p:txBody>
          <a:bodyPr wrap="square" rtlCol="0" anchor="ctr"/>
          <a:lstStyle/>
          <a:p>
            <a:pPr marL="0" indent="0">
              <a:buNone/>
            </a:pPr>
            <a:r>
              <a:rPr lang="en-US" sz="800" i="1" dirty="0">
                <a:solidFill>
                  <a:srgbClr val="E74C3C"/>
                </a:solidFill>
                <a:latin typeface="Calibri" pitchFamily="34" charset="0"/>
                <a:ea typeface="Calibri" pitchFamily="34" charset="-122"/>
                <a:cs typeface="Calibri" pitchFamily="34" charset="-120"/>
              </a:rPr>
              <a:t>✗  Gap: Expensive, professional-only, not interactive</a:t>
            </a:r>
            <a:endParaRPr lang="en-US" sz="800" dirty="0"/>
          </a:p>
        </p:txBody>
      </p:sp>
      <p:sp>
        <p:nvSpPr>
          <p:cNvPr id="23" name="Shape 21"/>
          <p:cNvSpPr/>
          <p:nvPr/>
        </p:nvSpPr>
        <p:spPr>
          <a:xfrm>
            <a:off x="4709160" y="1316736"/>
            <a:ext cx="4160520" cy="1133856"/>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24" name="Shape 22"/>
          <p:cNvSpPr/>
          <p:nvPr/>
        </p:nvSpPr>
        <p:spPr>
          <a:xfrm>
            <a:off x="4709160" y="1316736"/>
            <a:ext cx="54864" cy="1133856"/>
          </a:xfrm>
          <a:prstGeom prst="rect">
            <a:avLst/>
          </a:prstGeom>
          <a:solidFill>
            <a:srgbClr val="2C3E6B"/>
          </a:solidFill>
          <a:ln w="12700">
            <a:solidFill>
              <a:srgbClr val="2C3E6B"/>
            </a:solidFill>
            <a:prstDash val="solid"/>
          </a:ln>
        </p:spPr>
        <p:txBody>
          <a:bodyPr/>
          <a:lstStyle/>
          <a:p>
            <a:endParaRPr lang="en-IN"/>
          </a:p>
        </p:txBody>
      </p:sp>
      <p:sp>
        <p:nvSpPr>
          <p:cNvPr id="25" name="Text 23"/>
          <p:cNvSpPr/>
          <p:nvPr/>
        </p:nvSpPr>
        <p:spPr>
          <a:xfrm>
            <a:off x="4837176" y="1371600"/>
            <a:ext cx="3931920" cy="219456"/>
          </a:xfrm>
          <a:prstGeom prst="rect">
            <a:avLst/>
          </a:prstGeom>
          <a:noFill/>
          <a:ln/>
        </p:spPr>
        <p:txBody>
          <a:bodyPr wrap="square" lIns="0" tIns="0" rIns="0" bIns="0" rtlCol="0" anchor="ctr"/>
          <a:lstStyle/>
          <a:p>
            <a:r>
              <a:rPr lang="en-IN" sz="950" b="1" dirty="0"/>
              <a:t>OpenSignal App</a:t>
            </a:r>
            <a:endParaRPr lang="en-US" sz="950" b="1" dirty="0"/>
          </a:p>
        </p:txBody>
      </p:sp>
      <p:sp>
        <p:nvSpPr>
          <p:cNvPr id="26" name="Text 24"/>
          <p:cNvSpPr/>
          <p:nvPr/>
        </p:nvSpPr>
        <p:spPr>
          <a:xfrm>
            <a:off x="4837176" y="1591056"/>
            <a:ext cx="3931920" cy="502920"/>
          </a:xfrm>
          <a:prstGeom prst="rect">
            <a:avLst/>
          </a:prstGeom>
          <a:noFill/>
          <a:ln/>
        </p:spPr>
        <p:txBody>
          <a:bodyPr wrap="square" rtlCol="0" anchor="ctr"/>
          <a:lstStyle/>
          <a:p>
            <a:pPr>
              <a:lnSpc>
                <a:spcPct val="115000"/>
              </a:lnSpc>
            </a:pPr>
            <a:r>
              <a:rPr lang="en-US" sz="900" dirty="0">
                <a:solidFill>
                  <a:schemeClr val="bg1">
                    <a:lumMod val="50000"/>
                  </a:schemeClr>
                </a:solidFill>
              </a:rPr>
              <a:t>Shows signal strength, speed, and coverage using maps and statistics. Helps users understand network performance at a high level.</a:t>
            </a:r>
            <a:endParaRPr lang="en-US" sz="820" dirty="0">
              <a:solidFill>
                <a:schemeClr val="bg1">
                  <a:lumMod val="50000"/>
                </a:schemeClr>
              </a:solidFill>
            </a:endParaRPr>
          </a:p>
        </p:txBody>
      </p:sp>
      <p:sp>
        <p:nvSpPr>
          <p:cNvPr id="27" name="Shape 25"/>
          <p:cNvSpPr/>
          <p:nvPr/>
        </p:nvSpPr>
        <p:spPr>
          <a:xfrm>
            <a:off x="4837176" y="2121408"/>
            <a:ext cx="3931920" cy="237744"/>
          </a:xfrm>
          <a:prstGeom prst="rect">
            <a:avLst/>
          </a:prstGeom>
          <a:solidFill>
            <a:srgbClr val="FFF0F0"/>
          </a:solidFill>
          <a:ln w="12700">
            <a:solidFill>
              <a:srgbClr val="FFCCCC"/>
            </a:solidFill>
            <a:prstDash val="solid"/>
          </a:ln>
        </p:spPr>
        <p:txBody>
          <a:bodyPr/>
          <a:lstStyle/>
          <a:p>
            <a:endParaRPr lang="en-IN"/>
          </a:p>
        </p:txBody>
      </p:sp>
      <p:sp>
        <p:nvSpPr>
          <p:cNvPr id="28" name="Text 26"/>
          <p:cNvSpPr/>
          <p:nvPr/>
        </p:nvSpPr>
        <p:spPr>
          <a:xfrm>
            <a:off x="4892040" y="2121408"/>
            <a:ext cx="3840480" cy="237744"/>
          </a:xfrm>
          <a:prstGeom prst="rect">
            <a:avLst/>
          </a:prstGeom>
          <a:noFill/>
          <a:ln/>
        </p:spPr>
        <p:txBody>
          <a:bodyPr wrap="square" rtlCol="0" anchor="ctr"/>
          <a:lstStyle/>
          <a:p>
            <a:r>
              <a:rPr lang="en-US" sz="800" i="1" dirty="0">
                <a:solidFill>
                  <a:srgbClr val="E74C3C"/>
                </a:solidFill>
                <a:latin typeface="Calibri" pitchFamily="34" charset="0"/>
                <a:ea typeface="Calibri" pitchFamily="34" charset="-122"/>
                <a:cs typeface="Calibri" pitchFamily="34" charset="-120"/>
              </a:rPr>
              <a:t>✗  Gap: </a:t>
            </a:r>
            <a:r>
              <a:rPr lang="en-US" sz="800" i="1" dirty="0">
                <a:solidFill>
                  <a:srgbClr val="FF0000"/>
                </a:solidFill>
              </a:rPr>
              <a:t>No indoor visualization and no spatial understanding inside rooms</a:t>
            </a:r>
          </a:p>
        </p:txBody>
      </p:sp>
      <p:sp>
        <p:nvSpPr>
          <p:cNvPr id="29" name="Shape 27"/>
          <p:cNvSpPr/>
          <p:nvPr/>
        </p:nvSpPr>
        <p:spPr>
          <a:xfrm>
            <a:off x="4709160" y="2523744"/>
            <a:ext cx="4160520" cy="1133856"/>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30" name="Shape 28"/>
          <p:cNvSpPr/>
          <p:nvPr/>
        </p:nvSpPr>
        <p:spPr>
          <a:xfrm>
            <a:off x="4709160" y="2523744"/>
            <a:ext cx="54864" cy="1133856"/>
          </a:xfrm>
          <a:prstGeom prst="rect">
            <a:avLst/>
          </a:prstGeom>
          <a:solidFill>
            <a:srgbClr val="2C3E6B"/>
          </a:solidFill>
          <a:ln w="12700">
            <a:solidFill>
              <a:srgbClr val="2C3E6B"/>
            </a:solidFill>
            <a:prstDash val="solid"/>
          </a:ln>
        </p:spPr>
        <p:txBody>
          <a:bodyPr/>
          <a:lstStyle/>
          <a:p>
            <a:endParaRPr lang="en-IN"/>
          </a:p>
        </p:txBody>
      </p:sp>
      <p:sp>
        <p:nvSpPr>
          <p:cNvPr id="31" name="Text 29"/>
          <p:cNvSpPr/>
          <p:nvPr/>
        </p:nvSpPr>
        <p:spPr>
          <a:xfrm>
            <a:off x="4837176" y="2578608"/>
            <a:ext cx="3931920" cy="219456"/>
          </a:xfrm>
          <a:prstGeom prst="rect">
            <a:avLst/>
          </a:prstGeom>
          <a:noFill/>
          <a:ln/>
        </p:spPr>
        <p:txBody>
          <a:bodyPr wrap="square" lIns="0" tIns="0" rIns="0" bIns="0" rtlCol="0" anchor="ctr"/>
          <a:lstStyle/>
          <a:p>
            <a:pPr marL="0" indent="0">
              <a:buNone/>
            </a:pPr>
            <a:r>
              <a:rPr lang="en-US" sz="950" b="1" dirty="0">
                <a:solidFill>
                  <a:srgbClr val="1C2E4A"/>
                </a:solidFill>
                <a:latin typeface="Calibri" pitchFamily="34" charset="0"/>
                <a:ea typeface="Calibri" pitchFamily="34" charset="-122"/>
                <a:cs typeface="Calibri" pitchFamily="34" charset="-120"/>
              </a:rPr>
              <a:t>5G Coverage Maps</a:t>
            </a:r>
            <a:endParaRPr lang="en-US" sz="950" dirty="0"/>
          </a:p>
        </p:txBody>
      </p:sp>
      <p:sp>
        <p:nvSpPr>
          <p:cNvPr id="32" name="Text 30"/>
          <p:cNvSpPr/>
          <p:nvPr/>
        </p:nvSpPr>
        <p:spPr>
          <a:xfrm>
            <a:off x="4837176" y="2798064"/>
            <a:ext cx="3931920" cy="502920"/>
          </a:xfrm>
          <a:prstGeom prst="rect">
            <a:avLst/>
          </a:prstGeom>
          <a:noFill/>
          <a:ln/>
        </p:spPr>
        <p:txBody>
          <a:bodyPr wrap="square" rtlCol="0" anchor="ctr"/>
          <a:lstStyle/>
          <a:p>
            <a:pPr marL="0" indent="0">
              <a:lnSpc>
                <a:spcPct val="115000"/>
              </a:lnSpc>
              <a:buNone/>
            </a:pPr>
            <a:r>
              <a:rPr lang="en-US" sz="820" dirty="0">
                <a:solidFill>
                  <a:srgbClr val="4A6080"/>
                </a:solidFill>
                <a:latin typeface="Calibri" pitchFamily="34" charset="0"/>
                <a:ea typeface="Calibri" pitchFamily="34" charset="-122"/>
                <a:cs typeface="Calibri" pitchFamily="34" charset="-120"/>
              </a:rPr>
              <a:t>Telecom companies publish coverage maps online that show approximate 5G zones on city maps. These are static, geographic-scale, and show no room-level or building-level detail whatsoever.</a:t>
            </a:r>
            <a:endParaRPr lang="en-US" sz="820" dirty="0"/>
          </a:p>
        </p:txBody>
      </p:sp>
      <p:sp>
        <p:nvSpPr>
          <p:cNvPr id="33" name="Shape 31"/>
          <p:cNvSpPr/>
          <p:nvPr/>
        </p:nvSpPr>
        <p:spPr>
          <a:xfrm>
            <a:off x="4837176" y="3328416"/>
            <a:ext cx="3931920" cy="237744"/>
          </a:xfrm>
          <a:prstGeom prst="rect">
            <a:avLst/>
          </a:prstGeom>
          <a:solidFill>
            <a:srgbClr val="FFF0F0"/>
          </a:solidFill>
          <a:ln w="12700">
            <a:solidFill>
              <a:srgbClr val="FFCCCC"/>
            </a:solidFill>
            <a:prstDash val="solid"/>
          </a:ln>
        </p:spPr>
        <p:txBody>
          <a:bodyPr/>
          <a:lstStyle/>
          <a:p>
            <a:endParaRPr lang="en-IN"/>
          </a:p>
        </p:txBody>
      </p:sp>
      <p:sp>
        <p:nvSpPr>
          <p:cNvPr id="34" name="Text 32"/>
          <p:cNvSpPr/>
          <p:nvPr/>
        </p:nvSpPr>
        <p:spPr>
          <a:xfrm>
            <a:off x="4892040" y="3328416"/>
            <a:ext cx="3840480" cy="237744"/>
          </a:xfrm>
          <a:prstGeom prst="rect">
            <a:avLst/>
          </a:prstGeom>
          <a:noFill/>
          <a:ln/>
        </p:spPr>
        <p:txBody>
          <a:bodyPr wrap="square" rtlCol="0" anchor="ctr"/>
          <a:lstStyle/>
          <a:p>
            <a:pPr marL="0" indent="0">
              <a:buNone/>
            </a:pPr>
            <a:r>
              <a:rPr lang="en-US" sz="800" i="1" dirty="0">
                <a:solidFill>
                  <a:srgbClr val="E74C3C"/>
                </a:solidFill>
                <a:latin typeface="Calibri" pitchFamily="34" charset="0"/>
                <a:ea typeface="Calibri" pitchFamily="34" charset="-122"/>
                <a:cs typeface="Calibri" pitchFamily="34" charset="-120"/>
              </a:rPr>
              <a:t>✗  Gap: City-level only, no indoor detail</a:t>
            </a:r>
            <a:endParaRPr lang="en-US" sz="800" dirty="0"/>
          </a:p>
        </p:txBody>
      </p:sp>
      <p:sp>
        <p:nvSpPr>
          <p:cNvPr id="35" name="Shape 33"/>
          <p:cNvSpPr/>
          <p:nvPr/>
        </p:nvSpPr>
        <p:spPr>
          <a:xfrm>
            <a:off x="4709160" y="3730752"/>
            <a:ext cx="4160520" cy="1133856"/>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36" name="Shape 34"/>
          <p:cNvSpPr/>
          <p:nvPr/>
        </p:nvSpPr>
        <p:spPr>
          <a:xfrm>
            <a:off x="4709160" y="3730752"/>
            <a:ext cx="54864" cy="1133856"/>
          </a:xfrm>
          <a:prstGeom prst="rect">
            <a:avLst/>
          </a:prstGeom>
          <a:solidFill>
            <a:srgbClr val="2C3E6B"/>
          </a:solidFill>
          <a:ln w="12700">
            <a:solidFill>
              <a:srgbClr val="2C3E6B"/>
            </a:solidFill>
            <a:prstDash val="solid"/>
          </a:ln>
        </p:spPr>
        <p:txBody>
          <a:bodyPr/>
          <a:lstStyle/>
          <a:p>
            <a:endParaRPr lang="en-IN"/>
          </a:p>
        </p:txBody>
      </p:sp>
      <p:sp>
        <p:nvSpPr>
          <p:cNvPr id="37" name="Text 35"/>
          <p:cNvSpPr/>
          <p:nvPr/>
        </p:nvSpPr>
        <p:spPr>
          <a:xfrm>
            <a:off x="4837176" y="3785616"/>
            <a:ext cx="3931920" cy="219456"/>
          </a:xfrm>
          <a:prstGeom prst="rect">
            <a:avLst/>
          </a:prstGeom>
          <a:noFill/>
          <a:ln/>
        </p:spPr>
        <p:txBody>
          <a:bodyPr wrap="square" lIns="0" tIns="0" rIns="0" bIns="0" rtlCol="0" anchor="ctr"/>
          <a:lstStyle/>
          <a:p>
            <a:r>
              <a:rPr lang="en-IN" sz="950" b="1" dirty="0"/>
              <a:t>Airtel Fiber App</a:t>
            </a:r>
            <a:endParaRPr lang="en-US" sz="950" b="1" dirty="0"/>
          </a:p>
        </p:txBody>
      </p:sp>
      <p:sp>
        <p:nvSpPr>
          <p:cNvPr id="38" name="Text 36"/>
          <p:cNvSpPr/>
          <p:nvPr/>
        </p:nvSpPr>
        <p:spPr>
          <a:xfrm>
            <a:off x="4837176" y="4005072"/>
            <a:ext cx="3931920" cy="502920"/>
          </a:xfrm>
          <a:prstGeom prst="rect">
            <a:avLst/>
          </a:prstGeom>
          <a:noFill/>
          <a:ln/>
        </p:spPr>
        <p:txBody>
          <a:bodyPr wrap="square" rtlCol="0" anchor="ctr"/>
          <a:lstStyle/>
          <a:p>
            <a:pPr>
              <a:lnSpc>
                <a:spcPct val="115000"/>
              </a:lnSpc>
            </a:pPr>
            <a:r>
              <a:rPr lang="en-US" sz="900" dirty="0">
                <a:solidFill>
                  <a:schemeClr val="bg1">
                    <a:lumMod val="50000"/>
                  </a:schemeClr>
                </a:solidFill>
              </a:rPr>
              <a:t>Helps users manage their router and gives basic guidance on improving </a:t>
            </a:r>
            <a:r>
              <a:rPr lang="en-US" sz="900" dirty="0" err="1">
                <a:solidFill>
                  <a:schemeClr val="bg1">
                    <a:lumMod val="50000"/>
                  </a:schemeClr>
                </a:solidFill>
              </a:rPr>
              <a:t>WiFi</a:t>
            </a:r>
            <a:r>
              <a:rPr lang="en-US" sz="900" dirty="0">
                <a:solidFill>
                  <a:schemeClr val="bg1">
                    <a:lumMod val="50000"/>
                  </a:schemeClr>
                </a:solidFill>
              </a:rPr>
              <a:t> coverage in the home.</a:t>
            </a:r>
            <a:endParaRPr lang="en-US" sz="820" dirty="0">
              <a:solidFill>
                <a:schemeClr val="bg1">
                  <a:lumMod val="50000"/>
                </a:schemeClr>
              </a:solidFill>
            </a:endParaRPr>
          </a:p>
        </p:txBody>
      </p:sp>
      <p:sp>
        <p:nvSpPr>
          <p:cNvPr id="39" name="Shape 37"/>
          <p:cNvSpPr/>
          <p:nvPr/>
        </p:nvSpPr>
        <p:spPr>
          <a:xfrm>
            <a:off x="4837176" y="4535424"/>
            <a:ext cx="3931920" cy="237744"/>
          </a:xfrm>
          <a:prstGeom prst="rect">
            <a:avLst/>
          </a:prstGeom>
          <a:solidFill>
            <a:srgbClr val="FFF0F0"/>
          </a:solidFill>
          <a:ln w="12700">
            <a:solidFill>
              <a:srgbClr val="FFCCCC"/>
            </a:solidFill>
            <a:prstDash val="solid"/>
          </a:ln>
        </p:spPr>
        <p:txBody>
          <a:bodyPr/>
          <a:lstStyle/>
          <a:p>
            <a:endParaRPr lang="en-IN"/>
          </a:p>
        </p:txBody>
      </p:sp>
      <p:sp>
        <p:nvSpPr>
          <p:cNvPr id="40" name="Text 38"/>
          <p:cNvSpPr/>
          <p:nvPr/>
        </p:nvSpPr>
        <p:spPr>
          <a:xfrm>
            <a:off x="4892040" y="4535424"/>
            <a:ext cx="3840480" cy="237744"/>
          </a:xfrm>
          <a:prstGeom prst="rect">
            <a:avLst/>
          </a:prstGeom>
          <a:noFill/>
          <a:ln/>
        </p:spPr>
        <p:txBody>
          <a:bodyPr wrap="square" rtlCol="0" anchor="ctr"/>
          <a:lstStyle/>
          <a:p>
            <a:r>
              <a:rPr lang="en-US" sz="800" i="1" dirty="0">
                <a:solidFill>
                  <a:srgbClr val="E74C3C"/>
                </a:solidFill>
                <a:latin typeface="Calibri" pitchFamily="34" charset="0"/>
                <a:ea typeface="Calibri" pitchFamily="34" charset="-122"/>
                <a:cs typeface="Calibri" pitchFamily="34" charset="-120"/>
              </a:rPr>
              <a:t>✗  Gap: </a:t>
            </a:r>
            <a:r>
              <a:rPr lang="en-US" sz="780" i="1" dirty="0">
                <a:solidFill>
                  <a:srgbClr val="FF0000"/>
                </a:solidFill>
              </a:rPr>
              <a:t>Limited visualization and no real-time interaction with the physical environment</a:t>
            </a:r>
          </a:p>
          <a:p>
            <a:pPr marL="0" indent="0">
              <a:buNone/>
            </a:pPr>
            <a:endParaRPr lang="en-US" sz="800" dirty="0"/>
          </a:p>
        </p:txBody>
      </p:sp>
      <p:sp>
        <p:nvSpPr>
          <p:cNvPr id="41" name="Shape 39"/>
          <p:cNvSpPr/>
          <p:nvPr/>
        </p:nvSpPr>
        <p:spPr>
          <a:xfrm>
            <a:off x="0" y="4864608"/>
            <a:ext cx="9144000" cy="274320"/>
          </a:xfrm>
          <a:prstGeom prst="rect">
            <a:avLst/>
          </a:prstGeom>
          <a:solidFill>
            <a:srgbClr val="0D1B3E"/>
          </a:solidFill>
          <a:ln w="12700">
            <a:solidFill>
              <a:srgbClr val="0D1B3E"/>
            </a:solidFill>
            <a:prstDash val="solid"/>
          </a:ln>
        </p:spPr>
        <p:txBody>
          <a:bodyPr/>
          <a:lstStyle/>
          <a:p>
            <a:endParaRPr lang="en-IN"/>
          </a:p>
        </p:txBody>
      </p:sp>
      <p:sp>
        <p:nvSpPr>
          <p:cNvPr id="42" name="Text 40"/>
          <p:cNvSpPr/>
          <p:nvPr/>
        </p:nvSpPr>
        <p:spPr>
          <a:xfrm>
            <a:off x="274320" y="4873752"/>
            <a:ext cx="7772400" cy="256032"/>
          </a:xfrm>
          <a:prstGeom prst="rect">
            <a:avLst/>
          </a:prstGeom>
          <a:noFill/>
          <a:ln/>
        </p:spPr>
        <p:txBody>
          <a:bodyPr wrap="square" rtlCol="0" anchor="ctr"/>
          <a:lstStyle/>
          <a:p>
            <a:r>
              <a:rPr lang="en-US" sz="800" dirty="0">
                <a:solidFill>
                  <a:srgbClr val="8BA0BF"/>
                </a:solidFill>
                <a:latin typeface="Calibri" pitchFamily="34" charset="0"/>
                <a:ea typeface="Calibri" pitchFamily="34" charset="-122"/>
                <a:cs typeface="Calibri" pitchFamily="34" charset="-120"/>
              </a:rPr>
              <a:t>Drishti XR ·  Wireless Signal Mapping &amp; Visualization for Everyone</a:t>
            </a:r>
            <a:endParaRPr lang="en-US" sz="800" dirty="0"/>
          </a:p>
        </p:txBody>
      </p:sp>
      <p:sp>
        <p:nvSpPr>
          <p:cNvPr id="43" name="Text 41"/>
          <p:cNvSpPr/>
          <p:nvPr/>
        </p:nvSpPr>
        <p:spPr>
          <a:xfrm>
            <a:off x="8412480" y="4873752"/>
            <a:ext cx="548640" cy="256032"/>
          </a:xfrm>
          <a:prstGeom prst="rect">
            <a:avLst/>
          </a:prstGeom>
          <a:noFill/>
          <a:ln/>
        </p:spPr>
        <p:txBody>
          <a:bodyPr wrap="square" rtlCol="0" anchor="ctr"/>
          <a:lstStyle/>
          <a:p>
            <a:pPr marL="0" indent="0" algn="r">
              <a:buNone/>
            </a:pPr>
            <a:r>
              <a:rPr lang="en-US" sz="800" dirty="0">
                <a:solidFill>
                  <a:srgbClr val="8BA0BF"/>
                </a:solidFill>
                <a:latin typeface="Calibri" pitchFamily="34" charset="0"/>
                <a:ea typeface="Calibri" pitchFamily="34" charset="-122"/>
                <a:cs typeface="Calibri" pitchFamily="34" charset="-120"/>
              </a:rPr>
              <a:t>7 / 12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365760" y="182880"/>
            <a:ext cx="54864" cy="502920"/>
          </a:xfrm>
          <a:prstGeom prst="rect">
            <a:avLst/>
          </a:prstGeom>
          <a:solidFill>
            <a:srgbClr val="00A8CC"/>
          </a:solidFill>
          <a:ln w="12700">
            <a:solidFill>
              <a:srgbClr val="00A8CC"/>
            </a:solidFill>
            <a:prstDash val="solid"/>
          </a:ln>
        </p:spPr>
        <p:txBody>
          <a:bodyPr/>
          <a:lstStyle/>
          <a:p>
            <a:endParaRPr lang="en-IN"/>
          </a:p>
        </p:txBody>
      </p:sp>
      <p:sp>
        <p:nvSpPr>
          <p:cNvPr id="3" name="Text 1"/>
          <p:cNvSpPr/>
          <p:nvPr/>
        </p:nvSpPr>
        <p:spPr>
          <a:xfrm>
            <a:off x="502920" y="164592"/>
            <a:ext cx="8229600" cy="548640"/>
          </a:xfrm>
          <a:prstGeom prst="rect">
            <a:avLst/>
          </a:prstGeom>
          <a:noFill/>
          <a:ln/>
        </p:spPr>
        <p:txBody>
          <a:bodyPr wrap="square" lIns="0" tIns="0" rIns="0" bIns="0" rtlCol="0" anchor="ctr"/>
          <a:lstStyle/>
          <a:p>
            <a:pPr marL="0" indent="0">
              <a:buNone/>
            </a:pPr>
            <a:r>
              <a:rPr lang="en-US" sz="1100" b="1" dirty="0">
                <a:solidFill>
                  <a:srgbClr val="00A8CC"/>
                </a:solidFill>
                <a:latin typeface="Calibri" pitchFamily="34" charset="0"/>
                <a:ea typeface="Calibri" pitchFamily="34" charset="-122"/>
                <a:cs typeface="Calibri" pitchFamily="34" charset="-120"/>
              </a:rPr>
              <a:t>7.  Novelty — What Makes This Different</a:t>
            </a:r>
            <a:endParaRPr lang="en-US" sz="1100" dirty="0"/>
          </a:p>
        </p:txBody>
      </p:sp>
      <p:sp>
        <p:nvSpPr>
          <p:cNvPr id="4" name="Shape 2"/>
          <p:cNvSpPr/>
          <p:nvPr/>
        </p:nvSpPr>
        <p:spPr>
          <a:xfrm>
            <a:off x="365760" y="841248"/>
            <a:ext cx="2194560" cy="329184"/>
          </a:xfrm>
          <a:prstGeom prst="rect">
            <a:avLst/>
          </a:prstGeom>
          <a:solidFill>
            <a:srgbClr val="0D1B3E"/>
          </a:solidFill>
          <a:ln w="12700">
            <a:solidFill>
              <a:srgbClr val="0D1B3E"/>
            </a:solidFill>
            <a:prstDash val="solid"/>
          </a:ln>
        </p:spPr>
        <p:txBody>
          <a:bodyPr/>
          <a:lstStyle/>
          <a:p>
            <a:endParaRPr lang="en-IN"/>
          </a:p>
        </p:txBody>
      </p:sp>
      <p:sp>
        <p:nvSpPr>
          <p:cNvPr id="5" name="Text 3"/>
          <p:cNvSpPr/>
          <p:nvPr/>
        </p:nvSpPr>
        <p:spPr>
          <a:xfrm>
            <a:off x="457200" y="841248"/>
            <a:ext cx="2103120" cy="32918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Aspect</a:t>
            </a:r>
            <a:endParaRPr lang="en-US" sz="1000" dirty="0"/>
          </a:p>
        </p:txBody>
      </p:sp>
      <p:sp>
        <p:nvSpPr>
          <p:cNvPr id="6" name="Shape 4"/>
          <p:cNvSpPr/>
          <p:nvPr/>
        </p:nvSpPr>
        <p:spPr>
          <a:xfrm>
            <a:off x="2560320" y="841248"/>
            <a:ext cx="2834640" cy="329184"/>
          </a:xfrm>
          <a:prstGeom prst="rect">
            <a:avLst/>
          </a:prstGeom>
          <a:solidFill>
            <a:srgbClr val="2C3E6B"/>
          </a:solidFill>
          <a:ln w="12700">
            <a:solidFill>
              <a:srgbClr val="2C3E6B"/>
            </a:solidFill>
            <a:prstDash val="solid"/>
          </a:ln>
        </p:spPr>
        <p:txBody>
          <a:bodyPr/>
          <a:lstStyle/>
          <a:p>
            <a:endParaRPr lang="en-IN"/>
          </a:p>
        </p:txBody>
      </p:sp>
      <p:sp>
        <p:nvSpPr>
          <p:cNvPr id="7" name="Text 5"/>
          <p:cNvSpPr/>
          <p:nvPr/>
        </p:nvSpPr>
        <p:spPr>
          <a:xfrm>
            <a:off x="2651760" y="841248"/>
            <a:ext cx="2743200" cy="32918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Existing Apps</a:t>
            </a:r>
            <a:endParaRPr lang="en-US" sz="1000" dirty="0"/>
          </a:p>
        </p:txBody>
      </p:sp>
      <p:sp>
        <p:nvSpPr>
          <p:cNvPr id="8" name="Shape 6"/>
          <p:cNvSpPr/>
          <p:nvPr/>
        </p:nvSpPr>
        <p:spPr>
          <a:xfrm>
            <a:off x="5394960" y="841248"/>
            <a:ext cx="3383280" cy="329184"/>
          </a:xfrm>
          <a:prstGeom prst="rect">
            <a:avLst/>
          </a:prstGeom>
          <a:solidFill>
            <a:srgbClr val="00A8CC"/>
          </a:solidFill>
          <a:ln w="12700">
            <a:solidFill>
              <a:srgbClr val="00A8CC"/>
            </a:solidFill>
            <a:prstDash val="solid"/>
          </a:ln>
        </p:spPr>
        <p:txBody>
          <a:bodyPr/>
          <a:lstStyle/>
          <a:p>
            <a:endParaRPr lang="en-IN"/>
          </a:p>
        </p:txBody>
      </p:sp>
      <p:sp>
        <p:nvSpPr>
          <p:cNvPr id="9" name="Text 7"/>
          <p:cNvSpPr/>
          <p:nvPr/>
        </p:nvSpPr>
        <p:spPr>
          <a:xfrm>
            <a:off x="5486400" y="841248"/>
            <a:ext cx="3291840" cy="32918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SignalSense MR</a:t>
            </a:r>
            <a:endParaRPr lang="en-US" sz="1000" dirty="0"/>
          </a:p>
        </p:txBody>
      </p:sp>
      <p:sp>
        <p:nvSpPr>
          <p:cNvPr id="10" name="Shape 8"/>
          <p:cNvSpPr/>
          <p:nvPr/>
        </p:nvSpPr>
        <p:spPr>
          <a:xfrm>
            <a:off x="365760" y="1170432"/>
            <a:ext cx="2194560" cy="329184"/>
          </a:xfrm>
          <a:prstGeom prst="rect">
            <a:avLst/>
          </a:prstGeom>
          <a:solidFill>
            <a:srgbClr val="FFFFFF"/>
          </a:solidFill>
          <a:ln w="6350">
            <a:solidFill>
              <a:srgbClr val="D0DCF0"/>
            </a:solidFill>
            <a:prstDash val="solid"/>
          </a:ln>
        </p:spPr>
        <p:txBody>
          <a:bodyPr/>
          <a:lstStyle/>
          <a:p>
            <a:endParaRPr lang="en-IN"/>
          </a:p>
        </p:txBody>
      </p:sp>
      <p:sp>
        <p:nvSpPr>
          <p:cNvPr id="11" name="Text 9"/>
          <p:cNvSpPr/>
          <p:nvPr/>
        </p:nvSpPr>
        <p:spPr>
          <a:xfrm>
            <a:off x="457200" y="1170432"/>
            <a:ext cx="2103120" cy="329184"/>
          </a:xfrm>
          <a:prstGeom prst="rect">
            <a:avLst/>
          </a:prstGeom>
          <a:noFill/>
          <a:ln/>
        </p:spPr>
        <p:txBody>
          <a:bodyPr wrap="square" lIns="0" tIns="0" rIns="0" bIns="0" rtlCol="0" anchor="ctr"/>
          <a:lstStyle/>
          <a:p>
            <a:pPr marL="0" indent="0">
              <a:buNone/>
            </a:pPr>
            <a:r>
              <a:rPr lang="en-US" sz="900" dirty="0">
                <a:solidFill>
                  <a:srgbClr val="1C2E4A"/>
                </a:solidFill>
                <a:latin typeface="Calibri" pitchFamily="34" charset="0"/>
                <a:ea typeface="Calibri" pitchFamily="34" charset="-122"/>
                <a:cs typeface="Calibri" pitchFamily="34" charset="-120"/>
              </a:rPr>
              <a:t>Who Can Use It</a:t>
            </a:r>
            <a:endParaRPr lang="en-US" sz="900" dirty="0"/>
          </a:p>
        </p:txBody>
      </p:sp>
      <p:sp>
        <p:nvSpPr>
          <p:cNvPr id="12" name="Shape 10"/>
          <p:cNvSpPr/>
          <p:nvPr/>
        </p:nvSpPr>
        <p:spPr>
          <a:xfrm>
            <a:off x="2560320" y="1170432"/>
            <a:ext cx="2834640" cy="329184"/>
          </a:xfrm>
          <a:prstGeom prst="rect">
            <a:avLst/>
          </a:prstGeom>
          <a:solidFill>
            <a:srgbClr val="FFFFFF"/>
          </a:solidFill>
          <a:ln w="6350">
            <a:solidFill>
              <a:srgbClr val="D0DCF0"/>
            </a:solidFill>
            <a:prstDash val="solid"/>
          </a:ln>
        </p:spPr>
        <p:txBody>
          <a:bodyPr/>
          <a:lstStyle/>
          <a:p>
            <a:endParaRPr lang="en-IN"/>
          </a:p>
        </p:txBody>
      </p:sp>
      <p:sp>
        <p:nvSpPr>
          <p:cNvPr id="13" name="Text 11"/>
          <p:cNvSpPr/>
          <p:nvPr/>
        </p:nvSpPr>
        <p:spPr>
          <a:xfrm>
            <a:off x="2651760" y="1170432"/>
            <a:ext cx="2743200" cy="329184"/>
          </a:xfrm>
          <a:prstGeom prst="rect">
            <a:avLst/>
          </a:prstGeom>
          <a:noFill/>
          <a:ln/>
        </p:spPr>
        <p:txBody>
          <a:bodyPr wrap="square" lIns="0" tIns="0" rIns="0" bIns="0" rtlCol="0" anchor="ctr"/>
          <a:lstStyle/>
          <a:p>
            <a:pPr marL="0" indent="0">
              <a:buNone/>
            </a:pPr>
            <a:r>
              <a:rPr lang="en-US" sz="900" dirty="0">
                <a:solidFill>
                  <a:srgbClr val="1C2E4A"/>
                </a:solidFill>
                <a:latin typeface="Calibri" pitchFamily="34" charset="0"/>
                <a:ea typeface="Calibri" pitchFamily="34" charset="-122"/>
                <a:cs typeface="Calibri" pitchFamily="34" charset="-120"/>
              </a:rPr>
              <a:t>IT professionals only</a:t>
            </a:r>
            <a:endParaRPr lang="en-US" sz="900" dirty="0"/>
          </a:p>
        </p:txBody>
      </p:sp>
      <p:sp>
        <p:nvSpPr>
          <p:cNvPr id="14" name="Shape 12"/>
          <p:cNvSpPr/>
          <p:nvPr/>
        </p:nvSpPr>
        <p:spPr>
          <a:xfrm>
            <a:off x="5394960" y="1170432"/>
            <a:ext cx="3383280" cy="329184"/>
          </a:xfrm>
          <a:prstGeom prst="rect">
            <a:avLst/>
          </a:prstGeom>
          <a:solidFill>
            <a:srgbClr val="E8F8F5"/>
          </a:solidFill>
          <a:ln w="6350">
            <a:solidFill>
              <a:srgbClr val="D0DCF0"/>
            </a:solidFill>
            <a:prstDash val="solid"/>
          </a:ln>
        </p:spPr>
        <p:txBody>
          <a:bodyPr/>
          <a:lstStyle/>
          <a:p>
            <a:endParaRPr lang="en-IN"/>
          </a:p>
        </p:txBody>
      </p:sp>
      <p:sp>
        <p:nvSpPr>
          <p:cNvPr id="15" name="Text 13"/>
          <p:cNvSpPr/>
          <p:nvPr/>
        </p:nvSpPr>
        <p:spPr>
          <a:xfrm>
            <a:off x="5486400" y="1170432"/>
            <a:ext cx="3291840" cy="329184"/>
          </a:xfrm>
          <a:prstGeom prst="rect">
            <a:avLst/>
          </a:prstGeom>
          <a:noFill/>
          <a:ln/>
        </p:spPr>
        <p:txBody>
          <a:bodyPr wrap="square" lIns="0" tIns="0" rIns="0" bIns="0" rtlCol="0" anchor="ctr"/>
          <a:lstStyle/>
          <a:p>
            <a:pPr marL="0" indent="0">
              <a:buNone/>
            </a:pPr>
            <a:r>
              <a:rPr lang="en-US" sz="900" b="1" dirty="0">
                <a:solidFill>
                  <a:srgbClr val="1A6B4A"/>
                </a:solidFill>
                <a:latin typeface="Calibri" pitchFamily="34" charset="0"/>
                <a:ea typeface="Calibri" pitchFamily="34" charset="-122"/>
                <a:cs typeface="Calibri" pitchFamily="34" charset="-120"/>
              </a:rPr>
              <a:t>Anyone with a smartphone</a:t>
            </a:r>
            <a:endParaRPr lang="en-US" sz="900" dirty="0"/>
          </a:p>
        </p:txBody>
      </p:sp>
      <p:sp>
        <p:nvSpPr>
          <p:cNvPr id="16" name="Shape 14"/>
          <p:cNvSpPr/>
          <p:nvPr/>
        </p:nvSpPr>
        <p:spPr>
          <a:xfrm>
            <a:off x="365760" y="1499616"/>
            <a:ext cx="2194560" cy="329184"/>
          </a:xfrm>
          <a:prstGeom prst="rect">
            <a:avLst/>
          </a:prstGeom>
          <a:solidFill>
            <a:srgbClr val="EDF3FA"/>
          </a:solidFill>
          <a:ln w="6350">
            <a:solidFill>
              <a:srgbClr val="D0DCF0"/>
            </a:solidFill>
            <a:prstDash val="solid"/>
          </a:ln>
        </p:spPr>
        <p:txBody>
          <a:bodyPr/>
          <a:lstStyle/>
          <a:p>
            <a:endParaRPr lang="en-IN"/>
          </a:p>
        </p:txBody>
      </p:sp>
      <p:sp>
        <p:nvSpPr>
          <p:cNvPr id="17" name="Text 15"/>
          <p:cNvSpPr/>
          <p:nvPr/>
        </p:nvSpPr>
        <p:spPr>
          <a:xfrm>
            <a:off x="457200" y="1499616"/>
            <a:ext cx="2103120" cy="329184"/>
          </a:xfrm>
          <a:prstGeom prst="rect">
            <a:avLst/>
          </a:prstGeom>
          <a:noFill/>
          <a:ln/>
        </p:spPr>
        <p:txBody>
          <a:bodyPr wrap="square" lIns="0" tIns="0" rIns="0" bIns="0" rtlCol="0" anchor="ctr"/>
          <a:lstStyle/>
          <a:p>
            <a:pPr marL="0" indent="0">
              <a:buNone/>
            </a:pPr>
            <a:r>
              <a:rPr lang="en-US" sz="900" dirty="0">
                <a:solidFill>
                  <a:srgbClr val="1C2E4A"/>
                </a:solidFill>
                <a:latin typeface="Calibri" pitchFamily="34" charset="0"/>
                <a:ea typeface="Calibri" pitchFamily="34" charset="-122"/>
                <a:cs typeface="Calibri" pitchFamily="34" charset="-120"/>
              </a:rPr>
              <a:t>Visualization</a:t>
            </a:r>
            <a:endParaRPr lang="en-US" sz="900" dirty="0"/>
          </a:p>
        </p:txBody>
      </p:sp>
      <p:sp>
        <p:nvSpPr>
          <p:cNvPr id="18" name="Shape 16"/>
          <p:cNvSpPr/>
          <p:nvPr/>
        </p:nvSpPr>
        <p:spPr>
          <a:xfrm>
            <a:off x="2560320" y="1499616"/>
            <a:ext cx="2834640" cy="329184"/>
          </a:xfrm>
          <a:prstGeom prst="rect">
            <a:avLst/>
          </a:prstGeom>
          <a:solidFill>
            <a:srgbClr val="EDF3FA"/>
          </a:solidFill>
          <a:ln w="6350">
            <a:solidFill>
              <a:srgbClr val="D0DCF0"/>
            </a:solidFill>
            <a:prstDash val="solid"/>
          </a:ln>
        </p:spPr>
        <p:txBody>
          <a:bodyPr/>
          <a:lstStyle/>
          <a:p>
            <a:endParaRPr lang="en-IN"/>
          </a:p>
        </p:txBody>
      </p:sp>
      <p:sp>
        <p:nvSpPr>
          <p:cNvPr id="19" name="Text 17"/>
          <p:cNvSpPr/>
          <p:nvPr/>
        </p:nvSpPr>
        <p:spPr>
          <a:xfrm>
            <a:off x="2651760" y="1499616"/>
            <a:ext cx="2743200" cy="329184"/>
          </a:xfrm>
          <a:prstGeom prst="rect">
            <a:avLst/>
          </a:prstGeom>
          <a:noFill/>
          <a:ln/>
        </p:spPr>
        <p:txBody>
          <a:bodyPr wrap="square" lIns="0" tIns="0" rIns="0" bIns="0" rtlCol="0" anchor="ctr"/>
          <a:lstStyle/>
          <a:p>
            <a:pPr marL="0" indent="0">
              <a:buNone/>
            </a:pPr>
            <a:r>
              <a:rPr lang="en-US" sz="900" dirty="0">
                <a:solidFill>
                  <a:srgbClr val="1C2E4A"/>
                </a:solidFill>
                <a:latin typeface="Calibri" pitchFamily="34" charset="0"/>
                <a:ea typeface="Calibri" pitchFamily="34" charset="-122"/>
                <a:cs typeface="Calibri" pitchFamily="34" charset="-120"/>
              </a:rPr>
              <a:t>2D bar charts on a screen</a:t>
            </a:r>
            <a:endParaRPr lang="en-US" sz="900" dirty="0"/>
          </a:p>
        </p:txBody>
      </p:sp>
      <p:sp>
        <p:nvSpPr>
          <p:cNvPr id="20" name="Shape 18"/>
          <p:cNvSpPr/>
          <p:nvPr/>
        </p:nvSpPr>
        <p:spPr>
          <a:xfrm>
            <a:off x="5394960" y="1499616"/>
            <a:ext cx="3383280" cy="329184"/>
          </a:xfrm>
          <a:prstGeom prst="rect">
            <a:avLst/>
          </a:prstGeom>
          <a:solidFill>
            <a:srgbClr val="D5F0EB"/>
          </a:solidFill>
          <a:ln w="6350">
            <a:solidFill>
              <a:srgbClr val="D0DCF0"/>
            </a:solidFill>
            <a:prstDash val="solid"/>
          </a:ln>
        </p:spPr>
        <p:txBody>
          <a:bodyPr/>
          <a:lstStyle/>
          <a:p>
            <a:endParaRPr lang="en-IN"/>
          </a:p>
        </p:txBody>
      </p:sp>
      <p:sp>
        <p:nvSpPr>
          <p:cNvPr id="21" name="Text 19"/>
          <p:cNvSpPr/>
          <p:nvPr/>
        </p:nvSpPr>
        <p:spPr>
          <a:xfrm>
            <a:off x="5486400" y="1499616"/>
            <a:ext cx="3291840" cy="329184"/>
          </a:xfrm>
          <a:prstGeom prst="rect">
            <a:avLst/>
          </a:prstGeom>
          <a:noFill/>
          <a:ln/>
        </p:spPr>
        <p:txBody>
          <a:bodyPr wrap="square" lIns="0" tIns="0" rIns="0" bIns="0" rtlCol="0" anchor="ctr"/>
          <a:lstStyle/>
          <a:p>
            <a:pPr marL="0" indent="0">
              <a:buNone/>
            </a:pPr>
            <a:r>
              <a:rPr lang="en-US" sz="900" b="1" dirty="0">
                <a:solidFill>
                  <a:srgbClr val="1A6B4A"/>
                </a:solidFill>
                <a:latin typeface="Calibri" pitchFamily="34" charset="0"/>
                <a:ea typeface="Calibri" pitchFamily="34" charset="-122"/>
                <a:cs typeface="Calibri" pitchFamily="34" charset="-120"/>
              </a:rPr>
              <a:t>3D Mixed Reality through phone camera</a:t>
            </a:r>
            <a:endParaRPr lang="en-US" sz="900" dirty="0"/>
          </a:p>
        </p:txBody>
      </p:sp>
      <p:sp>
        <p:nvSpPr>
          <p:cNvPr id="22" name="Shape 20"/>
          <p:cNvSpPr/>
          <p:nvPr/>
        </p:nvSpPr>
        <p:spPr>
          <a:xfrm>
            <a:off x="365760" y="1828800"/>
            <a:ext cx="2194560" cy="329184"/>
          </a:xfrm>
          <a:prstGeom prst="rect">
            <a:avLst/>
          </a:prstGeom>
          <a:solidFill>
            <a:srgbClr val="FFFFFF"/>
          </a:solidFill>
          <a:ln w="6350">
            <a:solidFill>
              <a:srgbClr val="D0DCF0"/>
            </a:solidFill>
            <a:prstDash val="solid"/>
          </a:ln>
        </p:spPr>
        <p:txBody>
          <a:bodyPr/>
          <a:lstStyle/>
          <a:p>
            <a:endParaRPr lang="en-IN"/>
          </a:p>
        </p:txBody>
      </p:sp>
      <p:sp>
        <p:nvSpPr>
          <p:cNvPr id="23" name="Text 21"/>
          <p:cNvSpPr/>
          <p:nvPr/>
        </p:nvSpPr>
        <p:spPr>
          <a:xfrm>
            <a:off x="457200" y="1828800"/>
            <a:ext cx="2103120" cy="329184"/>
          </a:xfrm>
          <a:prstGeom prst="rect">
            <a:avLst/>
          </a:prstGeom>
          <a:noFill/>
          <a:ln/>
        </p:spPr>
        <p:txBody>
          <a:bodyPr wrap="square" lIns="0" tIns="0" rIns="0" bIns="0" rtlCol="0" anchor="ctr"/>
          <a:lstStyle/>
          <a:p>
            <a:pPr marL="0" indent="0">
              <a:buNone/>
            </a:pPr>
            <a:r>
              <a:rPr lang="en-US" sz="900" dirty="0">
                <a:solidFill>
                  <a:srgbClr val="1C2E4A"/>
                </a:solidFill>
                <a:latin typeface="Calibri" pitchFamily="34" charset="0"/>
                <a:ea typeface="Calibri" pitchFamily="34" charset="-122"/>
                <a:cs typeface="Calibri" pitchFamily="34" charset="-120"/>
              </a:rPr>
              <a:t>Spatial Awareness</a:t>
            </a:r>
            <a:endParaRPr lang="en-US" sz="900" dirty="0"/>
          </a:p>
        </p:txBody>
      </p:sp>
      <p:sp>
        <p:nvSpPr>
          <p:cNvPr id="24" name="Shape 22"/>
          <p:cNvSpPr/>
          <p:nvPr/>
        </p:nvSpPr>
        <p:spPr>
          <a:xfrm>
            <a:off x="2560320" y="1828800"/>
            <a:ext cx="2834640" cy="329184"/>
          </a:xfrm>
          <a:prstGeom prst="rect">
            <a:avLst/>
          </a:prstGeom>
          <a:solidFill>
            <a:srgbClr val="FFFFFF"/>
          </a:solidFill>
          <a:ln w="6350">
            <a:solidFill>
              <a:srgbClr val="D0DCF0"/>
            </a:solidFill>
            <a:prstDash val="solid"/>
          </a:ln>
        </p:spPr>
        <p:txBody>
          <a:bodyPr/>
          <a:lstStyle/>
          <a:p>
            <a:endParaRPr lang="en-IN"/>
          </a:p>
        </p:txBody>
      </p:sp>
      <p:sp>
        <p:nvSpPr>
          <p:cNvPr id="25" name="Text 23"/>
          <p:cNvSpPr/>
          <p:nvPr/>
        </p:nvSpPr>
        <p:spPr>
          <a:xfrm>
            <a:off x="2651760" y="1828800"/>
            <a:ext cx="2743200" cy="329184"/>
          </a:xfrm>
          <a:prstGeom prst="rect">
            <a:avLst/>
          </a:prstGeom>
          <a:noFill/>
          <a:ln/>
        </p:spPr>
        <p:txBody>
          <a:bodyPr wrap="square" lIns="0" tIns="0" rIns="0" bIns="0" rtlCol="0" anchor="ctr"/>
          <a:lstStyle/>
          <a:p>
            <a:pPr marL="0" indent="0">
              <a:buNone/>
            </a:pPr>
            <a:r>
              <a:rPr lang="en-US" sz="900" dirty="0">
                <a:solidFill>
                  <a:srgbClr val="1C2E4A"/>
                </a:solidFill>
                <a:latin typeface="Calibri" pitchFamily="34" charset="0"/>
                <a:ea typeface="Calibri" pitchFamily="34" charset="-122"/>
                <a:cs typeface="Calibri" pitchFamily="34" charset="-120"/>
              </a:rPr>
              <a:t>None — just numbers</a:t>
            </a:r>
            <a:endParaRPr lang="en-US" sz="900" dirty="0"/>
          </a:p>
        </p:txBody>
      </p:sp>
      <p:sp>
        <p:nvSpPr>
          <p:cNvPr id="26" name="Shape 24"/>
          <p:cNvSpPr/>
          <p:nvPr/>
        </p:nvSpPr>
        <p:spPr>
          <a:xfrm>
            <a:off x="5394960" y="1828800"/>
            <a:ext cx="3383280" cy="329184"/>
          </a:xfrm>
          <a:prstGeom prst="rect">
            <a:avLst/>
          </a:prstGeom>
          <a:solidFill>
            <a:srgbClr val="E8F8F5"/>
          </a:solidFill>
          <a:ln w="6350">
            <a:solidFill>
              <a:srgbClr val="D0DCF0"/>
            </a:solidFill>
            <a:prstDash val="solid"/>
          </a:ln>
        </p:spPr>
        <p:txBody>
          <a:bodyPr/>
          <a:lstStyle/>
          <a:p>
            <a:endParaRPr lang="en-IN"/>
          </a:p>
        </p:txBody>
      </p:sp>
      <p:sp>
        <p:nvSpPr>
          <p:cNvPr id="27" name="Text 25"/>
          <p:cNvSpPr/>
          <p:nvPr/>
        </p:nvSpPr>
        <p:spPr>
          <a:xfrm>
            <a:off x="5486400" y="1828800"/>
            <a:ext cx="3291840" cy="329184"/>
          </a:xfrm>
          <a:prstGeom prst="rect">
            <a:avLst/>
          </a:prstGeom>
          <a:noFill/>
          <a:ln/>
        </p:spPr>
        <p:txBody>
          <a:bodyPr wrap="square" lIns="0" tIns="0" rIns="0" bIns="0" rtlCol="0" anchor="ctr"/>
          <a:lstStyle/>
          <a:p>
            <a:pPr marL="0" indent="0">
              <a:buNone/>
            </a:pPr>
            <a:r>
              <a:rPr lang="en-US" sz="900" b="1" dirty="0">
                <a:solidFill>
                  <a:srgbClr val="1A6B4A"/>
                </a:solidFill>
                <a:latin typeface="Calibri" pitchFamily="34" charset="0"/>
                <a:ea typeface="Calibri" pitchFamily="34" charset="-122"/>
                <a:cs typeface="Calibri" pitchFamily="34" charset="-120"/>
              </a:rPr>
              <a:t>Full real-world spatial anchoring</a:t>
            </a:r>
            <a:endParaRPr lang="en-US" sz="900" dirty="0"/>
          </a:p>
        </p:txBody>
      </p:sp>
      <p:sp>
        <p:nvSpPr>
          <p:cNvPr id="28" name="Shape 26"/>
          <p:cNvSpPr/>
          <p:nvPr/>
        </p:nvSpPr>
        <p:spPr>
          <a:xfrm>
            <a:off x="365760" y="2157984"/>
            <a:ext cx="2194560" cy="329184"/>
          </a:xfrm>
          <a:prstGeom prst="rect">
            <a:avLst/>
          </a:prstGeom>
          <a:solidFill>
            <a:srgbClr val="EDF3FA"/>
          </a:solidFill>
          <a:ln w="6350">
            <a:solidFill>
              <a:srgbClr val="D0DCF0"/>
            </a:solidFill>
            <a:prstDash val="solid"/>
          </a:ln>
        </p:spPr>
        <p:txBody>
          <a:bodyPr/>
          <a:lstStyle/>
          <a:p>
            <a:endParaRPr lang="en-IN"/>
          </a:p>
        </p:txBody>
      </p:sp>
      <p:sp>
        <p:nvSpPr>
          <p:cNvPr id="29" name="Text 27"/>
          <p:cNvSpPr/>
          <p:nvPr/>
        </p:nvSpPr>
        <p:spPr>
          <a:xfrm>
            <a:off x="457200" y="2157984"/>
            <a:ext cx="2103120" cy="329184"/>
          </a:xfrm>
          <a:prstGeom prst="rect">
            <a:avLst/>
          </a:prstGeom>
          <a:noFill/>
          <a:ln/>
        </p:spPr>
        <p:txBody>
          <a:bodyPr wrap="square" lIns="0" tIns="0" rIns="0" bIns="0" rtlCol="0" anchor="ctr"/>
          <a:lstStyle/>
          <a:p>
            <a:pPr marL="0" indent="0">
              <a:buNone/>
            </a:pPr>
            <a:r>
              <a:rPr lang="en-US" sz="900" dirty="0">
                <a:solidFill>
                  <a:srgbClr val="1C2E4A"/>
                </a:solidFill>
                <a:latin typeface="Calibri" pitchFamily="34" charset="0"/>
                <a:ea typeface="Calibri" pitchFamily="34" charset="-122"/>
                <a:cs typeface="Calibri" pitchFamily="34" charset="-120"/>
              </a:rPr>
              <a:t>Signal Discovery</a:t>
            </a:r>
            <a:endParaRPr lang="en-US" sz="900" dirty="0"/>
          </a:p>
        </p:txBody>
      </p:sp>
      <p:sp>
        <p:nvSpPr>
          <p:cNvPr id="30" name="Shape 28"/>
          <p:cNvSpPr/>
          <p:nvPr/>
        </p:nvSpPr>
        <p:spPr>
          <a:xfrm>
            <a:off x="2560320" y="2157984"/>
            <a:ext cx="2834640" cy="329184"/>
          </a:xfrm>
          <a:prstGeom prst="rect">
            <a:avLst/>
          </a:prstGeom>
          <a:solidFill>
            <a:srgbClr val="EDF3FA"/>
          </a:solidFill>
          <a:ln w="6350">
            <a:solidFill>
              <a:srgbClr val="D0DCF0"/>
            </a:solidFill>
            <a:prstDash val="solid"/>
          </a:ln>
        </p:spPr>
        <p:txBody>
          <a:bodyPr/>
          <a:lstStyle/>
          <a:p>
            <a:endParaRPr lang="en-IN"/>
          </a:p>
        </p:txBody>
      </p:sp>
      <p:sp>
        <p:nvSpPr>
          <p:cNvPr id="31" name="Text 29"/>
          <p:cNvSpPr/>
          <p:nvPr/>
        </p:nvSpPr>
        <p:spPr>
          <a:xfrm>
            <a:off x="2651760" y="2157984"/>
            <a:ext cx="2743200" cy="329184"/>
          </a:xfrm>
          <a:prstGeom prst="rect">
            <a:avLst/>
          </a:prstGeom>
          <a:noFill/>
          <a:ln/>
        </p:spPr>
        <p:txBody>
          <a:bodyPr wrap="square" lIns="0" tIns="0" rIns="0" bIns="0" rtlCol="0" anchor="ctr"/>
          <a:lstStyle/>
          <a:p>
            <a:pPr marL="0" indent="0">
              <a:buNone/>
            </a:pPr>
            <a:r>
              <a:rPr lang="en-US" sz="900" dirty="0">
                <a:solidFill>
                  <a:srgbClr val="1C2E4A"/>
                </a:solidFill>
                <a:latin typeface="Calibri" pitchFamily="34" charset="0"/>
                <a:ea typeface="Calibri" pitchFamily="34" charset="-122"/>
                <a:cs typeface="Calibri" pitchFamily="34" charset="-120"/>
              </a:rPr>
              <a:t>Manual scan, static result</a:t>
            </a:r>
            <a:endParaRPr lang="en-US" sz="900" dirty="0"/>
          </a:p>
        </p:txBody>
      </p:sp>
      <p:sp>
        <p:nvSpPr>
          <p:cNvPr id="32" name="Shape 30"/>
          <p:cNvSpPr/>
          <p:nvPr/>
        </p:nvSpPr>
        <p:spPr>
          <a:xfrm>
            <a:off x="5394960" y="2157984"/>
            <a:ext cx="3383280" cy="329184"/>
          </a:xfrm>
          <a:prstGeom prst="rect">
            <a:avLst/>
          </a:prstGeom>
          <a:solidFill>
            <a:srgbClr val="D5F0EB"/>
          </a:solidFill>
          <a:ln w="6350">
            <a:solidFill>
              <a:srgbClr val="D0DCF0"/>
            </a:solidFill>
            <a:prstDash val="solid"/>
          </a:ln>
        </p:spPr>
        <p:txBody>
          <a:bodyPr/>
          <a:lstStyle/>
          <a:p>
            <a:endParaRPr lang="en-IN"/>
          </a:p>
        </p:txBody>
      </p:sp>
      <p:sp>
        <p:nvSpPr>
          <p:cNvPr id="33" name="Text 31"/>
          <p:cNvSpPr/>
          <p:nvPr/>
        </p:nvSpPr>
        <p:spPr>
          <a:xfrm>
            <a:off x="5486400" y="2157984"/>
            <a:ext cx="3291840" cy="329184"/>
          </a:xfrm>
          <a:prstGeom prst="rect">
            <a:avLst/>
          </a:prstGeom>
          <a:noFill/>
          <a:ln/>
        </p:spPr>
        <p:txBody>
          <a:bodyPr wrap="square" lIns="0" tIns="0" rIns="0" bIns="0" rtlCol="0" anchor="ctr"/>
          <a:lstStyle/>
          <a:p>
            <a:pPr marL="0" indent="0">
              <a:buNone/>
            </a:pPr>
            <a:r>
              <a:rPr lang="en-US" sz="900" b="1" dirty="0">
                <a:solidFill>
                  <a:srgbClr val="1A6B4A"/>
                </a:solidFill>
                <a:latin typeface="Calibri" pitchFamily="34" charset="0"/>
                <a:ea typeface="Calibri" pitchFamily="34" charset="-122"/>
                <a:cs typeface="Calibri" pitchFamily="34" charset="-120"/>
              </a:rPr>
              <a:t>Live mapping as you walk the space</a:t>
            </a:r>
            <a:endParaRPr lang="en-US" sz="900" dirty="0"/>
          </a:p>
        </p:txBody>
      </p:sp>
      <p:sp>
        <p:nvSpPr>
          <p:cNvPr id="34" name="Shape 32"/>
          <p:cNvSpPr/>
          <p:nvPr/>
        </p:nvSpPr>
        <p:spPr>
          <a:xfrm>
            <a:off x="365760" y="2487168"/>
            <a:ext cx="2194560" cy="329184"/>
          </a:xfrm>
          <a:prstGeom prst="rect">
            <a:avLst/>
          </a:prstGeom>
          <a:solidFill>
            <a:srgbClr val="FFFFFF"/>
          </a:solidFill>
          <a:ln w="6350">
            <a:solidFill>
              <a:srgbClr val="D0DCF0"/>
            </a:solidFill>
            <a:prstDash val="solid"/>
          </a:ln>
        </p:spPr>
        <p:txBody>
          <a:bodyPr/>
          <a:lstStyle/>
          <a:p>
            <a:endParaRPr lang="en-IN"/>
          </a:p>
        </p:txBody>
      </p:sp>
      <p:sp>
        <p:nvSpPr>
          <p:cNvPr id="35" name="Text 33"/>
          <p:cNvSpPr/>
          <p:nvPr/>
        </p:nvSpPr>
        <p:spPr>
          <a:xfrm>
            <a:off x="457200" y="2487168"/>
            <a:ext cx="2103120" cy="329184"/>
          </a:xfrm>
          <a:prstGeom prst="rect">
            <a:avLst/>
          </a:prstGeom>
          <a:noFill/>
          <a:ln/>
        </p:spPr>
        <p:txBody>
          <a:bodyPr wrap="square" lIns="0" tIns="0" rIns="0" bIns="0" rtlCol="0" anchor="ctr"/>
          <a:lstStyle/>
          <a:p>
            <a:pPr marL="0" indent="0">
              <a:buNone/>
            </a:pPr>
            <a:r>
              <a:rPr lang="en-US" sz="900" dirty="0">
                <a:solidFill>
                  <a:srgbClr val="1C2E4A"/>
                </a:solidFill>
                <a:latin typeface="Calibri" pitchFamily="34" charset="0"/>
                <a:ea typeface="Calibri" pitchFamily="34" charset="-122"/>
                <a:cs typeface="Calibri" pitchFamily="34" charset="-120"/>
              </a:rPr>
              <a:t>Obstacle Detection</a:t>
            </a:r>
            <a:endParaRPr lang="en-US" sz="900" dirty="0"/>
          </a:p>
        </p:txBody>
      </p:sp>
      <p:sp>
        <p:nvSpPr>
          <p:cNvPr id="36" name="Shape 34"/>
          <p:cNvSpPr/>
          <p:nvPr/>
        </p:nvSpPr>
        <p:spPr>
          <a:xfrm>
            <a:off x="2560320" y="2487168"/>
            <a:ext cx="2834640" cy="329184"/>
          </a:xfrm>
          <a:prstGeom prst="rect">
            <a:avLst/>
          </a:prstGeom>
          <a:solidFill>
            <a:srgbClr val="FFFFFF"/>
          </a:solidFill>
          <a:ln w="6350">
            <a:solidFill>
              <a:srgbClr val="D0DCF0"/>
            </a:solidFill>
            <a:prstDash val="solid"/>
          </a:ln>
        </p:spPr>
        <p:txBody>
          <a:bodyPr/>
          <a:lstStyle/>
          <a:p>
            <a:endParaRPr lang="en-IN"/>
          </a:p>
        </p:txBody>
      </p:sp>
      <p:sp>
        <p:nvSpPr>
          <p:cNvPr id="37" name="Text 35"/>
          <p:cNvSpPr/>
          <p:nvPr/>
        </p:nvSpPr>
        <p:spPr>
          <a:xfrm>
            <a:off x="2651760" y="2487168"/>
            <a:ext cx="2743200" cy="329184"/>
          </a:xfrm>
          <a:prstGeom prst="rect">
            <a:avLst/>
          </a:prstGeom>
          <a:noFill/>
          <a:ln/>
        </p:spPr>
        <p:txBody>
          <a:bodyPr wrap="square" lIns="0" tIns="0" rIns="0" bIns="0" rtlCol="0" anchor="ctr"/>
          <a:lstStyle/>
          <a:p>
            <a:pPr marL="0" indent="0">
              <a:buNone/>
            </a:pPr>
            <a:r>
              <a:rPr lang="en-US" sz="900" dirty="0">
                <a:solidFill>
                  <a:srgbClr val="1C2E4A"/>
                </a:solidFill>
                <a:latin typeface="Calibri" pitchFamily="34" charset="0"/>
                <a:ea typeface="Calibri" pitchFamily="34" charset="-122"/>
                <a:cs typeface="Calibri" pitchFamily="34" charset="-120"/>
              </a:rPr>
              <a:t>Not available anywhere</a:t>
            </a:r>
            <a:endParaRPr lang="en-US" sz="900" dirty="0"/>
          </a:p>
        </p:txBody>
      </p:sp>
      <p:sp>
        <p:nvSpPr>
          <p:cNvPr id="38" name="Shape 36"/>
          <p:cNvSpPr/>
          <p:nvPr/>
        </p:nvSpPr>
        <p:spPr>
          <a:xfrm>
            <a:off x="5394960" y="2487168"/>
            <a:ext cx="3383280" cy="329184"/>
          </a:xfrm>
          <a:prstGeom prst="rect">
            <a:avLst/>
          </a:prstGeom>
          <a:solidFill>
            <a:srgbClr val="E8F8F5"/>
          </a:solidFill>
          <a:ln w="6350">
            <a:solidFill>
              <a:srgbClr val="D0DCF0"/>
            </a:solidFill>
            <a:prstDash val="solid"/>
          </a:ln>
        </p:spPr>
        <p:txBody>
          <a:bodyPr/>
          <a:lstStyle/>
          <a:p>
            <a:endParaRPr lang="en-IN"/>
          </a:p>
        </p:txBody>
      </p:sp>
      <p:sp>
        <p:nvSpPr>
          <p:cNvPr id="39" name="Text 37"/>
          <p:cNvSpPr/>
          <p:nvPr/>
        </p:nvSpPr>
        <p:spPr>
          <a:xfrm>
            <a:off x="5486400" y="2487168"/>
            <a:ext cx="3291840" cy="329184"/>
          </a:xfrm>
          <a:prstGeom prst="rect">
            <a:avLst/>
          </a:prstGeom>
          <a:noFill/>
          <a:ln/>
        </p:spPr>
        <p:txBody>
          <a:bodyPr wrap="square" lIns="0" tIns="0" rIns="0" bIns="0" rtlCol="0" anchor="ctr"/>
          <a:lstStyle/>
          <a:p>
            <a:pPr marL="0" indent="0">
              <a:buNone/>
            </a:pPr>
            <a:r>
              <a:rPr lang="en-US" sz="900" b="1" dirty="0">
                <a:solidFill>
                  <a:srgbClr val="1A6B4A"/>
                </a:solidFill>
                <a:latin typeface="Calibri" pitchFamily="34" charset="0"/>
                <a:ea typeface="Calibri" pitchFamily="34" charset="-122"/>
                <a:cs typeface="Calibri" pitchFamily="34" charset="-120"/>
              </a:rPr>
              <a:t>Physical blockers highlighted in MR</a:t>
            </a:r>
            <a:endParaRPr lang="en-US" sz="900" dirty="0"/>
          </a:p>
        </p:txBody>
      </p:sp>
      <p:sp>
        <p:nvSpPr>
          <p:cNvPr id="40" name="Shape 38"/>
          <p:cNvSpPr/>
          <p:nvPr/>
        </p:nvSpPr>
        <p:spPr>
          <a:xfrm>
            <a:off x="365760" y="2816352"/>
            <a:ext cx="2194560" cy="329184"/>
          </a:xfrm>
          <a:prstGeom prst="rect">
            <a:avLst/>
          </a:prstGeom>
          <a:solidFill>
            <a:srgbClr val="EDF3FA"/>
          </a:solidFill>
          <a:ln w="6350">
            <a:solidFill>
              <a:srgbClr val="D0DCF0"/>
            </a:solidFill>
            <a:prstDash val="solid"/>
          </a:ln>
        </p:spPr>
        <p:txBody>
          <a:bodyPr/>
          <a:lstStyle/>
          <a:p>
            <a:endParaRPr lang="en-IN"/>
          </a:p>
        </p:txBody>
      </p:sp>
      <p:sp>
        <p:nvSpPr>
          <p:cNvPr id="41" name="Text 39"/>
          <p:cNvSpPr/>
          <p:nvPr/>
        </p:nvSpPr>
        <p:spPr>
          <a:xfrm>
            <a:off x="457200" y="2816352"/>
            <a:ext cx="2103120" cy="329184"/>
          </a:xfrm>
          <a:prstGeom prst="rect">
            <a:avLst/>
          </a:prstGeom>
          <a:noFill/>
          <a:ln/>
        </p:spPr>
        <p:txBody>
          <a:bodyPr wrap="square" lIns="0" tIns="0" rIns="0" bIns="0" rtlCol="0" anchor="ctr"/>
          <a:lstStyle/>
          <a:p>
            <a:pPr marL="0" indent="0">
              <a:buNone/>
            </a:pPr>
            <a:r>
              <a:rPr lang="en-US" sz="900" dirty="0">
                <a:solidFill>
                  <a:srgbClr val="1C2E4A"/>
                </a:solidFill>
                <a:latin typeface="Calibri" pitchFamily="34" charset="0"/>
                <a:ea typeface="Calibri" pitchFamily="34" charset="-122"/>
                <a:cs typeface="Calibri" pitchFamily="34" charset="-120"/>
              </a:rPr>
              <a:t>Interference View</a:t>
            </a:r>
            <a:endParaRPr lang="en-US" sz="900" dirty="0"/>
          </a:p>
        </p:txBody>
      </p:sp>
      <p:sp>
        <p:nvSpPr>
          <p:cNvPr id="42" name="Shape 40"/>
          <p:cNvSpPr/>
          <p:nvPr/>
        </p:nvSpPr>
        <p:spPr>
          <a:xfrm>
            <a:off x="2560320" y="2816352"/>
            <a:ext cx="2834640" cy="329184"/>
          </a:xfrm>
          <a:prstGeom prst="rect">
            <a:avLst/>
          </a:prstGeom>
          <a:solidFill>
            <a:srgbClr val="EDF3FA"/>
          </a:solidFill>
          <a:ln w="6350">
            <a:solidFill>
              <a:srgbClr val="D0DCF0"/>
            </a:solidFill>
            <a:prstDash val="solid"/>
          </a:ln>
        </p:spPr>
        <p:txBody>
          <a:bodyPr/>
          <a:lstStyle/>
          <a:p>
            <a:endParaRPr lang="en-IN"/>
          </a:p>
        </p:txBody>
      </p:sp>
      <p:sp>
        <p:nvSpPr>
          <p:cNvPr id="43" name="Text 41"/>
          <p:cNvSpPr/>
          <p:nvPr/>
        </p:nvSpPr>
        <p:spPr>
          <a:xfrm>
            <a:off x="2651760" y="2816352"/>
            <a:ext cx="2743200" cy="329184"/>
          </a:xfrm>
          <a:prstGeom prst="rect">
            <a:avLst/>
          </a:prstGeom>
          <a:noFill/>
          <a:ln/>
        </p:spPr>
        <p:txBody>
          <a:bodyPr wrap="square" lIns="0" tIns="0" rIns="0" bIns="0" rtlCol="0" anchor="ctr"/>
          <a:lstStyle/>
          <a:p>
            <a:pPr marL="0" indent="0">
              <a:buNone/>
            </a:pPr>
            <a:r>
              <a:rPr lang="en-US" sz="900" dirty="0">
                <a:solidFill>
                  <a:srgbClr val="1C2E4A"/>
                </a:solidFill>
                <a:latin typeface="Calibri" pitchFamily="34" charset="0"/>
                <a:ea typeface="Calibri" pitchFamily="34" charset="-122"/>
                <a:cs typeface="Calibri" pitchFamily="34" charset="-120"/>
              </a:rPr>
              <a:t>Channel numbers on graph</a:t>
            </a:r>
            <a:endParaRPr lang="en-US" sz="900" dirty="0"/>
          </a:p>
        </p:txBody>
      </p:sp>
      <p:sp>
        <p:nvSpPr>
          <p:cNvPr id="44" name="Shape 42"/>
          <p:cNvSpPr/>
          <p:nvPr/>
        </p:nvSpPr>
        <p:spPr>
          <a:xfrm>
            <a:off x="5394960" y="2816352"/>
            <a:ext cx="3383280" cy="329184"/>
          </a:xfrm>
          <a:prstGeom prst="rect">
            <a:avLst/>
          </a:prstGeom>
          <a:solidFill>
            <a:srgbClr val="D5F0EB"/>
          </a:solidFill>
          <a:ln w="6350">
            <a:solidFill>
              <a:srgbClr val="D0DCF0"/>
            </a:solidFill>
            <a:prstDash val="solid"/>
          </a:ln>
        </p:spPr>
        <p:txBody>
          <a:bodyPr/>
          <a:lstStyle/>
          <a:p>
            <a:endParaRPr lang="en-IN"/>
          </a:p>
        </p:txBody>
      </p:sp>
      <p:sp>
        <p:nvSpPr>
          <p:cNvPr id="45" name="Text 43"/>
          <p:cNvSpPr/>
          <p:nvPr/>
        </p:nvSpPr>
        <p:spPr>
          <a:xfrm>
            <a:off x="5486400" y="2816352"/>
            <a:ext cx="3291840" cy="329184"/>
          </a:xfrm>
          <a:prstGeom prst="rect">
            <a:avLst/>
          </a:prstGeom>
          <a:noFill/>
          <a:ln/>
        </p:spPr>
        <p:txBody>
          <a:bodyPr wrap="square" lIns="0" tIns="0" rIns="0" bIns="0" rtlCol="0" anchor="ctr"/>
          <a:lstStyle/>
          <a:p>
            <a:pPr marL="0" indent="0">
              <a:buNone/>
            </a:pPr>
            <a:r>
              <a:rPr lang="en-US" sz="900" b="1" dirty="0">
                <a:solidFill>
                  <a:srgbClr val="1A6B4A"/>
                </a:solidFill>
                <a:latin typeface="Calibri" pitchFamily="34" charset="0"/>
                <a:ea typeface="Calibri" pitchFamily="34" charset="-122"/>
                <a:cs typeface="Calibri" pitchFamily="34" charset="-120"/>
              </a:rPr>
              <a:t>Orange clusters visible in your room</a:t>
            </a:r>
            <a:endParaRPr lang="en-US" sz="900" dirty="0"/>
          </a:p>
        </p:txBody>
      </p:sp>
      <p:sp>
        <p:nvSpPr>
          <p:cNvPr id="46" name="Shape 44"/>
          <p:cNvSpPr/>
          <p:nvPr/>
        </p:nvSpPr>
        <p:spPr>
          <a:xfrm>
            <a:off x="365760" y="3145536"/>
            <a:ext cx="2194560" cy="329184"/>
          </a:xfrm>
          <a:prstGeom prst="rect">
            <a:avLst/>
          </a:prstGeom>
          <a:solidFill>
            <a:srgbClr val="FFFFFF"/>
          </a:solidFill>
          <a:ln w="6350">
            <a:solidFill>
              <a:srgbClr val="D0DCF0"/>
            </a:solidFill>
            <a:prstDash val="solid"/>
          </a:ln>
        </p:spPr>
        <p:txBody>
          <a:bodyPr/>
          <a:lstStyle/>
          <a:p>
            <a:endParaRPr lang="en-IN"/>
          </a:p>
        </p:txBody>
      </p:sp>
      <p:sp>
        <p:nvSpPr>
          <p:cNvPr id="47" name="Text 45"/>
          <p:cNvSpPr/>
          <p:nvPr/>
        </p:nvSpPr>
        <p:spPr>
          <a:xfrm>
            <a:off x="457200" y="3145536"/>
            <a:ext cx="2103120" cy="329184"/>
          </a:xfrm>
          <a:prstGeom prst="rect">
            <a:avLst/>
          </a:prstGeom>
          <a:noFill/>
          <a:ln/>
        </p:spPr>
        <p:txBody>
          <a:bodyPr wrap="square" lIns="0" tIns="0" rIns="0" bIns="0" rtlCol="0" anchor="ctr"/>
          <a:lstStyle/>
          <a:p>
            <a:pPr marL="0" indent="0">
              <a:buNone/>
            </a:pPr>
            <a:r>
              <a:rPr lang="en-US" sz="900" dirty="0">
                <a:solidFill>
                  <a:srgbClr val="1C2E4A"/>
                </a:solidFill>
                <a:latin typeface="Calibri" pitchFamily="34" charset="0"/>
                <a:ea typeface="Calibri" pitchFamily="34" charset="-122"/>
                <a:cs typeface="Calibri" pitchFamily="34" charset="-120"/>
              </a:rPr>
              <a:t>Fix Guidance</a:t>
            </a:r>
            <a:endParaRPr lang="en-US" sz="900" dirty="0"/>
          </a:p>
        </p:txBody>
      </p:sp>
      <p:sp>
        <p:nvSpPr>
          <p:cNvPr id="48" name="Shape 46"/>
          <p:cNvSpPr/>
          <p:nvPr/>
        </p:nvSpPr>
        <p:spPr>
          <a:xfrm>
            <a:off x="2560320" y="3145536"/>
            <a:ext cx="2834640" cy="329184"/>
          </a:xfrm>
          <a:prstGeom prst="rect">
            <a:avLst/>
          </a:prstGeom>
          <a:solidFill>
            <a:srgbClr val="FFFFFF"/>
          </a:solidFill>
          <a:ln w="6350">
            <a:solidFill>
              <a:srgbClr val="D0DCF0"/>
            </a:solidFill>
            <a:prstDash val="solid"/>
          </a:ln>
        </p:spPr>
        <p:txBody>
          <a:bodyPr/>
          <a:lstStyle/>
          <a:p>
            <a:endParaRPr lang="en-IN"/>
          </a:p>
        </p:txBody>
      </p:sp>
      <p:sp>
        <p:nvSpPr>
          <p:cNvPr id="49" name="Text 47"/>
          <p:cNvSpPr/>
          <p:nvPr/>
        </p:nvSpPr>
        <p:spPr>
          <a:xfrm>
            <a:off x="2651760" y="3145536"/>
            <a:ext cx="2743200" cy="329184"/>
          </a:xfrm>
          <a:prstGeom prst="rect">
            <a:avLst/>
          </a:prstGeom>
          <a:noFill/>
          <a:ln/>
        </p:spPr>
        <p:txBody>
          <a:bodyPr wrap="square" lIns="0" tIns="0" rIns="0" bIns="0" rtlCol="0" anchor="ctr"/>
          <a:lstStyle/>
          <a:p>
            <a:pPr marL="0" indent="0">
              <a:buNone/>
            </a:pPr>
            <a:r>
              <a:rPr lang="en-US" sz="900" dirty="0">
                <a:solidFill>
                  <a:srgbClr val="1C2E4A"/>
                </a:solidFill>
                <a:latin typeface="Calibri" pitchFamily="34" charset="0"/>
                <a:ea typeface="Calibri" pitchFamily="34" charset="-122"/>
                <a:cs typeface="Calibri" pitchFamily="34" charset="-120"/>
              </a:rPr>
              <a:t>Technical config needed</a:t>
            </a:r>
            <a:endParaRPr lang="en-US" sz="900" dirty="0"/>
          </a:p>
        </p:txBody>
      </p:sp>
      <p:sp>
        <p:nvSpPr>
          <p:cNvPr id="50" name="Shape 48"/>
          <p:cNvSpPr/>
          <p:nvPr/>
        </p:nvSpPr>
        <p:spPr>
          <a:xfrm>
            <a:off x="5394960" y="3145536"/>
            <a:ext cx="3383280" cy="329184"/>
          </a:xfrm>
          <a:prstGeom prst="rect">
            <a:avLst/>
          </a:prstGeom>
          <a:solidFill>
            <a:srgbClr val="E8F8F5"/>
          </a:solidFill>
          <a:ln w="6350">
            <a:solidFill>
              <a:srgbClr val="D0DCF0"/>
            </a:solidFill>
            <a:prstDash val="solid"/>
          </a:ln>
        </p:spPr>
        <p:txBody>
          <a:bodyPr/>
          <a:lstStyle/>
          <a:p>
            <a:endParaRPr lang="en-IN"/>
          </a:p>
        </p:txBody>
      </p:sp>
      <p:sp>
        <p:nvSpPr>
          <p:cNvPr id="51" name="Text 49"/>
          <p:cNvSpPr/>
          <p:nvPr/>
        </p:nvSpPr>
        <p:spPr>
          <a:xfrm>
            <a:off x="5486400" y="3145536"/>
            <a:ext cx="3291840" cy="329184"/>
          </a:xfrm>
          <a:prstGeom prst="rect">
            <a:avLst/>
          </a:prstGeom>
          <a:noFill/>
          <a:ln/>
        </p:spPr>
        <p:txBody>
          <a:bodyPr wrap="square" lIns="0" tIns="0" rIns="0" bIns="0" rtlCol="0" anchor="ctr"/>
          <a:lstStyle/>
          <a:p>
            <a:pPr marL="0" indent="0">
              <a:buNone/>
            </a:pPr>
            <a:r>
              <a:rPr lang="en-US" sz="900" b="1" dirty="0">
                <a:solidFill>
                  <a:srgbClr val="1A6B4A"/>
                </a:solidFill>
                <a:latin typeface="Calibri" pitchFamily="34" charset="0"/>
                <a:ea typeface="Calibri" pitchFamily="34" charset="-122"/>
                <a:cs typeface="Calibri" pitchFamily="34" charset="-120"/>
              </a:rPr>
              <a:t>Plain-language, visual, real-time guidance</a:t>
            </a:r>
            <a:endParaRPr lang="en-US" sz="900" dirty="0"/>
          </a:p>
        </p:txBody>
      </p:sp>
      <p:sp>
        <p:nvSpPr>
          <p:cNvPr id="52" name="Shape 50"/>
          <p:cNvSpPr/>
          <p:nvPr/>
        </p:nvSpPr>
        <p:spPr>
          <a:xfrm>
            <a:off x="365760" y="3474720"/>
            <a:ext cx="2194560" cy="329184"/>
          </a:xfrm>
          <a:prstGeom prst="rect">
            <a:avLst/>
          </a:prstGeom>
          <a:solidFill>
            <a:srgbClr val="EDF3FA"/>
          </a:solidFill>
          <a:ln w="6350">
            <a:solidFill>
              <a:srgbClr val="D0DCF0"/>
            </a:solidFill>
            <a:prstDash val="solid"/>
          </a:ln>
        </p:spPr>
        <p:txBody>
          <a:bodyPr/>
          <a:lstStyle/>
          <a:p>
            <a:endParaRPr lang="en-IN"/>
          </a:p>
        </p:txBody>
      </p:sp>
      <p:sp>
        <p:nvSpPr>
          <p:cNvPr id="53" name="Text 51"/>
          <p:cNvSpPr/>
          <p:nvPr/>
        </p:nvSpPr>
        <p:spPr>
          <a:xfrm>
            <a:off x="457200" y="3474720"/>
            <a:ext cx="2103120" cy="329184"/>
          </a:xfrm>
          <a:prstGeom prst="rect">
            <a:avLst/>
          </a:prstGeom>
          <a:noFill/>
          <a:ln/>
        </p:spPr>
        <p:txBody>
          <a:bodyPr wrap="square" lIns="0" tIns="0" rIns="0" bIns="0" rtlCol="0" anchor="ctr"/>
          <a:lstStyle/>
          <a:p>
            <a:pPr marL="0" indent="0">
              <a:buNone/>
            </a:pPr>
            <a:r>
              <a:rPr lang="en-US" sz="900" dirty="0">
                <a:solidFill>
                  <a:srgbClr val="1C2E4A"/>
                </a:solidFill>
                <a:latin typeface="Calibri" pitchFamily="34" charset="0"/>
                <a:ea typeface="Calibri" pitchFamily="34" charset="-122"/>
                <a:cs typeface="Calibri" pitchFamily="34" charset="-120"/>
              </a:rPr>
              <a:t>Education Use</a:t>
            </a:r>
            <a:endParaRPr lang="en-US" sz="900" dirty="0"/>
          </a:p>
        </p:txBody>
      </p:sp>
      <p:sp>
        <p:nvSpPr>
          <p:cNvPr id="54" name="Shape 52"/>
          <p:cNvSpPr/>
          <p:nvPr/>
        </p:nvSpPr>
        <p:spPr>
          <a:xfrm>
            <a:off x="2560320" y="3474720"/>
            <a:ext cx="2834640" cy="329184"/>
          </a:xfrm>
          <a:prstGeom prst="rect">
            <a:avLst/>
          </a:prstGeom>
          <a:solidFill>
            <a:srgbClr val="EDF3FA"/>
          </a:solidFill>
          <a:ln w="6350">
            <a:solidFill>
              <a:srgbClr val="D0DCF0"/>
            </a:solidFill>
            <a:prstDash val="solid"/>
          </a:ln>
        </p:spPr>
        <p:txBody>
          <a:bodyPr/>
          <a:lstStyle/>
          <a:p>
            <a:endParaRPr lang="en-IN"/>
          </a:p>
        </p:txBody>
      </p:sp>
      <p:sp>
        <p:nvSpPr>
          <p:cNvPr id="55" name="Text 53"/>
          <p:cNvSpPr/>
          <p:nvPr/>
        </p:nvSpPr>
        <p:spPr>
          <a:xfrm>
            <a:off x="2651760" y="3474720"/>
            <a:ext cx="2743200" cy="329184"/>
          </a:xfrm>
          <a:prstGeom prst="rect">
            <a:avLst/>
          </a:prstGeom>
          <a:noFill/>
          <a:ln/>
        </p:spPr>
        <p:txBody>
          <a:bodyPr wrap="square" lIns="0" tIns="0" rIns="0" bIns="0" rtlCol="0" anchor="ctr"/>
          <a:lstStyle/>
          <a:p>
            <a:pPr marL="0" indent="0">
              <a:buNone/>
            </a:pPr>
            <a:r>
              <a:rPr lang="en-US" sz="900" dirty="0">
                <a:solidFill>
                  <a:srgbClr val="1C2E4A"/>
                </a:solidFill>
                <a:latin typeface="Calibri" pitchFamily="34" charset="0"/>
                <a:ea typeface="Calibri" pitchFamily="34" charset="-122"/>
                <a:cs typeface="Calibri" pitchFamily="34" charset="-120"/>
              </a:rPr>
              <a:t>Not designed for it</a:t>
            </a:r>
            <a:endParaRPr lang="en-US" sz="900" dirty="0"/>
          </a:p>
        </p:txBody>
      </p:sp>
      <p:sp>
        <p:nvSpPr>
          <p:cNvPr id="56" name="Shape 54"/>
          <p:cNvSpPr/>
          <p:nvPr/>
        </p:nvSpPr>
        <p:spPr>
          <a:xfrm>
            <a:off x="5394960" y="3474720"/>
            <a:ext cx="3383280" cy="329184"/>
          </a:xfrm>
          <a:prstGeom prst="rect">
            <a:avLst/>
          </a:prstGeom>
          <a:solidFill>
            <a:srgbClr val="D5F0EB"/>
          </a:solidFill>
          <a:ln w="6350">
            <a:solidFill>
              <a:srgbClr val="D0DCF0"/>
            </a:solidFill>
            <a:prstDash val="solid"/>
          </a:ln>
        </p:spPr>
        <p:txBody>
          <a:bodyPr/>
          <a:lstStyle/>
          <a:p>
            <a:endParaRPr lang="en-IN"/>
          </a:p>
        </p:txBody>
      </p:sp>
      <p:sp>
        <p:nvSpPr>
          <p:cNvPr id="57" name="Text 55"/>
          <p:cNvSpPr/>
          <p:nvPr/>
        </p:nvSpPr>
        <p:spPr>
          <a:xfrm>
            <a:off x="5486400" y="3474720"/>
            <a:ext cx="3291840" cy="329184"/>
          </a:xfrm>
          <a:prstGeom prst="rect">
            <a:avLst/>
          </a:prstGeom>
          <a:noFill/>
          <a:ln/>
        </p:spPr>
        <p:txBody>
          <a:bodyPr wrap="square" lIns="0" tIns="0" rIns="0" bIns="0" rtlCol="0" anchor="ctr"/>
          <a:lstStyle/>
          <a:p>
            <a:pPr marL="0" indent="0">
              <a:buNone/>
            </a:pPr>
            <a:r>
              <a:rPr lang="en-US" sz="900" b="1" dirty="0">
                <a:solidFill>
                  <a:srgbClr val="1A6B4A"/>
                </a:solidFill>
                <a:latin typeface="Calibri" pitchFamily="34" charset="0"/>
                <a:ea typeface="Calibri" pitchFamily="34" charset="-122"/>
                <a:cs typeface="Calibri" pitchFamily="34" charset="-120"/>
              </a:rPr>
              <a:t>Dedicated interactive education mode</a:t>
            </a:r>
            <a:endParaRPr lang="en-US" sz="900" dirty="0"/>
          </a:p>
        </p:txBody>
      </p:sp>
      <p:sp>
        <p:nvSpPr>
          <p:cNvPr id="59" name="Text 57"/>
          <p:cNvSpPr/>
          <p:nvPr/>
        </p:nvSpPr>
        <p:spPr>
          <a:xfrm>
            <a:off x="457200" y="3803904"/>
            <a:ext cx="2103120" cy="329184"/>
          </a:xfrm>
          <a:prstGeom prst="rect">
            <a:avLst/>
          </a:prstGeom>
          <a:noFill/>
          <a:ln/>
        </p:spPr>
        <p:txBody>
          <a:bodyPr wrap="square" lIns="0" tIns="0" rIns="0" bIns="0" rtlCol="0" anchor="ctr"/>
          <a:lstStyle/>
          <a:p>
            <a:pPr marL="0" indent="0">
              <a:buNone/>
            </a:pPr>
            <a:endParaRPr lang="en-US" sz="900" dirty="0"/>
          </a:p>
        </p:txBody>
      </p:sp>
      <p:sp>
        <p:nvSpPr>
          <p:cNvPr id="64" name="Shape 62"/>
          <p:cNvSpPr/>
          <p:nvPr/>
        </p:nvSpPr>
        <p:spPr>
          <a:xfrm>
            <a:off x="0" y="4864608"/>
            <a:ext cx="9144000" cy="274320"/>
          </a:xfrm>
          <a:prstGeom prst="rect">
            <a:avLst/>
          </a:prstGeom>
          <a:solidFill>
            <a:srgbClr val="0D1B3E"/>
          </a:solidFill>
          <a:ln w="12700">
            <a:solidFill>
              <a:srgbClr val="0D1B3E"/>
            </a:solidFill>
            <a:prstDash val="solid"/>
          </a:ln>
        </p:spPr>
        <p:txBody>
          <a:bodyPr/>
          <a:lstStyle/>
          <a:p>
            <a:endParaRPr lang="en-IN"/>
          </a:p>
        </p:txBody>
      </p:sp>
      <p:sp>
        <p:nvSpPr>
          <p:cNvPr id="65" name="Text 63"/>
          <p:cNvSpPr/>
          <p:nvPr/>
        </p:nvSpPr>
        <p:spPr>
          <a:xfrm>
            <a:off x="274320" y="4873752"/>
            <a:ext cx="7772400" cy="256032"/>
          </a:xfrm>
          <a:prstGeom prst="rect">
            <a:avLst/>
          </a:prstGeom>
          <a:noFill/>
          <a:ln/>
        </p:spPr>
        <p:txBody>
          <a:bodyPr wrap="square" rtlCol="0" anchor="ctr"/>
          <a:lstStyle/>
          <a:p>
            <a:r>
              <a:rPr lang="en-US" sz="800" dirty="0">
                <a:solidFill>
                  <a:srgbClr val="8BA0BF"/>
                </a:solidFill>
                <a:latin typeface="Calibri" pitchFamily="34" charset="0"/>
                <a:ea typeface="Calibri" pitchFamily="34" charset="-122"/>
                <a:cs typeface="Calibri" pitchFamily="34" charset="-120"/>
              </a:rPr>
              <a:t>Drishti XR ·  Wireless Signal Mapping &amp; Visualization for Everyone</a:t>
            </a:r>
            <a:endParaRPr lang="en-US" sz="800" dirty="0"/>
          </a:p>
        </p:txBody>
      </p:sp>
      <p:sp>
        <p:nvSpPr>
          <p:cNvPr id="66" name="Text 64"/>
          <p:cNvSpPr/>
          <p:nvPr/>
        </p:nvSpPr>
        <p:spPr>
          <a:xfrm>
            <a:off x="8412480" y="4873752"/>
            <a:ext cx="548640" cy="256032"/>
          </a:xfrm>
          <a:prstGeom prst="rect">
            <a:avLst/>
          </a:prstGeom>
          <a:noFill/>
          <a:ln/>
        </p:spPr>
        <p:txBody>
          <a:bodyPr wrap="square" rtlCol="0" anchor="ctr"/>
          <a:lstStyle/>
          <a:p>
            <a:pPr marL="0" indent="0" algn="r">
              <a:buNone/>
            </a:pPr>
            <a:r>
              <a:rPr lang="en-US" sz="800" dirty="0">
                <a:solidFill>
                  <a:srgbClr val="8BA0BF"/>
                </a:solidFill>
                <a:latin typeface="Calibri" pitchFamily="34" charset="0"/>
                <a:ea typeface="Calibri" pitchFamily="34" charset="-122"/>
                <a:cs typeface="Calibri" pitchFamily="34" charset="-120"/>
              </a:rPr>
              <a:t>8 / 12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365760" y="182880"/>
            <a:ext cx="54864" cy="502920"/>
          </a:xfrm>
          <a:prstGeom prst="rect">
            <a:avLst/>
          </a:prstGeom>
          <a:solidFill>
            <a:srgbClr val="00A8CC"/>
          </a:solidFill>
          <a:ln w="12700">
            <a:solidFill>
              <a:srgbClr val="00A8CC"/>
            </a:solidFill>
            <a:prstDash val="solid"/>
          </a:ln>
        </p:spPr>
        <p:txBody>
          <a:bodyPr/>
          <a:lstStyle/>
          <a:p>
            <a:endParaRPr lang="en-IN"/>
          </a:p>
        </p:txBody>
      </p:sp>
      <p:sp>
        <p:nvSpPr>
          <p:cNvPr id="3" name="Text 1"/>
          <p:cNvSpPr/>
          <p:nvPr/>
        </p:nvSpPr>
        <p:spPr>
          <a:xfrm>
            <a:off x="502920" y="164592"/>
            <a:ext cx="8229600" cy="548640"/>
          </a:xfrm>
          <a:prstGeom prst="rect">
            <a:avLst/>
          </a:prstGeom>
          <a:noFill/>
          <a:ln/>
        </p:spPr>
        <p:txBody>
          <a:bodyPr wrap="square" lIns="0" tIns="0" rIns="0" bIns="0" rtlCol="0" anchor="ctr"/>
          <a:lstStyle/>
          <a:p>
            <a:pPr marL="0" indent="0">
              <a:buNone/>
            </a:pPr>
            <a:r>
              <a:rPr lang="en-US" sz="1100" b="1" dirty="0">
                <a:solidFill>
                  <a:srgbClr val="00A8CC"/>
                </a:solidFill>
                <a:latin typeface="Calibri" pitchFamily="34" charset="0"/>
                <a:ea typeface="Calibri" pitchFamily="34" charset="-122"/>
                <a:cs typeface="Calibri" pitchFamily="34" charset="-120"/>
              </a:rPr>
              <a:t>8.  Proposed Methodology</a:t>
            </a:r>
            <a:endParaRPr lang="en-US" sz="1100" dirty="0"/>
          </a:p>
        </p:txBody>
      </p:sp>
      <p:sp>
        <p:nvSpPr>
          <p:cNvPr id="4" name="Text 2"/>
          <p:cNvSpPr/>
          <p:nvPr/>
        </p:nvSpPr>
        <p:spPr>
          <a:xfrm>
            <a:off x="365760" y="749808"/>
            <a:ext cx="8412480" cy="475488"/>
          </a:xfrm>
          <a:prstGeom prst="rect">
            <a:avLst/>
          </a:prstGeom>
          <a:noFill/>
          <a:ln/>
        </p:spPr>
        <p:txBody>
          <a:bodyPr wrap="square" lIns="0" tIns="0" rIns="0" bIns="0" rtlCol="0" anchor="ctr"/>
          <a:lstStyle/>
          <a:p>
            <a:pPr marL="0" indent="0">
              <a:buNone/>
            </a:pPr>
            <a:r>
              <a:rPr lang="en-US" sz="2600" b="1" dirty="0">
                <a:solidFill>
                  <a:srgbClr val="1C2E4A"/>
                </a:solidFill>
                <a:latin typeface="Calibri" pitchFamily="34" charset="0"/>
                <a:ea typeface="Calibri" pitchFamily="34" charset="-122"/>
                <a:cs typeface="Calibri" pitchFamily="34" charset="-120"/>
              </a:rPr>
              <a:t>How It Works Inside</a:t>
            </a:r>
            <a:endParaRPr lang="en-US" sz="2600" dirty="0"/>
          </a:p>
        </p:txBody>
      </p:sp>
      <p:sp>
        <p:nvSpPr>
          <p:cNvPr id="5" name="Shape 3"/>
          <p:cNvSpPr/>
          <p:nvPr/>
        </p:nvSpPr>
        <p:spPr>
          <a:xfrm>
            <a:off x="365760" y="1316736"/>
            <a:ext cx="4160520" cy="171907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6" name="Shape 4"/>
          <p:cNvSpPr/>
          <p:nvPr/>
        </p:nvSpPr>
        <p:spPr>
          <a:xfrm>
            <a:off x="365760" y="1316736"/>
            <a:ext cx="4160520" cy="329184"/>
          </a:xfrm>
          <a:prstGeom prst="rect">
            <a:avLst/>
          </a:prstGeom>
          <a:solidFill>
            <a:srgbClr val="00A8CC"/>
          </a:solidFill>
          <a:ln w="12700">
            <a:solidFill>
              <a:srgbClr val="00A8CC"/>
            </a:solidFill>
            <a:prstDash val="solid"/>
          </a:ln>
        </p:spPr>
        <p:txBody>
          <a:bodyPr/>
          <a:lstStyle/>
          <a:p>
            <a:endParaRPr lang="en-IN"/>
          </a:p>
        </p:txBody>
      </p:sp>
      <p:sp>
        <p:nvSpPr>
          <p:cNvPr id="7" name="Text 5"/>
          <p:cNvSpPr/>
          <p:nvPr/>
        </p:nvSpPr>
        <p:spPr>
          <a:xfrm>
            <a:off x="475488" y="1316736"/>
            <a:ext cx="3931920" cy="32918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Phase 1 — Signal Collection</a:t>
            </a:r>
            <a:endParaRPr lang="en-US" sz="1000" dirty="0"/>
          </a:p>
        </p:txBody>
      </p:sp>
      <p:sp>
        <p:nvSpPr>
          <p:cNvPr id="8" name="Text 6"/>
          <p:cNvSpPr/>
          <p:nvPr/>
        </p:nvSpPr>
        <p:spPr>
          <a:xfrm>
            <a:off x="502920" y="1682496"/>
            <a:ext cx="3931920" cy="1298448"/>
          </a:xfrm>
          <a:prstGeom prst="rect">
            <a:avLst/>
          </a:prstGeom>
          <a:noFill/>
          <a:ln/>
        </p:spPr>
        <p:txBody>
          <a:bodyPr wrap="square" rtlCol="0" anchor="ctr"/>
          <a:lstStyle/>
          <a:p>
            <a:pPr marL="342900" indent="-342900">
              <a:lnSpc>
                <a:spcPct val="120000"/>
              </a:lnSpc>
              <a:spcAft>
                <a:spcPts val="300"/>
              </a:spcAft>
              <a:buSzPct val="100000"/>
              <a:buChar char="•"/>
            </a:pPr>
            <a:r>
              <a:rPr lang="en-US" sz="850" dirty="0">
                <a:solidFill>
                  <a:srgbClr val="4A6080"/>
                </a:solidFill>
                <a:latin typeface="Calibri" pitchFamily="34" charset="0"/>
                <a:ea typeface="Calibri" pitchFamily="34" charset="-122"/>
                <a:cs typeface="Calibri" pitchFamily="34" charset="-120"/>
              </a:rPr>
              <a:t>User opens the app and begins walking through the target space</a:t>
            </a:r>
            <a:endParaRPr lang="en-US" sz="850" dirty="0"/>
          </a:p>
          <a:p>
            <a:pPr marL="342900" indent="-342900">
              <a:lnSpc>
                <a:spcPct val="120000"/>
              </a:lnSpc>
              <a:spcAft>
                <a:spcPts val="300"/>
              </a:spcAft>
              <a:buSzPct val="100000"/>
              <a:buChar char="•"/>
            </a:pPr>
            <a:r>
              <a:rPr lang="en-US" sz="850" dirty="0">
                <a:solidFill>
                  <a:srgbClr val="4A6080"/>
                </a:solidFill>
                <a:latin typeface="Calibri" pitchFamily="34" charset="0"/>
                <a:ea typeface="Calibri" pitchFamily="34" charset="-122"/>
                <a:cs typeface="Calibri" pitchFamily="34" charset="-120"/>
              </a:rPr>
              <a:t>Phone continuously reads RSSI from surrounding WiFi and 5G networks</a:t>
            </a:r>
            <a:endParaRPr lang="en-US" sz="850" dirty="0"/>
          </a:p>
          <a:p>
            <a:pPr marL="342900" indent="-342900">
              <a:lnSpc>
                <a:spcPct val="120000"/>
              </a:lnSpc>
              <a:spcAft>
                <a:spcPts val="300"/>
              </a:spcAft>
              <a:buSzPct val="100000"/>
              <a:buChar char="•"/>
            </a:pPr>
            <a:r>
              <a:rPr lang="en-US" sz="850" dirty="0">
                <a:solidFill>
                  <a:srgbClr val="4A6080"/>
                </a:solidFill>
                <a:latin typeface="Calibri" pitchFamily="34" charset="0"/>
                <a:ea typeface="Calibri" pitchFamily="34" charset="-122"/>
                <a:cs typeface="Calibri" pitchFamily="34" charset="-120"/>
              </a:rPr>
              <a:t>Phone's built-in sensors (accelerometer, gyroscope, compass) track movement and direction</a:t>
            </a:r>
            <a:endParaRPr lang="en-US" sz="850" dirty="0"/>
          </a:p>
          <a:p>
            <a:pPr marL="342900" indent="-342900">
              <a:lnSpc>
                <a:spcPct val="120000"/>
              </a:lnSpc>
              <a:spcAft>
                <a:spcPts val="300"/>
              </a:spcAft>
              <a:buSzPct val="100000"/>
              <a:buChar char="•"/>
            </a:pPr>
            <a:r>
              <a:rPr lang="en-US" sz="850" dirty="0">
                <a:solidFill>
                  <a:srgbClr val="4A6080"/>
                </a:solidFill>
                <a:latin typeface="Calibri" pitchFamily="34" charset="0"/>
                <a:ea typeface="Calibri" pitchFamily="34" charset="-122"/>
                <a:cs typeface="Calibri" pitchFamily="34" charset="-120"/>
              </a:rPr>
              <a:t>Each RSSI reading is tagged with a relative spatial position to build a coordinate-linked signal map</a:t>
            </a:r>
            <a:endParaRPr lang="en-US" sz="850" dirty="0"/>
          </a:p>
        </p:txBody>
      </p:sp>
      <p:sp>
        <p:nvSpPr>
          <p:cNvPr id="9" name="Shape 7"/>
          <p:cNvSpPr/>
          <p:nvPr/>
        </p:nvSpPr>
        <p:spPr>
          <a:xfrm>
            <a:off x="365760" y="3145536"/>
            <a:ext cx="4160520" cy="171907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0" name="Shape 8"/>
          <p:cNvSpPr/>
          <p:nvPr/>
        </p:nvSpPr>
        <p:spPr>
          <a:xfrm>
            <a:off x="365760" y="3145536"/>
            <a:ext cx="4160520" cy="329184"/>
          </a:xfrm>
          <a:prstGeom prst="rect">
            <a:avLst/>
          </a:prstGeom>
          <a:solidFill>
            <a:srgbClr val="2C3E6B"/>
          </a:solidFill>
          <a:ln w="12700">
            <a:solidFill>
              <a:srgbClr val="2C3E6B"/>
            </a:solidFill>
            <a:prstDash val="solid"/>
          </a:ln>
        </p:spPr>
        <p:txBody>
          <a:bodyPr/>
          <a:lstStyle/>
          <a:p>
            <a:endParaRPr lang="en-IN"/>
          </a:p>
        </p:txBody>
      </p:sp>
      <p:sp>
        <p:nvSpPr>
          <p:cNvPr id="11" name="Text 9"/>
          <p:cNvSpPr/>
          <p:nvPr/>
        </p:nvSpPr>
        <p:spPr>
          <a:xfrm>
            <a:off x="475488" y="3145536"/>
            <a:ext cx="3931920" cy="32918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Phase 2 — Mapping &amp; Analysis</a:t>
            </a:r>
            <a:endParaRPr lang="en-US" sz="1000" dirty="0"/>
          </a:p>
        </p:txBody>
      </p:sp>
      <p:sp>
        <p:nvSpPr>
          <p:cNvPr id="12" name="Text 10"/>
          <p:cNvSpPr/>
          <p:nvPr/>
        </p:nvSpPr>
        <p:spPr>
          <a:xfrm>
            <a:off x="502920" y="3511296"/>
            <a:ext cx="3931920" cy="1298448"/>
          </a:xfrm>
          <a:prstGeom prst="rect">
            <a:avLst/>
          </a:prstGeom>
          <a:noFill/>
          <a:ln/>
        </p:spPr>
        <p:txBody>
          <a:bodyPr wrap="square" rtlCol="0" anchor="ctr"/>
          <a:lstStyle/>
          <a:p>
            <a:pPr marL="342900" indent="-342900">
              <a:lnSpc>
                <a:spcPct val="120000"/>
              </a:lnSpc>
              <a:spcAft>
                <a:spcPts val="300"/>
              </a:spcAft>
              <a:buSzPct val="100000"/>
              <a:buChar char="•"/>
            </a:pPr>
            <a:r>
              <a:rPr lang="en-US" sz="850" dirty="0">
                <a:solidFill>
                  <a:srgbClr val="4A6080"/>
                </a:solidFill>
                <a:latin typeface="Calibri" pitchFamily="34" charset="0"/>
                <a:ea typeface="Calibri" pitchFamily="34" charset="-122"/>
                <a:cs typeface="Calibri" pitchFamily="34" charset="-120"/>
              </a:rPr>
              <a:t>Collected RSSI data points are assembled into a spatial signal heatmap in real time</a:t>
            </a:r>
            <a:endParaRPr lang="en-US" sz="850" dirty="0"/>
          </a:p>
          <a:p>
            <a:pPr marL="342900" indent="-342900">
              <a:lnSpc>
                <a:spcPct val="120000"/>
              </a:lnSpc>
              <a:spcAft>
                <a:spcPts val="300"/>
              </a:spcAft>
              <a:buSzPct val="100000"/>
              <a:buChar char="•"/>
            </a:pPr>
            <a:r>
              <a:rPr lang="en-US" sz="850" dirty="0">
                <a:solidFill>
                  <a:srgbClr val="4A6080"/>
                </a:solidFill>
                <a:latin typeface="Calibri" pitchFamily="34" charset="0"/>
                <a:ea typeface="Calibri" pitchFamily="34" charset="-122"/>
                <a:cs typeface="Calibri" pitchFamily="34" charset="-120"/>
              </a:rPr>
              <a:t>Congestion zones: areas where multiple competing signals overlap are automatically detected</a:t>
            </a:r>
            <a:endParaRPr lang="en-US" sz="850" dirty="0"/>
          </a:p>
          <a:p>
            <a:pPr marL="342900" indent="-342900">
              <a:lnSpc>
                <a:spcPct val="120000"/>
              </a:lnSpc>
              <a:spcAft>
                <a:spcPts val="300"/>
              </a:spcAft>
              <a:buSzPct val="100000"/>
              <a:buChar char="•"/>
            </a:pPr>
            <a:r>
              <a:rPr lang="en-US" sz="850" dirty="0">
                <a:solidFill>
                  <a:srgbClr val="4A6080"/>
                </a:solidFill>
                <a:latin typeface="Calibri" pitchFamily="34" charset="0"/>
                <a:ea typeface="Calibri" pitchFamily="34" charset="-122"/>
                <a:cs typeface="Calibri" pitchFamily="34" charset="-120"/>
              </a:rPr>
              <a:t>Obstacle inference: sudden drops in RSSI correlated with movement direction identify blockers</a:t>
            </a:r>
            <a:endParaRPr lang="en-US" sz="850" dirty="0"/>
          </a:p>
          <a:p>
            <a:pPr marL="342900" indent="-342900">
              <a:lnSpc>
                <a:spcPct val="120000"/>
              </a:lnSpc>
              <a:spcAft>
                <a:spcPts val="300"/>
              </a:spcAft>
              <a:buSzPct val="100000"/>
              <a:buChar char="•"/>
            </a:pPr>
            <a:r>
              <a:rPr lang="en-US" sz="850" dirty="0">
                <a:solidFill>
                  <a:srgbClr val="4A6080"/>
                </a:solidFill>
                <a:latin typeface="Calibri" pitchFamily="34" charset="0"/>
                <a:ea typeface="Calibri" pitchFamily="34" charset="-122"/>
                <a:cs typeface="Calibri" pitchFamily="34" charset="-120"/>
              </a:rPr>
              <a:t>Signal quality scores (Excellent / Good / Fair / Poor) are assigned to each mapped zone</a:t>
            </a:r>
            <a:endParaRPr lang="en-US" sz="850" dirty="0"/>
          </a:p>
        </p:txBody>
      </p:sp>
      <p:sp>
        <p:nvSpPr>
          <p:cNvPr id="13" name="Shape 11"/>
          <p:cNvSpPr/>
          <p:nvPr/>
        </p:nvSpPr>
        <p:spPr>
          <a:xfrm>
            <a:off x="4709160" y="1316736"/>
            <a:ext cx="4160520" cy="171907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4" name="Shape 12"/>
          <p:cNvSpPr/>
          <p:nvPr/>
        </p:nvSpPr>
        <p:spPr>
          <a:xfrm>
            <a:off x="4709160" y="1316736"/>
            <a:ext cx="4160520" cy="329184"/>
          </a:xfrm>
          <a:prstGeom prst="rect">
            <a:avLst/>
          </a:prstGeom>
          <a:solidFill>
            <a:srgbClr val="7D3C98"/>
          </a:solidFill>
          <a:ln w="12700">
            <a:solidFill>
              <a:srgbClr val="7D3C98"/>
            </a:solidFill>
            <a:prstDash val="solid"/>
          </a:ln>
        </p:spPr>
        <p:txBody>
          <a:bodyPr/>
          <a:lstStyle/>
          <a:p>
            <a:endParaRPr lang="en-IN"/>
          </a:p>
        </p:txBody>
      </p:sp>
      <p:sp>
        <p:nvSpPr>
          <p:cNvPr id="15" name="Text 13"/>
          <p:cNvSpPr/>
          <p:nvPr/>
        </p:nvSpPr>
        <p:spPr>
          <a:xfrm>
            <a:off x="4818888" y="1316736"/>
            <a:ext cx="3931920" cy="32918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Phase 3 — Mixed Reality Overlay</a:t>
            </a:r>
            <a:endParaRPr lang="en-US" sz="1000" dirty="0"/>
          </a:p>
        </p:txBody>
      </p:sp>
      <p:sp>
        <p:nvSpPr>
          <p:cNvPr id="16" name="Text 14"/>
          <p:cNvSpPr/>
          <p:nvPr/>
        </p:nvSpPr>
        <p:spPr>
          <a:xfrm>
            <a:off x="4846320" y="1682496"/>
            <a:ext cx="3931920" cy="1298448"/>
          </a:xfrm>
          <a:prstGeom prst="rect">
            <a:avLst/>
          </a:prstGeom>
          <a:noFill/>
          <a:ln/>
        </p:spPr>
        <p:txBody>
          <a:bodyPr wrap="square" rtlCol="0" anchor="ctr"/>
          <a:lstStyle/>
          <a:p>
            <a:pPr marL="342900" indent="-342900">
              <a:lnSpc>
                <a:spcPct val="120000"/>
              </a:lnSpc>
              <a:spcAft>
                <a:spcPts val="300"/>
              </a:spcAft>
              <a:buSzPct val="100000"/>
              <a:buChar char="•"/>
            </a:pPr>
            <a:r>
              <a:rPr lang="en-US" sz="850" dirty="0">
                <a:solidFill>
                  <a:srgbClr val="4A6080"/>
                </a:solidFill>
                <a:latin typeface="Calibri" pitchFamily="34" charset="0"/>
                <a:ea typeface="Calibri" pitchFamily="34" charset="-122"/>
                <a:cs typeface="Calibri" pitchFamily="34" charset="-120"/>
              </a:rPr>
              <a:t>User points the phone camera at the room — the app enters MR mode using ARKit / ARCore</a:t>
            </a:r>
            <a:endParaRPr lang="en-US" sz="850" dirty="0"/>
          </a:p>
          <a:p>
            <a:pPr marL="342900" indent="-342900">
              <a:lnSpc>
                <a:spcPct val="120000"/>
              </a:lnSpc>
              <a:spcAft>
                <a:spcPts val="300"/>
              </a:spcAft>
              <a:buSzPct val="100000"/>
              <a:buChar char="•"/>
            </a:pPr>
            <a:r>
              <a:rPr lang="en-US" sz="850" dirty="0">
                <a:solidFill>
                  <a:srgbClr val="4A6080"/>
                </a:solidFill>
                <a:latin typeface="Calibri" pitchFamily="34" charset="0"/>
                <a:ea typeface="Calibri" pitchFamily="34" charset="-122"/>
                <a:cs typeface="Calibri" pitchFamily="34" charset="-120"/>
              </a:rPr>
              <a:t>Signal map data is projected into 3D space aligned to the room using phone camera + sensors</a:t>
            </a:r>
            <a:endParaRPr lang="en-US" sz="850" dirty="0"/>
          </a:p>
          <a:p>
            <a:pPr marL="342900" indent="-342900">
              <a:lnSpc>
                <a:spcPct val="120000"/>
              </a:lnSpc>
              <a:spcAft>
                <a:spcPts val="300"/>
              </a:spcAft>
              <a:buSzPct val="100000"/>
              <a:buChar char="•"/>
            </a:pPr>
            <a:r>
              <a:rPr lang="en-US" sz="850" dirty="0">
                <a:solidFill>
                  <a:srgbClr val="4A6080"/>
                </a:solidFill>
                <a:latin typeface="Calibri" pitchFamily="34" charset="0"/>
                <a:ea typeface="Calibri" pitchFamily="34" charset="-122"/>
                <a:cs typeface="Calibri" pitchFamily="34" charset="-120"/>
              </a:rPr>
              <a:t>Signals rendered as waves, dots, clusters and color zones — all floating in the real-world view</a:t>
            </a:r>
            <a:endParaRPr lang="en-US" sz="850" dirty="0"/>
          </a:p>
          <a:p>
            <a:pPr marL="342900" indent="-342900">
              <a:lnSpc>
                <a:spcPct val="120000"/>
              </a:lnSpc>
              <a:spcAft>
                <a:spcPts val="300"/>
              </a:spcAft>
              <a:buSzPct val="100000"/>
              <a:buChar char="•"/>
            </a:pPr>
            <a:r>
              <a:rPr lang="en-US" sz="850" dirty="0">
                <a:solidFill>
                  <a:srgbClr val="4A6080"/>
                </a:solidFill>
                <a:latin typeface="Calibri" pitchFamily="34" charset="0"/>
                <a:ea typeface="Calibri" pitchFamily="34" charset="-122"/>
                <a:cs typeface="Calibri" pitchFamily="34" charset="-120"/>
              </a:rPr>
              <a:t>Obstacle objects causing blockage are highlighted with glowing outlines in the live camera feed</a:t>
            </a:r>
            <a:endParaRPr lang="en-US" sz="850" dirty="0"/>
          </a:p>
        </p:txBody>
      </p:sp>
      <p:sp>
        <p:nvSpPr>
          <p:cNvPr id="17" name="Shape 15"/>
          <p:cNvSpPr/>
          <p:nvPr/>
        </p:nvSpPr>
        <p:spPr>
          <a:xfrm>
            <a:off x="4709160" y="3145536"/>
            <a:ext cx="4160520" cy="171907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8" name="Shape 16"/>
          <p:cNvSpPr/>
          <p:nvPr/>
        </p:nvSpPr>
        <p:spPr>
          <a:xfrm>
            <a:off x="4709160" y="3145536"/>
            <a:ext cx="4160520" cy="329184"/>
          </a:xfrm>
          <a:prstGeom prst="rect">
            <a:avLst/>
          </a:prstGeom>
          <a:solidFill>
            <a:srgbClr val="27AE60"/>
          </a:solidFill>
          <a:ln w="12700">
            <a:solidFill>
              <a:srgbClr val="27AE60"/>
            </a:solidFill>
            <a:prstDash val="solid"/>
          </a:ln>
        </p:spPr>
        <p:txBody>
          <a:bodyPr/>
          <a:lstStyle/>
          <a:p>
            <a:endParaRPr lang="en-IN"/>
          </a:p>
        </p:txBody>
      </p:sp>
      <p:sp>
        <p:nvSpPr>
          <p:cNvPr id="19" name="Text 17"/>
          <p:cNvSpPr/>
          <p:nvPr/>
        </p:nvSpPr>
        <p:spPr>
          <a:xfrm>
            <a:off x="4818888" y="3145536"/>
            <a:ext cx="3931920" cy="32918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Phase 4 — Guided Resolution</a:t>
            </a:r>
            <a:endParaRPr lang="en-US" sz="1000" dirty="0"/>
          </a:p>
        </p:txBody>
      </p:sp>
      <p:sp>
        <p:nvSpPr>
          <p:cNvPr id="20" name="Text 18"/>
          <p:cNvSpPr/>
          <p:nvPr/>
        </p:nvSpPr>
        <p:spPr>
          <a:xfrm>
            <a:off x="4846320" y="3511296"/>
            <a:ext cx="3931920" cy="1298448"/>
          </a:xfrm>
          <a:prstGeom prst="rect">
            <a:avLst/>
          </a:prstGeom>
          <a:noFill/>
          <a:ln/>
        </p:spPr>
        <p:txBody>
          <a:bodyPr wrap="square" rtlCol="0" anchor="ctr"/>
          <a:lstStyle/>
          <a:p>
            <a:pPr marL="342900" indent="-342900">
              <a:lnSpc>
                <a:spcPct val="120000"/>
              </a:lnSpc>
              <a:spcAft>
                <a:spcPts val="300"/>
              </a:spcAft>
              <a:buSzPct val="100000"/>
              <a:buChar char="•"/>
            </a:pPr>
            <a:r>
              <a:rPr lang="en-US" sz="850" dirty="0">
                <a:solidFill>
                  <a:srgbClr val="4A6080"/>
                </a:solidFill>
                <a:latin typeface="Calibri" pitchFamily="34" charset="0"/>
                <a:ea typeface="Calibri" pitchFamily="34" charset="-122"/>
                <a:cs typeface="Calibri" pitchFamily="34" charset="-120"/>
              </a:rPr>
              <a:t>App detects the user's current zone and shows their connectivity quality in real time</a:t>
            </a:r>
            <a:endParaRPr lang="en-US" sz="850" dirty="0"/>
          </a:p>
          <a:p>
            <a:pPr marL="342900" indent="-342900">
              <a:lnSpc>
                <a:spcPct val="120000"/>
              </a:lnSpc>
              <a:spcAft>
                <a:spcPts val="300"/>
              </a:spcAft>
              <a:buSzPct val="100000"/>
              <a:buChar char="•"/>
            </a:pPr>
            <a:r>
              <a:rPr lang="en-US" sz="850" dirty="0">
                <a:solidFill>
                  <a:srgbClr val="4A6080"/>
                </a:solidFill>
                <a:latin typeface="Calibri" pitchFamily="34" charset="0"/>
                <a:ea typeface="Calibri" pitchFamily="34" charset="-122"/>
                <a:cs typeface="Calibri" pitchFamily="34" charset="-120"/>
              </a:rPr>
              <a:t>If in a dead zone: animated green arrows guide the user toward better signal areas</a:t>
            </a:r>
            <a:endParaRPr lang="en-US" sz="850" dirty="0"/>
          </a:p>
          <a:p>
            <a:pPr marL="342900" indent="-342900">
              <a:lnSpc>
                <a:spcPct val="120000"/>
              </a:lnSpc>
              <a:spcAft>
                <a:spcPts val="300"/>
              </a:spcAft>
              <a:buSzPct val="100000"/>
              <a:buChar char="•"/>
            </a:pPr>
            <a:r>
              <a:rPr lang="en-US" sz="850" dirty="0">
                <a:solidFill>
                  <a:srgbClr val="4A6080"/>
                </a:solidFill>
                <a:latin typeface="Calibri" pitchFamily="34" charset="0"/>
                <a:ea typeface="Calibri" pitchFamily="34" charset="-122"/>
                <a:cs typeface="Calibri" pitchFamily="34" charset="-120"/>
              </a:rPr>
              <a:t>If a blocker is identified: the app suggests moving the highlighted object away from signal path</a:t>
            </a:r>
            <a:endParaRPr lang="en-US" sz="850" dirty="0"/>
          </a:p>
          <a:p>
            <a:pPr marL="342900" indent="-342900">
              <a:lnSpc>
                <a:spcPct val="120000"/>
              </a:lnSpc>
              <a:spcAft>
                <a:spcPts val="300"/>
              </a:spcAft>
              <a:buSzPct val="100000"/>
              <a:buChar char="•"/>
            </a:pPr>
            <a:r>
              <a:rPr lang="en-US" sz="850" dirty="0">
                <a:solidFill>
                  <a:srgbClr val="4A6080"/>
                </a:solidFill>
                <a:latin typeface="Calibri" pitchFamily="34" charset="0"/>
                <a:ea typeface="Calibri" pitchFamily="34" charset="-122"/>
                <a:cs typeface="Calibri" pitchFamily="34" charset="-120"/>
              </a:rPr>
              <a:t>Education Mode: each finding is explained with a short visual lesson on why it is happening</a:t>
            </a:r>
            <a:endParaRPr lang="en-US" sz="850" dirty="0"/>
          </a:p>
        </p:txBody>
      </p:sp>
      <p:sp>
        <p:nvSpPr>
          <p:cNvPr id="21" name="Shape 19"/>
          <p:cNvSpPr/>
          <p:nvPr/>
        </p:nvSpPr>
        <p:spPr>
          <a:xfrm>
            <a:off x="0" y="4864608"/>
            <a:ext cx="9144000" cy="274320"/>
          </a:xfrm>
          <a:prstGeom prst="rect">
            <a:avLst/>
          </a:prstGeom>
          <a:solidFill>
            <a:srgbClr val="0D1B3E"/>
          </a:solidFill>
          <a:ln w="12700">
            <a:solidFill>
              <a:srgbClr val="0D1B3E"/>
            </a:solidFill>
            <a:prstDash val="solid"/>
          </a:ln>
        </p:spPr>
        <p:txBody>
          <a:bodyPr/>
          <a:lstStyle/>
          <a:p>
            <a:endParaRPr lang="en-IN"/>
          </a:p>
        </p:txBody>
      </p:sp>
      <p:sp>
        <p:nvSpPr>
          <p:cNvPr id="22" name="Text 20"/>
          <p:cNvSpPr/>
          <p:nvPr/>
        </p:nvSpPr>
        <p:spPr>
          <a:xfrm>
            <a:off x="274320" y="4873752"/>
            <a:ext cx="7772400" cy="256032"/>
          </a:xfrm>
          <a:prstGeom prst="rect">
            <a:avLst/>
          </a:prstGeom>
          <a:noFill/>
          <a:ln/>
        </p:spPr>
        <p:txBody>
          <a:bodyPr wrap="square" rtlCol="0" anchor="ctr"/>
          <a:lstStyle/>
          <a:p>
            <a:r>
              <a:rPr lang="en-US" sz="800" dirty="0">
                <a:solidFill>
                  <a:srgbClr val="8BA0BF"/>
                </a:solidFill>
                <a:latin typeface="Calibri" pitchFamily="34" charset="0"/>
                <a:ea typeface="Calibri" pitchFamily="34" charset="-122"/>
                <a:cs typeface="Calibri" pitchFamily="34" charset="-120"/>
              </a:rPr>
              <a:t>Drishti XR ·  Wireless Signal Mapping &amp; Visualization for Everyone</a:t>
            </a:r>
            <a:endParaRPr lang="en-US" sz="800" dirty="0"/>
          </a:p>
        </p:txBody>
      </p:sp>
      <p:sp>
        <p:nvSpPr>
          <p:cNvPr id="23" name="Text 21"/>
          <p:cNvSpPr/>
          <p:nvPr/>
        </p:nvSpPr>
        <p:spPr>
          <a:xfrm>
            <a:off x="8412480" y="4873752"/>
            <a:ext cx="548640" cy="256032"/>
          </a:xfrm>
          <a:prstGeom prst="rect">
            <a:avLst/>
          </a:prstGeom>
          <a:noFill/>
          <a:ln/>
        </p:spPr>
        <p:txBody>
          <a:bodyPr wrap="square" rtlCol="0" anchor="ctr"/>
          <a:lstStyle/>
          <a:p>
            <a:pPr marL="0" indent="0" algn="r">
              <a:buNone/>
            </a:pPr>
            <a:r>
              <a:rPr lang="en-US" sz="800" dirty="0">
                <a:solidFill>
                  <a:srgbClr val="8BA0BF"/>
                </a:solidFill>
                <a:latin typeface="Calibri" pitchFamily="34" charset="0"/>
                <a:ea typeface="Calibri" pitchFamily="34" charset="-122"/>
                <a:cs typeface="Calibri" pitchFamily="34" charset="-120"/>
              </a:rPr>
              <a:t>9 / 12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365760" y="182880"/>
            <a:ext cx="54864" cy="502920"/>
          </a:xfrm>
          <a:prstGeom prst="rect">
            <a:avLst/>
          </a:prstGeom>
          <a:solidFill>
            <a:srgbClr val="00A8CC"/>
          </a:solidFill>
          <a:ln w="12700">
            <a:solidFill>
              <a:srgbClr val="00A8CC"/>
            </a:solidFill>
            <a:prstDash val="solid"/>
          </a:ln>
        </p:spPr>
        <p:txBody>
          <a:bodyPr/>
          <a:lstStyle/>
          <a:p>
            <a:endParaRPr lang="en-IN"/>
          </a:p>
        </p:txBody>
      </p:sp>
      <p:sp>
        <p:nvSpPr>
          <p:cNvPr id="3" name="Text 1"/>
          <p:cNvSpPr/>
          <p:nvPr/>
        </p:nvSpPr>
        <p:spPr>
          <a:xfrm>
            <a:off x="502920" y="164592"/>
            <a:ext cx="8229600" cy="548640"/>
          </a:xfrm>
          <a:prstGeom prst="rect">
            <a:avLst/>
          </a:prstGeom>
          <a:noFill/>
          <a:ln/>
        </p:spPr>
        <p:txBody>
          <a:bodyPr wrap="square" lIns="0" tIns="0" rIns="0" bIns="0" rtlCol="0" anchor="ctr"/>
          <a:lstStyle/>
          <a:p>
            <a:pPr marL="0" indent="0">
              <a:buNone/>
            </a:pPr>
            <a:r>
              <a:rPr lang="en-US" sz="1100" b="1" dirty="0">
                <a:solidFill>
                  <a:srgbClr val="00A8CC"/>
                </a:solidFill>
                <a:latin typeface="Calibri" pitchFamily="34" charset="0"/>
                <a:ea typeface="Calibri" pitchFamily="34" charset="-122"/>
                <a:cs typeface="Calibri" pitchFamily="34" charset="-120"/>
              </a:rPr>
              <a:t>9.  Education Mode — Learning Wireless in the Real World</a:t>
            </a:r>
            <a:endParaRPr lang="en-US" sz="1100" dirty="0"/>
          </a:p>
        </p:txBody>
      </p:sp>
      <p:sp>
        <p:nvSpPr>
          <p:cNvPr id="4" name="Text 2"/>
          <p:cNvSpPr/>
          <p:nvPr/>
        </p:nvSpPr>
        <p:spPr>
          <a:xfrm>
            <a:off x="365760" y="749808"/>
            <a:ext cx="8412480" cy="347472"/>
          </a:xfrm>
          <a:prstGeom prst="rect">
            <a:avLst/>
          </a:prstGeom>
          <a:noFill/>
          <a:ln/>
        </p:spPr>
        <p:txBody>
          <a:bodyPr wrap="square" rtlCol="0" anchor="ctr"/>
          <a:lstStyle/>
          <a:p>
            <a:pPr marL="0" indent="0">
              <a:buNone/>
            </a:pPr>
            <a:r>
              <a:rPr lang="en-US" sz="1000" i="1" dirty="0">
                <a:solidFill>
                  <a:srgbClr val="4A6080"/>
                </a:solidFill>
                <a:latin typeface="Calibri" pitchFamily="34" charset="0"/>
                <a:ea typeface="Calibri" pitchFamily="34" charset="-122"/>
                <a:cs typeface="Calibri" pitchFamily="34" charset="-120"/>
              </a:rPr>
              <a:t>Drishti XR is not just a utility app , it is a living classroom for wireless concepts, accessible to every student on their own phone.</a:t>
            </a:r>
            <a:endParaRPr lang="en-US" sz="1000" dirty="0"/>
          </a:p>
        </p:txBody>
      </p:sp>
      <p:sp>
        <p:nvSpPr>
          <p:cNvPr id="5" name="Shape 3"/>
          <p:cNvSpPr/>
          <p:nvPr/>
        </p:nvSpPr>
        <p:spPr>
          <a:xfrm>
            <a:off x="365760" y="1170432"/>
            <a:ext cx="4160520" cy="171907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6" name="Shape 4"/>
          <p:cNvSpPr/>
          <p:nvPr/>
        </p:nvSpPr>
        <p:spPr>
          <a:xfrm>
            <a:off x="365760" y="1170432"/>
            <a:ext cx="4160520" cy="347472"/>
          </a:xfrm>
          <a:prstGeom prst="rect">
            <a:avLst/>
          </a:prstGeom>
          <a:solidFill>
            <a:srgbClr val="00A8CC"/>
          </a:solidFill>
          <a:ln w="12700">
            <a:solidFill>
              <a:srgbClr val="00A8CC"/>
            </a:solidFill>
            <a:prstDash val="solid"/>
          </a:ln>
        </p:spPr>
        <p:txBody>
          <a:bodyPr/>
          <a:lstStyle/>
          <a:p>
            <a:endParaRPr lang="en-IN"/>
          </a:p>
        </p:txBody>
      </p:sp>
      <p:sp>
        <p:nvSpPr>
          <p:cNvPr id="7" name="Text 5"/>
          <p:cNvSpPr/>
          <p:nvPr/>
        </p:nvSpPr>
        <p:spPr>
          <a:xfrm>
            <a:off x="475488" y="1170432"/>
            <a:ext cx="3931920"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Engineering Students</a:t>
            </a:r>
            <a:endParaRPr lang="en-US" sz="1000" dirty="0"/>
          </a:p>
        </p:txBody>
      </p:sp>
      <p:sp>
        <p:nvSpPr>
          <p:cNvPr id="8" name="Text 6"/>
          <p:cNvSpPr/>
          <p:nvPr/>
        </p:nvSpPr>
        <p:spPr>
          <a:xfrm>
            <a:off x="502920" y="1554480"/>
            <a:ext cx="3931920" cy="1280160"/>
          </a:xfrm>
          <a:prstGeom prst="rect">
            <a:avLst/>
          </a:prstGeom>
          <a:noFill/>
          <a:ln/>
        </p:spPr>
        <p:txBody>
          <a:bodyPr wrap="square" rtlCol="0" anchor="ctr"/>
          <a:lstStyle/>
          <a:p>
            <a:pPr marL="342900" indent="-342900">
              <a:lnSpc>
                <a:spcPct val="120000"/>
              </a:lnSpc>
              <a:spcAft>
                <a:spcPts val="200"/>
              </a:spcAft>
              <a:buSzPct val="100000"/>
              <a:buChar char="•"/>
            </a:pPr>
            <a:r>
              <a:rPr lang="en-US" sz="850" dirty="0">
                <a:solidFill>
                  <a:srgbClr val="4A6080"/>
                </a:solidFill>
                <a:latin typeface="Calibri" pitchFamily="34" charset="0"/>
                <a:ea typeface="Calibri" pitchFamily="34" charset="-122"/>
                <a:cs typeface="Calibri" pitchFamily="34" charset="-120"/>
              </a:rPr>
              <a:t>Observe real RSSI values and understand decibel-based signal measurement</a:t>
            </a:r>
            <a:endParaRPr lang="en-US" sz="850" dirty="0"/>
          </a:p>
          <a:p>
            <a:pPr marL="342900" indent="-342900">
              <a:lnSpc>
                <a:spcPct val="120000"/>
              </a:lnSpc>
              <a:spcAft>
                <a:spcPts val="200"/>
              </a:spcAft>
              <a:buSzPct val="100000"/>
              <a:buChar char="•"/>
            </a:pPr>
            <a:r>
              <a:rPr lang="en-US" sz="850" dirty="0">
                <a:solidFill>
                  <a:srgbClr val="4A6080"/>
                </a:solidFill>
                <a:latin typeface="Calibri" pitchFamily="34" charset="0"/>
                <a:ea typeface="Calibri" pitchFamily="34" charset="-122"/>
                <a:cs typeface="Calibri" pitchFamily="34" charset="-120"/>
              </a:rPr>
              <a:t>See how signal propagates differently in different materials</a:t>
            </a:r>
            <a:endParaRPr lang="en-US" sz="850" dirty="0"/>
          </a:p>
          <a:p>
            <a:pPr marL="342900" indent="-342900">
              <a:lnSpc>
                <a:spcPct val="120000"/>
              </a:lnSpc>
              <a:spcAft>
                <a:spcPts val="200"/>
              </a:spcAft>
              <a:buSzPct val="100000"/>
              <a:buChar char="•"/>
            </a:pPr>
            <a:r>
              <a:rPr lang="en-US" sz="850" dirty="0">
                <a:solidFill>
                  <a:srgbClr val="4A6080"/>
                </a:solidFill>
                <a:latin typeface="Calibri" pitchFamily="34" charset="0"/>
                <a:ea typeface="Calibri" pitchFamily="34" charset="-122"/>
                <a:cs typeface="Calibri" pitchFamily="34" charset="-120"/>
              </a:rPr>
              <a:t>Understand channel overlap and co-channel interference with live data</a:t>
            </a:r>
            <a:endParaRPr lang="en-US" sz="850" dirty="0"/>
          </a:p>
          <a:p>
            <a:pPr marL="342900" indent="-342900">
              <a:lnSpc>
                <a:spcPct val="120000"/>
              </a:lnSpc>
              <a:spcAft>
                <a:spcPts val="200"/>
              </a:spcAft>
              <a:buSzPct val="100000"/>
              <a:buChar char="•"/>
            </a:pPr>
            <a:r>
              <a:rPr lang="en-US" sz="850" dirty="0">
                <a:solidFill>
                  <a:srgbClr val="4A6080"/>
                </a:solidFill>
                <a:latin typeface="Calibri" pitchFamily="34" charset="0"/>
                <a:ea typeface="Calibri" pitchFamily="34" charset="-122"/>
                <a:cs typeface="Calibri" pitchFamily="34" charset="-120"/>
              </a:rPr>
              <a:t>Learn about multipath propagation by watching signal reflections</a:t>
            </a:r>
            <a:endParaRPr lang="en-US" sz="850" dirty="0"/>
          </a:p>
        </p:txBody>
      </p:sp>
      <p:sp>
        <p:nvSpPr>
          <p:cNvPr id="9" name="Shape 7"/>
          <p:cNvSpPr/>
          <p:nvPr/>
        </p:nvSpPr>
        <p:spPr>
          <a:xfrm>
            <a:off x="4709160" y="1170432"/>
            <a:ext cx="4160520" cy="171907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0" name="Shape 8"/>
          <p:cNvSpPr/>
          <p:nvPr/>
        </p:nvSpPr>
        <p:spPr>
          <a:xfrm>
            <a:off x="4709160" y="1170432"/>
            <a:ext cx="4160520" cy="347472"/>
          </a:xfrm>
          <a:prstGeom prst="rect">
            <a:avLst/>
          </a:prstGeom>
          <a:solidFill>
            <a:srgbClr val="2C3E6B"/>
          </a:solidFill>
          <a:ln w="12700">
            <a:solidFill>
              <a:srgbClr val="2C3E6B"/>
            </a:solidFill>
            <a:prstDash val="solid"/>
          </a:ln>
        </p:spPr>
        <p:txBody>
          <a:bodyPr/>
          <a:lstStyle/>
          <a:p>
            <a:endParaRPr lang="en-IN"/>
          </a:p>
        </p:txBody>
      </p:sp>
      <p:sp>
        <p:nvSpPr>
          <p:cNvPr id="11" name="Text 9"/>
          <p:cNvSpPr/>
          <p:nvPr/>
        </p:nvSpPr>
        <p:spPr>
          <a:xfrm>
            <a:off x="4818888" y="1170432"/>
            <a:ext cx="3931920"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School &amp; College Teachers</a:t>
            </a:r>
            <a:endParaRPr lang="en-US" sz="1000" dirty="0"/>
          </a:p>
        </p:txBody>
      </p:sp>
      <p:sp>
        <p:nvSpPr>
          <p:cNvPr id="12" name="Text 10"/>
          <p:cNvSpPr/>
          <p:nvPr/>
        </p:nvSpPr>
        <p:spPr>
          <a:xfrm>
            <a:off x="4846320" y="1554480"/>
            <a:ext cx="3931920" cy="1280160"/>
          </a:xfrm>
          <a:prstGeom prst="rect">
            <a:avLst/>
          </a:prstGeom>
          <a:noFill/>
          <a:ln/>
        </p:spPr>
        <p:txBody>
          <a:bodyPr wrap="square" rtlCol="0" anchor="ctr"/>
          <a:lstStyle/>
          <a:p>
            <a:pPr marL="342900" indent="-342900">
              <a:lnSpc>
                <a:spcPct val="120000"/>
              </a:lnSpc>
              <a:spcAft>
                <a:spcPts val="200"/>
              </a:spcAft>
              <a:buSzPct val="100000"/>
              <a:buChar char="•"/>
            </a:pPr>
            <a:r>
              <a:rPr lang="en-US" sz="850" dirty="0">
                <a:solidFill>
                  <a:srgbClr val="4A6080"/>
                </a:solidFill>
                <a:latin typeface="Calibri" pitchFamily="34" charset="0"/>
                <a:ea typeface="Calibri" pitchFamily="34" charset="-122"/>
                <a:cs typeface="Calibri" pitchFamily="34" charset="-120"/>
              </a:rPr>
              <a:t>Use as a live classroom demo , walk the classroom and project the MR view</a:t>
            </a:r>
            <a:endParaRPr lang="en-US" sz="850" dirty="0"/>
          </a:p>
          <a:p>
            <a:pPr marL="342900" indent="-342900">
              <a:lnSpc>
                <a:spcPct val="120000"/>
              </a:lnSpc>
              <a:spcAft>
                <a:spcPts val="200"/>
              </a:spcAft>
              <a:buSzPct val="100000"/>
              <a:buChar char="•"/>
            </a:pPr>
            <a:r>
              <a:rPr lang="en-US" sz="850" dirty="0">
                <a:solidFill>
                  <a:srgbClr val="4A6080"/>
                </a:solidFill>
                <a:latin typeface="Calibri" pitchFamily="34" charset="0"/>
                <a:ea typeface="Calibri" pitchFamily="34" charset="-122"/>
                <a:cs typeface="Calibri" pitchFamily="34" charset="-120"/>
              </a:rPr>
              <a:t>Assign 'signal mapping' as a practical lab assignment using students' own phones</a:t>
            </a:r>
            <a:endParaRPr lang="en-US" sz="850" dirty="0"/>
          </a:p>
          <a:p>
            <a:pPr marL="342900" indent="-342900">
              <a:lnSpc>
                <a:spcPct val="120000"/>
              </a:lnSpc>
              <a:spcAft>
                <a:spcPts val="200"/>
              </a:spcAft>
              <a:buSzPct val="100000"/>
              <a:buChar char="•"/>
            </a:pPr>
            <a:r>
              <a:rPr lang="en-US" sz="850" dirty="0">
                <a:solidFill>
                  <a:srgbClr val="4A6080"/>
                </a:solidFill>
                <a:latin typeface="Calibri" pitchFamily="34" charset="0"/>
                <a:ea typeface="Calibri" pitchFamily="34" charset="-122"/>
                <a:cs typeface="Calibri" pitchFamily="34" charset="-120"/>
              </a:rPr>
              <a:t>Visualize physics concepts like wave propagation and absorption hands-on</a:t>
            </a:r>
            <a:endParaRPr lang="en-US" sz="850" dirty="0"/>
          </a:p>
          <a:p>
            <a:pPr marL="342900" indent="-342900">
              <a:lnSpc>
                <a:spcPct val="120000"/>
              </a:lnSpc>
              <a:spcAft>
                <a:spcPts val="200"/>
              </a:spcAft>
              <a:buSzPct val="100000"/>
              <a:buChar char="•"/>
            </a:pPr>
            <a:r>
              <a:rPr lang="en-US" sz="850" dirty="0">
                <a:solidFill>
                  <a:srgbClr val="4A6080"/>
                </a:solidFill>
                <a:latin typeface="Calibri" pitchFamily="34" charset="0"/>
                <a:ea typeface="Calibri" pitchFamily="34" charset="-122"/>
                <a:cs typeface="Calibri" pitchFamily="34" charset="-120"/>
              </a:rPr>
              <a:t>No lab equipment purchase needed , every student already has the sensor</a:t>
            </a:r>
            <a:endParaRPr lang="en-US" sz="850" dirty="0"/>
          </a:p>
        </p:txBody>
      </p:sp>
      <p:sp>
        <p:nvSpPr>
          <p:cNvPr id="13" name="Shape 11"/>
          <p:cNvSpPr/>
          <p:nvPr/>
        </p:nvSpPr>
        <p:spPr>
          <a:xfrm>
            <a:off x="365760" y="3072384"/>
            <a:ext cx="4160520" cy="171907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4" name="Shape 12"/>
          <p:cNvSpPr/>
          <p:nvPr/>
        </p:nvSpPr>
        <p:spPr>
          <a:xfrm>
            <a:off x="365760" y="3072384"/>
            <a:ext cx="4160520" cy="347472"/>
          </a:xfrm>
          <a:prstGeom prst="rect">
            <a:avLst/>
          </a:prstGeom>
          <a:solidFill>
            <a:srgbClr val="7D3C98"/>
          </a:solidFill>
          <a:ln w="12700">
            <a:solidFill>
              <a:srgbClr val="7D3C98"/>
            </a:solidFill>
            <a:prstDash val="solid"/>
          </a:ln>
        </p:spPr>
        <p:txBody>
          <a:bodyPr/>
          <a:lstStyle/>
          <a:p>
            <a:endParaRPr lang="en-IN"/>
          </a:p>
        </p:txBody>
      </p:sp>
      <p:sp>
        <p:nvSpPr>
          <p:cNvPr id="15" name="Text 13"/>
          <p:cNvSpPr/>
          <p:nvPr/>
        </p:nvSpPr>
        <p:spPr>
          <a:xfrm>
            <a:off x="475488" y="3072384"/>
            <a:ext cx="3931920"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Physics &amp; Science Students</a:t>
            </a:r>
            <a:endParaRPr lang="en-US" sz="1000" dirty="0"/>
          </a:p>
        </p:txBody>
      </p:sp>
      <p:sp>
        <p:nvSpPr>
          <p:cNvPr id="16" name="Text 14"/>
          <p:cNvSpPr/>
          <p:nvPr/>
        </p:nvSpPr>
        <p:spPr>
          <a:xfrm>
            <a:off x="502920" y="3456432"/>
            <a:ext cx="3931920" cy="1280160"/>
          </a:xfrm>
          <a:prstGeom prst="rect">
            <a:avLst/>
          </a:prstGeom>
          <a:noFill/>
          <a:ln/>
        </p:spPr>
        <p:txBody>
          <a:bodyPr wrap="square" rtlCol="0" anchor="ctr"/>
          <a:lstStyle/>
          <a:p>
            <a:pPr marL="342900" indent="-342900">
              <a:lnSpc>
                <a:spcPct val="120000"/>
              </a:lnSpc>
              <a:spcAft>
                <a:spcPts val="200"/>
              </a:spcAft>
              <a:buSzPct val="100000"/>
              <a:buChar char="•"/>
            </a:pPr>
            <a:r>
              <a:rPr lang="en-US" sz="850" dirty="0">
                <a:solidFill>
                  <a:srgbClr val="4A6080"/>
                </a:solidFill>
                <a:latin typeface="Calibri" pitchFamily="34" charset="0"/>
                <a:ea typeface="Calibri" pitchFamily="34" charset="-122"/>
                <a:cs typeface="Calibri" pitchFamily="34" charset="-120"/>
              </a:rPr>
              <a:t>Understand electromagnetic wave behavior through live observation</a:t>
            </a:r>
            <a:endParaRPr lang="en-US" sz="850" dirty="0"/>
          </a:p>
          <a:p>
            <a:pPr marL="342900" indent="-342900">
              <a:lnSpc>
                <a:spcPct val="120000"/>
              </a:lnSpc>
              <a:spcAft>
                <a:spcPts val="200"/>
              </a:spcAft>
              <a:buSzPct val="100000"/>
              <a:buChar char="•"/>
            </a:pPr>
            <a:r>
              <a:rPr lang="en-US" sz="850" dirty="0">
                <a:solidFill>
                  <a:srgbClr val="4A6080"/>
                </a:solidFill>
                <a:latin typeface="Calibri" pitchFamily="34" charset="0"/>
                <a:ea typeface="Calibri" pitchFamily="34" charset="-122"/>
                <a:cs typeface="Calibri" pitchFamily="34" charset="-120"/>
              </a:rPr>
              <a:t>See how materials (wood, concrete, glass, metal) affect wave transmission</a:t>
            </a:r>
            <a:endParaRPr lang="en-US" sz="850" dirty="0"/>
          </a:p>
          <a:p>
            <a:pPr marL="342900" indent="-342900">
              <a:lnSpc>
                <a:spcPct val="120000"/>
              </a:lnSpc>
              <a:spcAft>
                <a:spcPts val="200"/>
              </a:spcAft>
              <a:buSzPct val="100000"/>
              <a:buChar char="•"/>
            </a:pPr>
            <a:r>
              <a:rPr lang="en-US" sz="850" dirty="0">
                <a:solidFill>
                  <a:srgbClr val="4A6080"/>
                </a:solidFill>
                <a:latin typeface="Calibri" pitchFamily="34" charset="0"/>
                <a:ea typeface="Calibri" pitchFamily="34" charset="-122"/>
                <a:cs typeface="Calibri" pitchFamily="34" charset="-120"/>
              </a:rPr>
              <a:t>Explore the inverse square law of signal strength with real measurements</a:t>
            </a:r>
            <a:endParaRPr lang="en-US" sz="850" dirty="0"/>
          </a:p>
          <a:p>
            <a:pPr marL="342900" indent="-342900">
              <a:lnSpc>
                <a:spcPct val="120000"/>
              </a:lnSpc>
              <a:spcAft>
                <a:spcPts val="200"/>
              </a:spcAft>
              <a:buSzPct val="100000"/>
              <a:buChar char="•"/>
            </a:pPr>
            <a:r>
              <a:rPr lang="en-US" sz="850" dirty="0">
                <a:solidFill>
                  <a:srgbClr val="4A6080"/>
                </a:solidFill>
                <a:latin typeface="Calibri" pitchFamily="34" charset="0"/>
                <a:ea typeface="Calibri" pitchFamily="34" charset="-122"/>
                <a:cs typeface="Calibri" pitchFamily="34" charset="-120"/>
              </a:rPr>
              <a:t>Build experiments: 'which room material blocks signals most?'</a:t>
            </a:r>
            <a:endParaRPr lang="en-US" sz="850" dirty="0"/>
          </a:p>
        </p:txBody>
      </p:sp>
      <p:sp>
        <p:nvSpPr>
          <p:cNvPr id="17" name="Shape 15"/>
          <p:cNvSpPr/>
          <p:nvPr/>
        </p:nvSpPr>
        <p:spPr>
          <a:xfrm>
            <a:off x="4709160" y="3072384"/>
            <a:ext cx="4160520" cy="1719072"/>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8" name="Shape 16"/>
          <p:cNvSpPr/>
          <p:nvPr/>
        </p:nvSpPr>
        <p:spPr>
          <a:xfrm>
            <a:off x="4709160" y="3072384"/>
            <a:ext cx="4160520" cy="347472"/>
          </a:xfrm>
          <a:prstGeom prst="rect">
            <a:avLst/>
          </a:prstGeom>
          <a:solidFill>
            <a:srgbClr val="27AE60"/>
          </a:solidFill>
          <a:ln w="12700">
            <a:solidFill>
              <a:srgbClr val="27AE60"/>
            </a:solidFill>
            <a:prstDash val="solid"/>
          </a:ln>
        </p:spPr>
        <p:txBody>
          <a:bodyPr/>
          <a:lstStyle/>
          <a:p>
            <a:endParaRPr lang="en-IN"/>
          </a:p>
        </p:txBody>
      </p:sp>
      <p:sp>
        <p:nvSpPr>
          <p:cNvPr id="19" name="Text 17"/>
          <p:cNvSpPr/>
          <p:nvPr/>
        </p:nvSpPr>
        <p:spPr>
          <a:xfrm>
            <a:off x="4818888" y="3072384"/>
            <a:ext cx="3931920"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IT &amp; Networking Learners</a:t>
            </a:r>
            <a:endParaRPr lang="en-US" sz="1000" dirty="0"/>
          </a:p>
        </p:txBody>
      </p:sp>
      <p:sp>
        <p:nvSpPr>
          <p:cNvPr id="20" name="Text 18"/>
          <p:cNvSpPr/>
          <p:nvPr/>
        </p:nvSpPr>
        <p:spPr>
          <a:xfrm>
            <a:off x="4846320" y="3456432"/>
            <a:ext cx="3931920" cy="1280160"/>
          </a:xfrm>
          <a:prstGeom prst="rect">
            <a:avLst/>
          </a:prstGeom>
          <a:noFill/>
          <a:ln/>
        </p:spPr>
        <p:txBody>
          <a:bodyPr wrap="square" rtlCol="0" anchor="ctr"/>
          <a:lstStyle/>
          <a:p>
            <a:pPr marL="342900" indent="-342900">
              <a:lnSpc>
                <a:spcPct val="120000"/>
              </a:lnSpc>
              <a:spcAft>
                <a:spcPts val="200"/>
              </a:spcAft>
              <a:buSzPct val="100000"/>
              <a:buChar char="•"/>
            </a:pPr>
            <a:r>
              <a:rPr lang="en-US" sz="850" dirty="0">
                <a:solidFill>
                  <a:srgbClr val="4A6080"/>
                </a:solidFill>
                <a:latin typeface="Calibri" pitchFamily="34" charset="0"/>
                <a:ea typeface="Calibri" pitchFamily="34" charset="-122"/>
                <a:cs typeface="Calibri" pitchFamily="34" charset="-120"/>
              </a:rPr>
              <a:t>Learn to identify channel congestion in real networks without expensive tools</a:t>
            </a:r>
            <a:endParaRPr lang="en-US" sz="850" dirty="0"/>
          </a:p>
          <a:p>
            <a:pPr marL="342900" indent="-342900">
              <a:lnSpc>
                <a:spcPct val="120000"/>
              </a:lnSpc>
              <a:spcAft>
                <a:spcPts val="200"/>
              </a:spcAft>
              <a:buSzPct val="100000"/>
              <a:buChar char="•"/>
            </a:pPr>
            <a:r>
              <a:rPr lang="en-US" sz="850" dirty="0">
                <a:solidFill>
                  <a:srgbClr val="4A6080"/>
                </a:solidFill>
                <a:latin typeface="Calibri" pitchFamily="34" charset="0"/>
                <a:ea typeface="Calibri" pitchFamily="34" charset="-122"/>
                <a:cs typeface="Calibri" pitchFamily="34" charset="-120"/>
              </a:rPr>
              <a:t>Understand dead zone formation from first-hand spatial experience</a:t>
            </a:r>
            <a:endParaRPr lang="en-US" sz="850" dirty="0"/>
          </a:p>
          <a:p>
            <a:pPr marL="342900" indent="-342900">
              <a:lnSpc>
                <a:spcPct val="120000"/>
              </a:lnSpc>
              <a:spcAft>
                <a:spcPts val="200"/>
              </a:spcAft>
              <a:buSzPct val="100000"/>
              <a:buChar char="•"/>
            </a:pPr>
            <a:r>
              <a:rPr lang="en-US" sz="850" dirty="0">
                <a:solidFill>
                  <a:srgbClr val="4A6080"/>
                </a:solidFill>
                <a:latin typeface="Calibri" pitchFamily="34" charset="0"/>
                <a:ea typeface="Calibri" pitchFamily="34" charset="-122"/>
                <a:cs typeface="Calibri" pitchFamily="34" charset="-120"/>
              </a:rPr>
              <a:t>Practice network planning by walking spaces and identifying optimal router positions</a:t>
            </a:r>
            <a:endParaRPr lang="en-US" sz="850" dirty="0"/>
          </a:p>
          <a:p>
            <a:pPr marL="342900" indent="-342900">
              <a:lnSpc>
                <a:spcPct val="120000"/>
              </a:lnSpc>
              <a:spcAft>
                <a:spcPts val="200"/>
              </a:spcAft>
              <a:buSzPct val="100000"/>
              <a:buChar char="•"/>
            </a:pPr>
            <a:r>
              <a:rPr lang="en-US" sz="850" dirty="0">
                <a:solidFill>
                  <a:srgbClr val="4A6080"/>
                </a:solidFill>
                <a:latin typeface="Calibri" pitchFamily="34" charset="0"/>
                <a:ea typeface="Calibri" pitchFamily="34" charset="-122"/>
                <a:cs typeface="Calibri" pitchFamily="34" charset="-120"/>
              </a:rPr>
              <a:t>Develop intuition for RF behavior that textbooks cannot convey</a:t>
            </a:r>
            <a:endParaRPr lang="en-US" sz="850" dirty="0"/>
          </a:p>
        </p:txBody>
      </p:sp>
      <p:sp>
        <p:nvSpPr>
          <p:cNvPr id="21" name="Shape 19"/>
          <p:cNvSpPr/>
          <p:nvPr/>
        </p:nvSpPr>
        <p:spPr>
          <a:xfrm>
            <a:off x="0" y="4864608"/>
            <a:ext cx="9144000" cy="274320"/>
          </a:xfrm>
          <a:prstGeom prst="rect">
            <a:avLst/>
          </a:prstGeom>
          <a:solidFill>
            <a:srgbClr val="0D1B3E"/>
          </a:solidFill>
          <a:ln w="12700">
            <a:solidFill>
              <a:srgbClr val="0D1B3E"/>
            </a:solidFill>
            <a:prstDash val="solid"/>
          </a:ln>
        </p:spPr>
        <p:txBody>
          <a:bodyPr/>
          <a:lstStyle/>
          <a:p>
            <a:endParaRPr lang="en-IN"/>
          </a:p>
        </p:txBody>
      </p:sp>
      <p:sp>
        <p:nvSpPr>
          <p:cNvPr id="22" name="Text 20"/>
          <p:cNvSpPr/>
          <p:nvPr/>
        </p:nvSpPr>
        <p:spPr>
          <a:xfrm>
            <a:off x="274320" y="4873752"/>
            <a:ext cx="7772400" cy="256032"/>
          </a:xfrm>
          <a:prstGeom prst="rect">
            <a:avLst/>
          </a:prstGeom>
          <a:noFill/>
          <a:ln/>
        </p:spPr>
        <p:txBody>
          <a:bodyPr wrap="square" rtlCol="0" anchor="ctr"/>
          <a:lstStyle/>
          <a:p>
            <a:r>
              <a:rPr lang="en-US" sz="800" dirty="0">
                <a:solidFill>
                  <a:srgbClr val="8BA0BF"/>
                </a:solidFill>
                <a:latin typeface="Calibri" pitchFamily="34" charset="0"/>
                <a:ea typeface="Calibri" pitchFamily="34" charset="-122"/>
                <a:cs typeface="Calibri" pitchFamily="34" charset="-120"/>
              </a:rPr>
              <a:t>Drishti XR ·  Wireless Signal Mapping &amp; Visualization for Everyone</a:t>
            </a:r>
            <a:endParaRPr lang="en-US" sz="800" dirty="0"/>
          </a:p>
        </p:txBody>
      </p:sp>
      <p:sp>
        <p:nvSpPr>
          <p:cNvPr id="23" name="Text 21"/>
          <p:cNvSpPr/>
          <p:nvPr/>
        </p:nvSpPr>
        <p:spPr>
          <a:xfrm>
            <a:off x="8412480" y="4873752"/>
            <a:ext cx="548640" cy="256032"/>
          </a:xfrm>
          <a:prstGeom prst="rect">
            <a:avLst/>
          </a:prstGeom>
          <a:noFill/>
          <a:ln/>
        </p:spPr>
        <p:txBody>
          <a:bodyPr wrap="square" rtlCol="0" anchor="ctr"/>
          <a:lstStyle/>
          <a:p>
            <a:pPr marL="0" indent="0" algn="r">
              <a:buNone/>
            </a:pPr>
            <a:r>
              <a:rPr lang="en-US" sz="800" dirty="0">
                <a:solidFill>
                  <a:srgbClr val="8BA0BF"/>
                </a:solidFill>
                <a:latin typeface="Calibri" pitchFamily="34" charset="0"/>
                <a:ea typeface="Calibri" pitchFamily="34" charset="-122"/>
                <a:cs typeface="Calibri" pitchFamily="34" charset="-120"/>
              </a:rPr>
              <a:t>10 / 12</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365760" y="182880"/>
            <a:ext cx="54864" cy="502920"/>
          </a:xfrm>
          <a:prstGeom prst="rect">
            <a:avLst/>
          </a:prstGeom>
          <a:solidFill>
            <a:srgbClr val="00A8CC"/>
          </a:solidFill>
          <a:ln w="12700">
            <a:solidFill>
              <a:srgbClr val="00A8CC"/>
            </a:solidFill>
            <a:prstDash val="solid"/>
          </a:ln>
        </p:spPr>
        <p:txBody>
          <a:bodyPr/>
          <a:lstStyle/>
          <a:p>
            <a:endParaRPr lang="en-IN"/>
          </a:p>
        </p:txBody>
      </p:sp>
      <p:sp>
        <p:nvSpPr>
          <p:cNvPr id="3" name="Text 1"/>
          <p:cNvSpPr/>
          <p:nvPr/>
        </p:nvSpPr>
        <p:spPr>
          <a:xfrm>
            <a:off x="502920" y="164592"/>
            <a:ext cx="8229600" cy="548640"/>
          </a:xfrm>
          <a:prstGeom prst="rect">
            <a:avLst/>
          </a:prstGeom>
          <a:noFill/>
          <a:ln/>
        </p:spPr>
        <p:txBody>
          <a:bodyPr wrap="square" lIns="0" tIns="0" rIns="0" bIns="0" rtlCol="0" anchor="ctr"/>
          <a:lstStyle/>
          <a:p>
            <a:pPr marL="0" indent="0">
              <a:buNone/>
            </a:pPr>
            <a:r>
              <a:rPr lang="en-US" sz="1100" b="1" dirty="0">
                <a:solidFill>
                  <a:srgbClr val="00A8CC"/>
                </a:solidFill>
                <a:latin typeface="Calibri" pitchFamily="34" charset="0"/>
                <a:ea typeface="Calibri" pitchFamily="34" charset="-122"/>
                <a:cs typeface="Calibri" pitchFamily="34" charset="-120"/>
              </a:rPr>
              <a:t>10.  Expected Outcomes &amp; Applications</a:t>
            </a:r>
            <a:endParaRPr lang="en-US" sz="1100" dirty="0"/>
          </a:p>
        </p:txBody>
      </p:sp>
      <p:sp>
        <p:nvSpPr>
          <p:cNvPr id="4" name="Text 2"/>
          <p:cNvSpPr/>
          <p:nvPr/>
        </p:nvSpPr>
        <p:spPr>
          <a:xfrm>
            <a:off x="365760" y="749808"/>
            <a:ext cx="8412480" cy="475488"/>
          </a:xfrm>
          <a:prstGeom prst="rect">
            <a:avLst/>
          </a:prstGeom>
          <a:noFill/>
          <a:ln/>
        </p:spPr>
        <p:txBody>
          <a:bodyPr wrap="square" lIns="0" tIns="0" rIns="0" bIns="0" rtlCol="0" anchor="ctr"/>
          <a:lstStyle/>
          <a:p>
            <a:pPr marL="0" indent="0">
              <a:buNone/>
            </a:pPr>
            <a:r>
              <a:rPr lang="en-US" sz="2600" b="1" dirty="0">
                <a:solidFill>
                  <a:srgbClr val="1C2E4A"/>
                </a:solidFill>
                <a:latin typeface="Calibri" pitchFamily="34" charset="0"/>
                <a:ea typeface="Calibri" pitchFamily="34" charset="-122"/>
                <a:cs typeface="Calibri" pitchFamily="34" charset="-120"/>
              </a:rPr>
              <a:t>Real-World Impact</a:t>
            </a:r>
            <a:endParaRPr lang="en-US" sz="2600" dirty="0"/>
          </a:p>
        </p:txBody>
      </p:sp>
      <p:sp>
        <p:nvSpPr>
          <p:cNvPr id="5" name="Shape 3"/>
          <p:cNvSpPr/>
          <p:nvPr/>
        </p:nvSpPr>
        <p:spPr>
          <a:xfrm>
            <a:off x="365760" y="1316736"/>
            <a:ext cx="4160520" cy="1426464"/>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6" name="Shape 4"/>
          <p:cNvSpPr/>
          <p:nvPr/>
        </p:nvSpPr>
        <p:spPr>
          <a:xfrm>
            <a:off x="365760" y="1316736"/>
            <a:ext cx="54864" cy="1426464"/>
          </a:xfrm>
          <a:prstGeom prst="rect">
            <a:avLst/>
          </a:prstGeom>
          <a:solidFill>
            <a:srgbClr val="00A8CC"/>
          </a:solidFill>
          <a:ln w="12700">
            <a:solidFill>
              <a:srgbClr val="00A8CC"/>
            </a:solidFill>
            <a:prstDash val="solid"/>
          </a:ln>
        </p:spPr>
        <p:txBody>
          <a:bodyPr/>
          <a:lstStyle/>
          <a:p>
            <a:endParaRPr lang="en-IN"/>
          </a:p>
        </p:txBody>
      </p:sp>
      <p:sp>
        <p:nvSpPr>
          <p:cNvPr id="7" name="Text 5"/>
          <p:cNvSpPr/>
          <p:nvPr/>
        </p:nvSpPr>
        <p:spPr>
          <a:xfrm>
            <a:off x="493776" y="1408176"/>
            <a:ext cx="3931920" cy="292608"/>
          </a:xfrm>
          <a:prstGeom prst="rect">
            <a:avLst/>
          </a:prstGeom>
          <a:noFill/>
          <a:ln/>
        </p:spPr>
        <p:txBody>
          <a:bodyPr wrap="square" lIns="0" tIns="0" rIns="0" bIns="0" rtlCol="0" anchor="ctr"/>
          <a:lstStyle/>
          <a:p>
            <a:pPr marL="0" indent="0">
              <a:buNone/>
            </a:pPr>
            <a:r>
              <a:rPr lang="en-US" sz="1000" b="1" dirty="0">
                <a:solidFill>
                  <a:srgbClr val="1C2E4A"/>
                </a:solidFill>
                <a:latin typeface="Calibri" pitchFamily="34" charset="0"/>
                <a:ea typeface="Calibri" pitchFamily="34" charset="-122"/>
                <a:cs typeface="Calibri" pitchFamily="34" charset="-120"/>
              </a:rPr>
              <a:t>Everyone Becomes Their Own Network Engineer</a:t>
            </a:r>
            <a:endParaRPr lang="en-US" sz="1000" dirty="0"/>
          </a:p>
        </p:txBody>
      </p:sp>
      <p:sp>
        <p:nvSpPr>
          <p:cNvPr id="8" name="Text 6"/>
          <p:cNvSpPr/>
          <p:nvPr/>
        </p:nvSpPr>
        <p:spPr>
          <a:xfrm>
            <a:off x="493776" y="1719072"/>
            <a:ext cx="3931920" cy="950976"/>
          </a:xfrm>
          <a:prstGeom prst="rect">
            <a:avLst/>
          </a:prstGeom>
          <a:noFill/>
          <a:ln/>
        </p:spPr>
        <p:txBody>
          <a:bodyPr wrap="square" rtlCol="0" anchor="ctr"/>
          <a:lstStyle/>
          <a:p>
            <a:pPr marL="0" indent="0">
              <a:lnSpc>
                <a:spcPct val="125000"/>
              </a:lnSpc>
              <a:buNone/>
            </a:pPr>
            <a:r>
              <a:rPr lang="en-US" sz="880" dirty="0">
                <a:solidFill>
                  <a:srgbClr val="4A6080"/>
                </a:solidFill>
                <a:latin typeface="Calibri" pitchFamily="34" charset="0"/>
                <a:ea typeface="Calibri" pitchFamily="34" charset="-122"/>
                <a:cs typeface="Calibri" pitchFamily="34" charset="-120"/>
              </a:rPr>
              <a:t>Any person — regardless of technical knowledge — can diagnose and improve their wireless connectivity using just their phone. This democratizes a capability that previously required professional tools.</a:t>
            </a:r>
            <a:endParaRPr lang="en-US" sz="880" dirty="0"/>
          </a:p>
        </p:txBody>
      </p:sp>
      <p:sp>
        <p:nvSpPr>
          <p:cNvPr id="9" name="Shape 7"/>
          <p:cNvSpPr/>
          <p:nvPr/>
        </p:nvSpPr>
        <p:spPr>
          <a:xfrm>
            <a:off x="4709160" y="1316736"/>
            <a:ext cx="4160520" cy="1426464"/>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0" name="Shape 8"/>
          <p:cNvSpPr/>
          <p:nvPr/>
        </p:nvSpPr>
        <p:spPr>
          <a:xfrm>
            <a:off x="4709160" y="1316736"/>
            <a:ext cx="54864" cy="1426464"/>
          </a:xfrm>
          <a:prstGeom prst="rect">
            <a:avLst/>
          </a:prstGeom>
          <a:solidFill>
            <a:srgbClr val="2C3E6B"/>
          </a:solidFill>
          <a:ln w="12700">
            <a:solidFill>
              <a:srgbClr val="2C3E6B"/>
            </a:solidFill>
            <a:prstDash val="solid"/>
          </a:ln>
        </p:spPr>
        <p:txBody>
          <a:bodyPr/>
          <a:lstStyle/>
          <a:p>
            <a:endParaRPr lang="en-IN"/>
          </a:p>
        </p:txBody>
      </p:sp>
      <p:sp>
        <p:nvSpPr>
          <p:cNvPr id="11" name="Text 9"/>
          <p:cNvSpPr/>
          <p:nvPr/>
        </p:nvSpPr>
        <p:spPr>
          <a:xfrm>
            <a:off x="4837176" y="1408176"/>
            <a:ext cx="3931920" cy="292608"/>
          </a:xfrm>
          <a:prstGeom prst="rect">
            <a:avLst/>
          </a:prstGeom>
          <a:noFill/>
          <a:ln/>
        </p:spPr>
        <p:txBody>
          <a:bodyPr wrap="square" lIns="0" tIns="0" rIns="0" bIns="0" rtlCol="0" anchor="ctr"/>
          <a:lstStyle/>
          <a:p>
            <a:pPr marL="0" indent="0">
              <a:buNone/>
            </a:pPr>
            <a:r>
              <a:rPr lang="en-US" sz="1000" b="1" dirty="0">
                <a:solidFill>
                  <a:srgbClr val="1C2E4A"/>
                </a:solidFill>
                <a:latin typeface="Calibri" pitchFamily="34" charset="0"/>
                <a:ea typeface="Calibri" pitchFamily="34" charset="-122"/>
                <a:cs typeface="Calibri" pitchFamily="34" charset="-120"/>
              </a:rPr>
              <a:t>First-Ever Consumer MR Signal Experience</a:t>
            </a:r>
            <a:endParaRPr lang="en-US" sz="1000" dirty="0"/>
          </a:p>
        </p:txBody>
      </p:sp>
      <p:sp>
        <p:nvSpPr>
          <p:cNvPr id="12" name="Text 10"/>
          <p:cNvSpPr/>
          <p:nvPr/>
        </p:nvSpPr>
        <p:spPr>
          <a:xfrm>
            <a:off x="4837176" y="1719072"/>
            <a:ext cx="3931920" cy="950976"/>
          </a:xfrm>
          <a:prstGeom prst="rect">
            <a:avLst/>
          </a:prstGeom>
          <a:noFill/>
          <a:ln/>
        </p:spPr>
        <p:txBody>
          <a:bodyPr wrap="square" rtlCol="0" anchor="ctr"/>
          <a:lstStyle/>
          <a:p>
            <a:pPr marL="0" indent="0">
              <a:lnSpc>
                <a:spcPct val="125000"/>
              </a:lnSpc>
              <a:buNone/>
            </a:pPr>
            <a:r>
              <a:rPr lang="en-US" sz="880" dirty="0">
                <a:solidFill>
                  <a:srgbClr val="4A6080"/>
                </a:solidFill>
                <a:latin typeface="Calibri" pitchFamily="34" charset="0"/>
                <a:ea typeface="Calibri" pitchFamily="34" charset="-122"/>
                <a:cs typeface="Calibri" pitchFamily="34" charset="-120"/>
              </a:rPr>
              <a:t>Drishti </a:t>
            </a:r>
            <a:r>
              <a:rPr lang="en-US" sz="880" dirty="0" err="1">
                <a:solidFill>
                  <a:srgbClr val="4A6080"/>
                </a:solidFill>
                <a:latin typeface="Calibri" pitchFamily="34" charset="0"/>
                <a:ea typeface="Calibri" pitchFamily="34" charset="-122"/>
                <a:cs typeface="Calibri" pitchFamily="34" charset="-120"/>
              </a:rPr>
              <a:t>XRwill</a:t>
            </a:r>
            <a:r>
              <a:rPr lang="en-US" sz="880" dirty="0">
                <a:solidFill>
                  <a:srgbClr val="4A6080"/>
                </a:solidFill>
                <a:latin typeface="Calibri" pitchFamily="34" charset="0"/>
                <a:ea typeface="Calibri" pitchFamily="34" charset="-122"/>
                <a:cs typeface="Calibri" pitchFamily="34" charset="-120"/>
              </a:rPr>
              <a:t> be the first publicly available Mixed Reality application that turns a smartphone into a live RF visualization tool, a genuinely novel product category.</a:t>
            </a:r>
            <a:endParaRPr lang="en-US" sz="880" dirty="0"/>
          </a:p>
        </p:txBody>
      </p:sp>
      <p:sp>
        <p:nvSpPr>
          <p:cNvPr id="13" name="Shape 11"/>
          <p:cNvSpPr/>
          <p:nvPr/>
        </p:nvSpPr>
        <p:spPr>
          <a:xfrm>
            <a:off x="365760" y="2825496"/>
            <a:ext cx="4160520" cy="1426464"/>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4" name="Shape 12"/>
          <p:cNvSpPr/>
          <p:nvPr/>
        </p:nvSpPr>
        <p:spPr>
          <a:xfrm>
            <a:off x="365760" y="2825496"/>
            <a:ext cx="54864" cy="1426464"/>
          </a:xfrm>
          <a:prstGeom prst="rect">
            <a:avLst/>
          </a:prstGeom>
          <a:solidFill>
            <a:srgbClr val="27AE60"/>
          </a:solidFill>
          <a:ln w="12700">
            <a:solidFill>
              <a:srgbClr val="27AE60"/>
            </a:solidFill>
            <a:prstDash val="solid"/>
          </a:ln>
        </p:spPr>
        <p:txBody>
          <a:bodyPr/>
          <a:lstStyle/>
          <a:p>
            <a:endParaRPr lang="en-IN"/>
          </a:p>
        </p:txBody>
      </p:sp>
      <p:sp>
        <p:nvSpPr>
          <p:cNvPr id="15" name="Text 13"/>
          <p:cNvSpPr/>
          <p:nvPr/>
        </p:nvSpPr>
        <p:spPr>
          <a:xfrm>
            <a:off x="493776" y="2916936"/>
            <a:ext cx="3931920" cy="292608"/>
          </a:xfrm>
          <a:prstGeom prst="rect">
            <a:avLst/>
          </a:prstGeom>
          <a:noFill/>
          <a:ln/>
        </p:spPr>
        <p:txBody>
          <a:bodyPr wrap="square" lIns="0" tIns="0" rIns="0" bIns="0" rtlCol="0" anchor="ctr"/>
          <a:lstStyle/>
          <a:p>
            <a:pPr marL="0" indent="0">
              <a:buNone/>
            </a:pPr>
            <a:r>
              <a:rPr lang="en-US" sz="1000" b="1" dirty="0">
                <a:solidFill>
                  <a:srgbClr val="1C2E4A"/>
                </a:solidFill>
                <a:latin typeface="Calibri" pitchFamily="34" charset="0"/>
                <a:ea typeface="Calibri" pitchFamily="34" charset="-122"/>
                <a:cs typeface="Calibri" pitchFamily="34" charset="-120"/>
              </a:rPr>
              <a:t>Measurable Connectivity Improvement</a:t>
            </a:r>
            <a:endParaRPr lang="en-US" sz="1000" dirty="0"/>
          </a:p>
        </p:txBody>
      </p:sp>
      <p:sp>
        <p:nvSpPr>
          <p:cNvPr id="16" name="Text 14"/>
          <p:cNvSpPr/>
          <p:nvPr/>
        </p:nvSpPr>
        <p:spPr>
          <a:xfrm>
            <a:off x="493776" y="3227832"/>
            <a:ext cx="3931920" cy="950976"/>
          </a:xfrm>
          <a:prstGeom prst="rect">
            <a:avLst/>
          </a:prstGeom>
          <a:noFill/>
          <a:ln/>
        </p:spPr>
        <p:txBody>
          <a:bodyPr wrap="square" rtlCol="0" anchor="ctr"/>
          <a:lstStyle/>
          <a:p>
            <a:pPr marL="0" indent="0">
              <a:lnSpc>
                <a:spcPct val="125000"/>
              </a:lnSpc>
              <a:buNone/>
            </a:pPr>
            <a:r>
              <a:rPr lang="en-US" sz="880" dirty="0">
                <a:solidFill>
                  <a:srgbClr val="4A6080"/>
                </a:solidFill>
                <a:latin typeface="Calibri" pitchFamily="34" charset="0"/>
                <a:ea typeface="Calibri" pitchFamily="34" charset="-122"/>
                <a:cs typeface="Calibri" pitchFamily="34" charset="-120"/>
              </a:rPr>
              <a:t>By guiding users to optimal spots and identifying obstacles, the app produces tangible improvements in connection speed and reliability in homes, schools, and workplaces.</a:t>
            </a:r>
            <a:endParaRPr lang="en-US" sz="880" dirty="0"/>
          </a:p>
        </p:txBody>
      </p:sp>
      <p:sp>
        <p:nvSpPr>
          <p:cNvPr id="17" name="Shape 15"/>
          <p:cNvSpPr/>
          <p:nvPr/>
        </p:nvSpPr>
        <p:spPr>
          <a:xfrm>
            <a:off x="4709160" y="2825496"/>
            <a:ext cx="4160520" cy="1426464"/>
          </a:xfrm>
          <a:prstGeom prst="rect">
            <a:avLst/>
          </a:prstGeom>
          <a:solidFill>
            <a:srgbClr val="FFFFFF"/>
          </a:solidFill>
          <a:ln w="12700">
            <a:solidFill>
              <a:srgbClr val="E0E8F5"/>
            </a:solidFill>
            <a:prstDash val="solid"/>
          </a:ln>
          <a:effectLst>
            <a:outerShdw blurRad="76200" dist="38100" dir="8100000" algn="bl" rotWithShape="0">
              <a:srgbClr val="000000">
                <a:alpha val="14000"/>
              </a:srgbClr>
            </a:outerShdw>
          </a:effectLst>
        </p:spPr>
        <p:txBody>
          <a:bodyPr/>
          <a:lstStyle/>
          <a:p>
            <a:endParaRPr lang="en-IN"/>
          </a:p>
        </p:txBody>
      </p:sp>
      <p:sp>
        <p:nvSpPr>
          <p:cNvPr id="18" name="Shape 16"/>
          <p:cNvSpPr/>
          <p:nvPr/>
        </p:nvSpPr>
        <p:spPr>
          <a:xfrm>
            <a:off x="4709160" y="2825496"/>
            <a:ext cx="54864" cy="1426464"/>
          </a:xfrm>
          <a:prstGeom prst="rect">
            <a:avLst/>
          </a:prstGeom>
          <a:solidFill>
            <a:srgbClr val="7D3C98"/>
          </a:solidFill>
          <a:ln w="12700">
            <a:solidFill>
              <a:srgbClr val="7D3C98"/>
            </a:solidFill>
            <a:prstDash val="solid"/>
          </a:ln>
        </p:spPr>
        <p:txBody>
          <a:bodyPr/>
          <a:lstStyle/>
          <a:p>
            <a:endParaRPr lang="en-IN"/>
          </a:p>
        </p:txBody>
      </p:sp>
      <p:sp>
        <p:nvSpPr>
          <p:cNvPr id="19" name="Text 17"/>
          <p:cNvSpPr/>
          <p:nvPr/>
        </p:nvSpPr>
        <p:spPr>
          <a:xfrm>
            <a:off x="4837176" y="2916936"/>
            <a:ext cx="3931920" cy="292608"/>
          </a:xfrm>
          <a:prstGeom prst="rect">
            <a:avLst/>
          </a:prstGeom>
          <a:noFill/>
          <a:ln/>
        </p:spPr>
        <p:txBody>
          <a:bodyPr wrap="square" lIns="0" tIns="0" rIns="0" bIns="0" rtlCol="0" anchor="ctr"/>
          <a:lstStyle/>
          <a:p>
            <a:pPr marL="0" indent="0">
              <a:buNone/>
            </a:pPr>
            <a:r>
              <a:rPr lang="en-US" sz="1000" b="1" dirty="0">
                <a:solidFill>
                  <a:srgbClr val="1C2E4A"/>
                </a:solidFill>
                <a:latin typeface="Calibri" pitchFamily="34" charset="0"/>
                <a:ea typeface="Calibri" pitchFamily="34" charset="-122"/>
                <a:cs typeface="Calibri" pitchFamily="34" charset="-120"/>
              </a:rPr>
              <a:t>A New Standard for RF Education</a:t>
            </a:r>
            <a:endParaRPr lang="en-US" sz="1000" dirty="0"/>
          </a:p>
        </p:txBody>
      </p:sp>
      <p:sp>
        <p:nvSpPr>
          <p:cNvPr id="20" name="Text 18"/>
          <p:cNvSpPr/>
          <p:nvPr/>
        </p:nvSpPr>
        <p:spPr>
          <a:xfrm>
            <a:off x="4837176" y="3227832"/>
            <a:ext cx="3931920" cy="950976"/>
          </a:xfrm>
          <a:prstGeom prst="rect">
            <a:avLst/>
          </a:prstGeom>
          <a:noFill/>
          <a:ln/>
        </p:spPr>
        <p:txBody>
          <a:bodyPr wrap="square" rtlCol="0" anchor="ctr"/>
          <a:lstStyle/>
          <a:p>
            <a:pPr marL="0" indent="0">
              <a:lnSpc>
                <a:spcPct val="125000"/>
              </a:lnSpc>
              <a:buNone/>
            </a:pPr>
            <a:r>
              <a:rPr lang="en-US" sz="880" dirty="0">
                <a:solidFill>
                  <a:srgbClr val="4A6080"/>
                </a:solidFill>
                <a:latin typeface="Calibri" pitchFamily="34" charset="0"/>
                <a:ea typeface="Calibri" pitchFamily="34" charset="-122"/>
                <a:cs typeface="Calibri" pitchFamily="34" charset="-120"/>
              </a:rPr>
              <a:t>Education mode transforms abstract wireless engineering theory into a hands-on, visual, spatial experience , potentially used by millions of students globally as a standard learning tool.</a:t>
            </a:r>
            <a:endParaRPr lang="en-US" sz="880" dirty="0"/>
          </a:p>
        </p:txBody>
      </p:sp>
      <p:sp>
        <p:nvSpPr>
          <p:cNvPr id="21" name="Text 19"/>
          <p:cNvSpPr/>
          <p:nvPr/>
        </p:nvSpPr>
        <p:spPr>
          <a:xfrm>
            <a:off x="365760" y="4407408"/>
            <a:ext cx="1005840" cy="274320"/>
          </a:xfrm>
          <a:prstGeom prst="rect">
            <a:avLst/>
          </a:prstGeom>
          <a:noFill/>
          <a:ln/>
        </p:spPr>
        <p:txBody>
          <a:bodyPr wrap="square" rtlCol="0" anchor="ctr"/>
          <a:lstStyle/>
          <a:p>
            <a:pPr marL="0" indent="0">
              <a:buNone/>
            </a:pPr>
            <a:r>
              <a:rPr lang="en-US" sz="950" b="1" dirty="0">
                <a:solidFill>
                  <a:srgbClr val="1C2E4A"/>
                </a:solidFill>
                <a:latin typeface="Calibri" pitchFamily="34" charset="0"/>
                <a:ea typeface="Calibri" pitchFamily="34" charset="-122"/>
                <a:cs typeface="Calibri" pitchFamily="34" charset="-120"/>
              </a:rPr>
              <a:t>Who Uses It:</a:t>
            </a:r>
            <a:endParaRPr lang="en-US" sz="950" dirty="0"/>
          </a:p>
        </p:txBody>
      </p:sp>
      <p:sp>
        <p:nvSpPr>
          <p:cNvPr id="22" name="Shape 20"/>
          <p:cNvSpPr/>
          <p:nvPr/>
        </p:nvSpPr>
        <p:spPr>
          <a:xfrm>
            <a:off x="1417320" y="4407408"/>
            <a:ext cx="1188720" cy="274320"/>
          </a:xfrm>
          <a:prstGeom prst="roundRect">
            <a:avLst>
              <a:gd name="adj" fmla="val 13333"/>
            </a:avLst>
          </a:prstGeom>
          <a:solidFill>
            <a:srgbClr val="00A8CC"/>
          </a:solidFill>
          <a:ln w="12700">
            <a:solidFill>
              <a:srgbClr val="00A8CC"/>
            </a:solidFill>
            <a:prstDash val="solid"/>
          </a:ln>
        </p:spPr>
        <p:txBody>
          <a:bodyPr/>
          <a:lstStyle/>
          <a:p>
            <a:endParaRPr lang="en-IN"/>
          </a:p>
        </p:txBody>
      </p:sp>
      <p:sp>
        <p:nvSpPr>
          <p:cNvPr id="23" name="Text 21"/>
          <p:cNvSpPr/>
          <p:nvPr/>
        </p:nvSpPr>
        <p:spPr>
          <a:xfrm>
            <a:off x="1463040" y="4407408"/>
            <a:ext cx="1143000" cy="274320"/>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 Home Users</a:t>
            </a:r>
            <a:endParaRPr lang="en-US" sz="750" dirty="0"/>
          </a:p>
        </p:txBody>
      </p:sp>
      <p:sp>
        <p:nvSpPr>
          <p:cNvPr id="24" name="Shape 22"/>
          <p:cNvSpPr/>
          <p:nvPr/>
        </p:nvSpPr>
        <p:spPr>
          <a:xfrm>
            <a:off x="2679192" y="4407408"/>
            <a:ext cx="1188720" cy="274320"/>
          </a:xfrm>
          <a:prstGeom prst="roundRect">
            <a:avLst>
              <a:gd name="adj" fmla="val 13333"/>
            </a:avLst>
          </a:prstGeom>
          <a:solidFill>
            <a:srgbClr val="00A8CC"/>
          </a:solidFill>
          <a:ln w="12700">
            <a:solidFill>
              <a:srgbClr val="00A8CC"/>
            </a:solidFill>
            <a:prstDash val="solid"/>
          </a:ln>
        </p:spPr>
        <p:txBody>
          <a:bodyPr/>
          <a:lstStyle/>
          <a:p>
            <a:endParaRPr lang="en-IN"/>
          </a:p>
        </p:txBody>
      </p:sp>
      <p:sp>
        <p:nvSpPr>
          <p:cNvPr id="25" name="Text 23"/>
          <p:cNvSpPr/>
          <p:nvPr/>
        </p:nvSpPr>
        <p:spPr>
          <a:xfrm>
            <a:off x="2724912" y="4407408"/>
            <a:ext cx="1143000" cy="274320"/>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 Students &amp; Teachers</a:t>
            </a:r>
            <a:endParaRPr lang="en-US" sz="750" dirty="0"/>
          </a:p>
        </p:txBody>
      </p:sp>
      <p:sp>
        <p:nvSpPr>
          <p:cNvPr id="26" name="Shape 24"/>
          <p:cNvSpPr/>
          <p:nvPr/>
        </p:nvSpPr>
        <p:spPr>
          <a:xfrm>
            <a:off x="3941064" y="4407408"/>
            <a:ext cx="1188720" cy="274320"/>
          </a:xfrm>
          <a:prstGeom prst="roundRect">
            <a:avLst>
              <a:gd name="adj" fmla="val 13333"/>
            </a:avLst>
          </a:prstGeom>
          <a:solidFill>
            <a:srgbClr val="00A8CC"/>
          </a:solidFill>
          <a:ln w="12700">
            <a:solidFill>
              <a:srgbClr val="00A8CC"/>
            </a:solidFill>
            <a:prstDash val="solid"/>
          </a:ln>
        </p:spPr>
        <p:txBody>
          <a:bodyPr/>
          <a:lstStyle/>
          <a:p>
            <a:endParaRPr lang="en-IN"/>
          </a:p>
        </p:txBody>
      </p:sp>
      <p:sp>
        <p:nvSpPr>
          <p:cNvPr id="27" name="Text 25"/>
          <p:cNvSpPr/>
          <p:nvPr/>
        </p:nvSpPr>
        <p:spPr>
          <a:xfrm>
            <a:off x="3986784" y="4407408"/>
            <a:ext cx="1143000" cy="274320"/>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 Offices &amp; Businesses</a:t>
            </a:r>
            <a:endParaRPr lang="en-US" sz="750" dirty="0"/>
          </a:p>
        </p:txBody>
      </p:sp>
      <p:sp>
        <p:nvSpPr>
          <p:cNvPr id="28" name="Shape 26"/>
          <p:cNvSpPr/>
          <p:nvPr/>
        </p:nvSpPr>
        <p:spPr>
          <a:xfrm>
            <a:off x="5202936" y="4407408"/>
            <a:ext cx="1188720" cy="274320"/>
          </a:xfrm>
          <a:prstGeom prst="roundRect">
            <a:avLst>
              <a:gd name="adj" fmla="val 13333"/>
            </a:avLst>
          </a:prstGeom>
          <a:solidFill>
            <a:srgbClr val="00A8CC"/>
          </a:solidFill>
          <a:ln w="12700">
            <a:solidFill>
              <a:srgbClr val="00A8CC"/>
            </a:solidFill>
            <a:prstDash val="solid"/>
          </a:ln>
        </p:spPr>
        <p:txBody>
          <a:bodyPr/>
          <a:lstStyle/>
          <a:p>
            <a:endParaRPr lang="en-IN"/>
          </a:p>
        </p:txBody>
      </p:sp>
      <p:sp>
        <p:nvSpPr>
          <p:cNvPr id="29" name="Text 27"/>
          <p:cNvSpPr/>
          <p:nvPr/>
        </p:nvSpPr>
        <p:spPr>
          <a:xfrm>
            <a:off x="5248656" y="4407408"/>
            <a:ext cx="1143000" cy="274320"/>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 Hospitals &amp; Clinics</a:t>
            </a:r>
            <a:endParaRPr lang="en-US" sz="750" dirty="0"/>
          </a:p>
        </p:txBody>
      </p:sp>
      <p:sp>
        <p:nvSpPr>
          <p:cNvPr id="30" name="Shape 28"/>
          <p:cNvSpPr/>
          <p:nvPr/>
        </p:nvSpPr>
        <p:spPr>
          <a:xfrm>
            <a:off x="6464808" y="4407408"/>
            <a:ext cx="1188720" cy="274320"/>
          </a:xfrm>
          <a:prstGeom prst="roundRect">
            <a:avLst>
              <a:gd name="adj" fmla="val 13333"/>
            </a:avLst>
          </a:prstGeom>
          <a:solidFill>
            <a:srgbClr val="00A8CC"/>
          </a:solidFill>
          <a:ln w="12700">
            <a:solidFill>
              <a:srgbClr val="00A8CC"/>
            </a:solidFill>
            <a:prstDash val="solid"/>
          </a:ln>
        </p:spPr>
        <p:txBody>
          <a:bodyPr/>
          <a:lstStyle/>
          <a:p>
            <a:endParaRPr lang="en-IN"/>
          </a:p>
        </p:txBody>
      </p:sp>
      <p:sp>
        <p:nvSpPr>
          <p:cNvPr id="31" name="Text 29"/>
          <p:cNvSpPr/>
          <p:nvPr/>
        </p:nvSpPr>
        <p:spPr>
          <a:xfrm>
            <a:off x="6510528" y="4407408"/>
            <a:ext cx="1143000" cy="274320"/>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 Building Planners</a:t>
            </a:r>
            <a:endParaRPr lang="en-US" sz="750" dirty="0"/>
          </a:p>
        </p:txBody>
      </p:sp>
      <p:sp>
        <p:nvSpPr>
          <p:cNvPr id="32" name="Shape 30"/>
          <p:cNvSpPr/>
          <p:nvPr/>
        </p:nvSpPr>
        <p:spPr>
          <a:xfrm>
            <a:off x="7726680" y="4407408"/>
            <a:ext cx="1188720" cy="274320"/>
          </a:xfrm>
          <a:prstGeom prst="roundRect">
            <a:avLst>
              <a:gd name="adj" fmla="val 13333"/>
            </a:avLst>
          </a:prstGeom>
          <a:solidFill>
            <a:srgbClr val="00A8CC"/>
          </a:solidFill>
          <a:ln w="12700">
            <a:solidFill>
              <a:srgbClr val="00A8CC"/>
            </a:solidFill>
            <a:prstDash val="solid"/>
          </a:ln>
        </p:spPr>
        <p:txBody>
          <a:bodyPr/>
          <a:lstStyle/>
          <a:p>
            <a:endParaRPr lang="en-IN"/>
          </a:p>
        </p:txBody>
      </p:sp>
      <p:sp>
        <p:nvSpPr>
          <p:cNvPr id="33" name="Text 31"/>
          <p:cNvSpPr/>
          <p:nvPr/>
        </p:nvSpPr>
        <p:spPr>
          <a:xfrm>
            <a:off x="7772400" y="4407408"/>
            <a:ext cx="1143000" cy="274320"/>
          </a:xfrm>
          <a:prstGeom prst="rect">
            <a:avLst/>
          </a:prstGeom>
          <a:noFill/>
          <a:ln/>
        </p:spPr>
        <p:txBody>
          <a:bodyPr wrap="square" rtlCol="0" anchor="ctr"/>
          <a:lstStyle/>
          <a:p>
            <a:pPr marL="0" indent="0" algn="ctr">
              <a:buNone/>
            </a:pPr>
            <a:r>
              <a:rPr lang="en-US" sz="750" dirty="0">
                <a:solidFill>
                  <a:srgbClr val="FFFFFF"/>
                </a:solidFill>
                <a:latin typeface="Calibri" pitchFamily="34" charset="0"/>
                <a:ea typeface="Calibri" pitchFamily="34" charset="-122"/>
                <a:cs typeface="Calibri" pitchFamily="34" charset="-120"/>
              </a:rPr>
              <a:t>📡 Telecom Providers</a:t>
            </a:r>
            <a:endParaRPr lang="en-US" sz="750" dirty="0"/>
          </a:p>
        </p:txBody>
      </p:sp>
      <p:sp>
        <p:nvSpPr>
          <p:cNvPr id="34" name="Shape 32"/>
          <p:cNvSpPr/>
          <p:nvPr/>
        </p:nvSpPr>
        <p:spPr>
          <a:xfrm>
            <a:off x="0" y="4864608"/>
            <a:ext cx="9144000" cy="274320"/>
          </a:xfrm>
          <a:prstGeom prst="rect">
            <a:avLst/>
          </a:prstGeom>
          <a:solidFill>
            <a:srgbClr val="0D1B3E"/>
          </a:solidFill>
          <a:ln w="12700">
            <a:solidFill>
              <a:srgbClr val="0D1B3E"/>
            </a:solidFill>
            <a:prstDash val="solid"/>
          </a:ln>
        </p:spPr>
        <p:txBody>
          <a:bodyPr/>
          <a:lstStyle/>
          <a:p>
            <a:endParaRPr lang="en-IN"/>
          </a:p>
        </p:txBody>
      </p:sp>
      <p:sp>
        <p:nvSpPr>
          <p:cNvPr id="35" name="Text 33"/>
          <p:cNvSpPr/>
          <p:nvPr/>
        </p:nvSpPr>
        <p:spPr>
          <a:xfrm>
            <a:off x="274320" y="4873752"/>
            <a:ext cx="7772400" cy="256032"/>
          </a:xfrm>
          <a:prstGeom prst="rect">
            <a:avLst/>
          </a:prstGeom>
          <a:noFill/>
          <a:ln/>
        </p:spPr>
        <p:txBody>
          <a:bodyPr wrap="square" rtlCol="0" anchor="ctr"/>
          <a:lstStyle/>
          <a:p>
            <a:r>
              <a:rPr lang="en-US" sz="800" dirty="0">
                <a:solidFill>
                  <a:srgbClr val="8BA0BF"/>
                </a:solidFill>
                <a:latin typeface="Calibri" pitchFamily="34" charset="0"/>
                <a:ea typeface="Calibri" pitchFamily="34" charset="-122"/>
                <a:cs typeface="Calibri" pitchFamily="34" charset="-120"/>
              </a:rPr>
              <a:t>Drishti XR ·  Wireless Signal Mapping &amp; Visualization for Everyone</a:t>
            </a:r>
            <a:endParaRPr lang="en-US" sz="800" dirty="0"/>
          </a:p>
        </p:txBody>
      </p:sp>
      <p:sp>
        <p:nvSpPr>
          <p:cNvPr id="36" name="Text 34"/>
          <p:cNvSpPr/>
          <p:nvPr/>
        </p:nvSpPr>
        <p:spPr>
          <a:xfrm>
            <a:off x="8412480" y="4873752"/>
            <a:ext cx="548640" cy="256032"/>
          </a:xfrm>
          <a:prstGeom prst="rect">
            <a:avLst/>
          </a:prstGeom>
          <a:noFill/>
          <a:ln/>
        </p:spPr>
        <p:txBody>
          <a:bodyPr wrap="square" rtlCol="0" anchor="ctr"/>
          <a:lstStyle/>
          <a:p>
            <a:pPr marL="0" indent="0" algn="r">
              <a:buNone/>
            </a:pPr>
            <a:r>
              <a:rPr lang="en-US" sz="800" dirty="0">
                <a:solidFill>
                  <a:srgbClr val="8BA0BF"/>
                </a:solidFill>
                <a:latin typeface="Calibri" pitchFamily="34" charset="0"/>
                <a:ea typeface="Calibri" pitchFamily="34" charset="-122"/>
                <a:cs typeface="Calibri" pitchFamily="34" charset="-120"/>
              </a:rPr>
              <a:t>11 / 12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0A8CC"/>
          </a:solidFill>
          <a:ln w="12700">
            <a:solidFill>
              <a:srgbClr val="00A8CC"/>
            </a:solidFill>
            <a:prstDash val="solid"/>
          </a:ln>
        </p:spPr>
        <p:txBody>
          <a:bodyPr/>
          <a:lstStyle/>
          <a:p>
            <a:endParaRPr lang="en-IN"/>
          </a:p>
        </p:txBody>
      </p:sp>
      <p:sp>
        <p:nvSpPr>
          <p:cNvPr id="3" name="Shape 1"/>
          <p:cNvSpPr/>
          <p:nvPr/>
        </p:nvSpPr>
        <p:spPr>
          <a:xfrm>
            <a:off x="7132320" y="2926080"/>
            <a:ext cx="2743200" cy="2743200"/>
          </a:xfrm>
          <a:prstGeom prst="ellipse">
            <a:avLst/>
          </a:prstGeom>
          <a:solidFill>
            <a:srgbClr val="00A8CC">
              <a:alpha val="10000"/>
            </a:srgbClr>
          </a:solidFill>
          <a:ln w="12700">
            <a:solidFill>
              <a:srgbClr val="00A8CC">
                <a:alpha val="20000"/>
              </a:srgbClr>
            </a:solidFill>
            <a:prstDash val="solid"/>
          </a:ln>
        </p:spPr>
        <p:txBody>
          <a:bodyPr/>
          <a:lstStyle/>
          <a:p>
            <a:endParaRPr lang="en-IN"/>
          </a:p>
        </p:txBody>
      </p:sp>
      <p:sp>
        <p:nvSpPr>
          <p:cNvPr id="4" name="Text 2"/>
          <p:cNvSpPr/>
          <p:nvPr/>
        </p:nvSpPr>
        <p:spPr>
          <a:xfrm>
            <a:off x="548640" y="571500"/>
            <a:ext cx="7772400" cy="59436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Conclusion</a:t>
            </a:r>
            <a:endParaRPr lang="en-US" sz="3600" dirty="0"/>
          </a:p>
        </p:txBody>
      </p:sp>
      <p:sp>
        <p:nvSpPr>
          <p:cNvPr id="6" name="Shape 4"/>
          <p:cNvSpPr/>
          <p:nvPr/>
        </p:nvSpPr>
        <p:spPr>
          <a:xfrm>
            <a:off x="548640" y="1261872"/>
            <a:ext cx="3200400" cy="27432"/>
          </a:xfrm>
          <a:prstGeom prst="rect">
            <a:avLst/>
          </a:prstGeom>
          <a:solidFill>
            <a:srgbClr val="00A8CC"/>
          </a:solidFill>
          <a:ln w="12700">
            <a:solidFill>
              <a:srgbClr val="00A8CC"/>
            </a:solidFill>
            <a:prstDash val="solid"/>
          </a:ln>
        </p:spPr>
        <p:txBody>
          <a:bodyPr/>
          <a:lstStyle/>
          <a:p>
            <a:endParaRPr lang="en-IN"/>
          </a:p>
        </p:txBody>
      </p:sp>
      <p:sp>
        <p:nvSpPr>
          <p:cNvPr id="20" name="Shape 18"/>
          <p:cNvSpPr/>
          <p:nvPr/>
        </p:nvSpPr>
        <p:spPr>
          <a:xfrm>
            <a:off x="0" y="4864608"/>
            <a:ext cx="9144000" cy="274320"/>
          </a:xfrm>
          <a:prstGeom prst="rect">
            <a:avLst/>
          </a:prstGeom>
          <a:solidFill>
            <a:srgbClr val="030D22"/>
          </a:solidFill>
          <a:ln w="12700">
            <a:solidFill>
              <a:srgbClr val="030D22"/>
            </a:solidFill>
            <a:prstDash val="solid"/>
          </a:ln>
        </p:spPr>
        <p:txBody>
          <a:bodyPr/>
          <a:lstStyle/>
          <a:p>
            <a:endParaRPr lang="en-IN"/>
          </a:p>
        </p:txBody>
      </p:sp>
      <p:sp>
        <p:nvSpPr>
          <p:cNvPr id="21" name="Text 19"/>
          <p:cNvSpPr/>
          <p:nvPr/>
        </p:nvSpPr>
        <p:spPr>
          <a:xfrm>
            <a:off x="274320" y="4873752"/>
            <a:ext cx="7772400" cy="256032"/>
          </a:xfrm>
          <a:prstGeom prst="rect">
            <a:avLst/>
          </a:prstGeom>
          <a:noFill/>
          <a:ln/>
        </p:spPr>
        <p:txBody>
          <a:bodyPr wrap="square" rtlCol="0" anchor="ctr"/>
          <a:lstStyle/>
          <a:p>
            <a:r>
              <a:rPr lang="en-US" sz="800" dirty="0">
                <a:solidFill>
                  <a:srgbClr val="8BA0BF"/>
                </a:solidFill>
                <a:latin typeface="Calibri" pitchFamily="34" charset="0"/>
                <a:ea typeface="Calibri" pitchFamily="34" charset="-122"/>
                <a:cs typeface="Calibri" pitchFamily="34" charset="-120"/>
              </a:rPr>
              <a:t>Drishti XR ·  Wireless Signal Mapping &amp; Visualization for Everyone</a:t>
            </a:r>
            <a:endParaRPr lang="en-US" sz="800" dirty="0"/>
          </a:p>
        </p:txBody>
      </p:sp>
      <p:sp>
        <p:nvSpPr>
          <p:cNvPr id="22" name="Text 20"/>
          <p:cNvSpPr/>
          <p:nvPr/>
        </p:nvSpPr>
        <p:spPr>
          <a:xfrm>
            <a:off x="8412480" y="4873752"/>
            <a:ext cx="548640" cy="256032"/>
          </a:xfrm>
          <a:prstGeom prst="rect">
            <a:avLst/>
          </a:prstGeom>
          <a:noFill/>
          <a:ln/>
        </p:spPr>
        <p:txBody>
          <a:bodyPr wrap="square" rtlCol="0" anchor="ctr"/>
          <a:lstStyle/>
          <a:p>
            <a:pPr marL="0" indent="0" algn="r">
              <a:buNone/>
            </a:pPr>
            <a:r>
              <a:rPr lang="en-US" sz="800" dirty="0">
                <a:solidFill>
                  <a:srgbClr val="8BA0BF"/>
                </a:solidFill>
                <a:latin typeface="Calibri" pitchFamily="34" charset="0"/>
                <a:ea typeface="Calibri" pitchFamily="34" charset="-122"/>
                <a:cs typeface="Calibri" pitchFamily="34" charset="-120"/>
              </a:rPr>
              <a:t>12 / 12</a:t>
            </a:r>
            <a:endParaRPr lang="en-US" sz="800" dirty="0"/>
          </a:p>
        </p:txBody>
      </p:sp>
      <p:sp>
        <p:nvSpPr>
          <p:cNvPr id="24" name="TextBox 23">
            <a:extLst>
              <a:ext uri="{FF2B5EF4-FFF2-40B4-BE49-F238E27FC236}">
                <a16:creationId xmlns:a16="http://schemas.microsoft.com/office/drawing/2014/main" id="{9F430ECD-1A0E-7D13-9D7F-01121308C1D9}"/>
              </a:ext>
            </a:extLst>
          </p:cNvPr>
          <p:cNvSpPr txBox="1"/>
          <p:nvPr/>
        </p:nvSpPr>
        <p:spPr>
          <a:xfrm>
            <a:off x="441960" y="1789176"/>
            <a:ext cx="8572500" cy="2554545"/>
          </a:xfrm>
          <a:prstGeom prst="rect">
            <a:avLst/>
          </a:prstGeom>
          <a:noFill/>
        </p:spPr>
        <p:txBody>
          <a:bodyPr wrap="square" rtlCol="0">
            <a:spAutoFit/>
          </a:bodyPr>
          <a:lstStyle/>
          <a:p>
            <a:pPr algn="just"/>
            <a:r>
              <a:rPr lang="en-US" sz="1600" dirty="0">
                <a:solidFill>
                  <a:schemeClr val="bg1"/>
                </a:solidFill>
                <a:latin typeface="Times New Roman" panose="02020603050405020304" pitchFamily="18" charset="0"/>
                <a:cs typeface="Times New Roman" panose="02020603050405020304" pitchFamily="18" charset="0"/>
              </a:rPr>
              <a:t>Drishti XR redefines how users interact with wireless environments by making invisible signals visible through Mixed Reality on any smartphone. By eliminating the need for specialized tools or technical expertise, it empowers users to identify dead zones, congestion areas, and physical obstacles in real time.</a:t>
            </a:r>
          </a:p>
          <a:p>
            <a:pPr algn="just"/>
            <a:r>
              <a:rPr lang="en-US" sz="1600" dirty="0">
                <a:solidFill>
                  <a:schemeClr val="bg1"/>
                </a:solidFill>
                <a:latin typeface="Times New Roman" panose="02020603050405020304" pitchFamily="18" charset="0"/>
                <a:cs typeface="Times New Roman" panose="02020603050405020304" pitchFamily="18" charset="0"/>
              </a:rPr>
              <a:t>Leveraging </a:t>
            </a:r>
            <a:r>
              <a:rPr lang="en-US" sz="1600" b="1" dirty="0">
                <a:solidFill>
                  <a:schemeClr val="bg1"/>
                </a:solidFill>
                <a:latin typeface="Times New Roman" panose="02020603050405020304" pitchFamily="18" charset="0"/>
                <a:cs typeface="Times New Roman" panose="02020603050405020304" pitchFamily="18" charset="0"/>
              </a:rPr>
              <a:t>5G capabilities </a:t>
            </a:r>
            <a:r>
              <a:rPr lang="en-US" sz="1600" dirty="0">
                <a:solidFill>
                  <a:schemeClr val="bg1"/>
                </a:solidFill>
                <a:latin typeface="Times New Roman" panose="02020603050405020304" pitchFamily="18" charset="0"/>
                <a:cs typeface="Times New Roman" panose="02020603050405020304" pitchFamily="18" charset="0"/>
              </a:rPr>
              <a:t>such as high-speed data and low latency, the system enables seamless, real-time visualization and interaction, enhancing both user experience and learning.</a:t>
            </a:r>
          </a:p>
          <a:p>
            <a:pPr algn="just"/>
            <a:r>
              <a:rPr lang="en-US" sz="1600" dirty="0">
                <a:solidFill>
                  <a:schemeClr val="bg1"/>
                </a:solidFill>
                <a:latin typeface="Times New Roman" panose="02020603050405020304" pitchFamily="18" charset="0"/>
                <a:cs typeface="Times New Roman" panose="02020603050405020304" pitchFamily="18" charset="0"/>
              </a:rPr>
              <a:t>Beyond connectivity optimization, Drishti XR serves as a powerful educational platform, transforming complex wireless concepts into intuitive, real-world understanding.</a:t>
            </a:r>
          </a:p>
          <a:p>
            <a:pPr algn="just"/>
            <a:r>
              <a:rPr lang="en-US" sz="1600" b="1" i="1" dirty="0">
                <a:solidFill>
                  <a:schemeClr val="bg1"/>
                </a:solidFill>
                <a:latin typeface="Times New Roman" panose="02020603050405020304" pitchFamily="18" charset="0"/>
                <a:cs typeface="Times New Roman" panose="02020603050405020304" pitchFamily="18" charset="0"/>
              </a:rPr>
              <a:t>It enables anyone to see signals, understand their space, and improve connectivity directly from their device.</a:t>
            </a:r>
            <a:endParaRPr lang="en-US" sz="1600" i="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TM02900769[[fn=Retrospect]]</Template>
  <TotalTime>38</TotalTime>
  <Words>2444</Words>
  <Application>Microsoft Office PowerPoint</Application>
  <PresentationFormat>On-screen Show (16:9)</PresentationFormat>
  <Paragraphs>250</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Calibri</vt:lpstr>
      <vt:lpstr>Calibri Light</vt:lpstr>
      <vt:lpstr>Times New Roman</vt:lpstr>
      <vt:lpstr>Retrospect</vt:lpstr>
      <vt:lpstr>Drishti XR: 5G-Enabled Mixed Reality Platform for Real-Time Signal Visualization and Interactive Learning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SignalSense MR – Formal Project Proposal</dc:title>
  <dc:subject>PptxGenJS Presentation</dc:subject>
  <dc:creator>SignalSense MR Team</dc:creator>
  <cp:lastModifiedBy>Nisarga S - 240941005 - MITMPL</cp:lastModifiedBy>
  <cp:revision>5</cp:revision>
  <dcterms:created xsi:type="dcterms:W3CDTF">2026-04-15T03:10:12Z</dcterms:created>
  <dcterms:modified xsi:type="dcterms:W3CDTF">2026-04-15T03:53:03Z</dcterms:modified>
</cp:coreProperties>
</file>