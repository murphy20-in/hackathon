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FFFFFF"/>
                </a:solidFill>
                <a:latin typeface="Bebas Neue"/>
              </a:rPr>
              <a:t>SurakṣāMārga.ai</a:t>
            </a:r>
            <a:r>
              <a:rPr sz="900" b="1">
                <a:solidFill>
                  <a:srgbClr val="999999"/>
                </a:solidFill>
                <a:latin typeface="DM Sans"/>
              </a:rPr>
              <a:t>  (SuraksaMarga.ai)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295" y="411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5G INNOVATION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999999"/>
                </a:solidFill>
                <a:latin typeface="DM Sans"/>
              </a:rPr>
              <a:t>A 5G-ENABLED AI SYSTEM FOR WOMEN SAFETY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9600" b="0" i="0">
                <a:solidFill>
                  <a:srgbClr val="FFFFFF"/>
                </a:solidFill>
                <a:latin typeface="Bebas Neue"/>
              </a:rPr>
              <a:t>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9600" b="0" i="0">
                <a:solidFill>
                  <a:srgbClr val="FFFFFF"/>
                </a:solidFill>
                <a:latin typeface="Bebas Neue"/>
              </a:rPr>
              <a:t>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9600" b="0" i="0">
                <a:solidFill>
                  <a:srgbClr val="FF5500"/>
                </a:solidFill>
                <a:latin typeface="Bebas Neue"/>
              </a:rPr>
              <a:t>SPEED.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01168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DM Sans"/>
              </a:rPr>
              <a:t>Great navigation should feel protective.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697480"/>
            <a:ext cx="3840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999999"/>
                </a:solidFill>
                <a:latin typeface="DM Sans"/>
              </a:rPr>
              <a:t>We re-engineer urban routing around the realities women face, weighing 157,160 real crime records to navigate around danger, not just toward a destination.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440680"/>
            <a:ext cx="11094415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5623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F5500"/>
                </a:solidFill>
                <a:latin typeface="Bebas Neu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DM Sans"/>
              </a:rPr>
              <a:t>Safe Route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2243" y="5623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F5500"/>
                </a:solidFill>
                <a:latin typeface="Bebas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2243" y="6126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DM Sans"/>
              </a:rPr>
              <a:t>Crime-Weighted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5623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F5500"/>
                </a:solidFill>
                <a:latin typeface="Bebas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6126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DM Sans"/>
              </a:rPr>
              <a:t>5G SOS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451" y="5623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F5500"/>
                </a:solidFill>
                <a:latin typeface="Bebas Neu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451" y="6126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DM Sans"/>
              </a:rPr>
              <a:t>Live Safety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KAARTHIKEYA PAHALWAN  ·  NISARGA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Bebas Neue"/>
              </a:rPr>
              <a:t>SurakṣāMārga.ai</a:t>
            </a:r>
            <a:r>
              <a:rPr sz="900" b="1">
                <a:solidFill>
                  <a:srgbClr val="999999"/>
                </a:solidFill>
                <a:latin typeface="DM Sans"/>
              </a:rPr>
              <a:t>  (SuraksaMarga.ai)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5G INNOVATION HACKATHON  ·  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F5500"/>
                </a:solidFill>
                <a:latin typeface="Bebas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070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858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800" b="0" i="0">
                <a:solidFill>
                  <a:srgbClr val="FFFFFF"/>
                </a:solidFill>
                <a:latin typeface="Bebas Neue"/>
              </a:rPr>
              <a:t>NAVIGATION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6858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800" b="0" i="0">
                <a:solidFill>
                  <a:srgbClr val="FFFFFF"/>
                </a:solidFill>
                <a:latin typeface="Bebas Neue"/>
              </a:rPr>
              <a:t>WAS NEVER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6858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800" b="0" i="0">
                <a:solidFill>
                  <a:srgbClr val="FF5500"/>
                </a:solidFill>
                <a:latin typeface="Bebas Neue"/>
              </a:rPr>
              <a:t>FOR 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64008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999999"/>
                </a:solidFill>
                <a:latin typeface="DM Sans"/>
              </a:rPr>
              <a:t>Modern mapping apps optimise for journey time, exposing women to isolated shortcuts, desolate backstreets and unlit alleys, especially after dark.
SuraksaMarga.ai bridges geospatial routing with real-world danger prevention. It actively protects women by prioritising localised safety intelligence over arbitrary travel speed.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600200"/>
            <a:ext cx="4297680" cy="452628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rakṣāMārga.ai landing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2" y="2709395"/>
            <a:ext cx="3968496" cy="230789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SURAKṢĀMĀRGA.AI  ·  WOMEN-FIRST SAFE NAVIGATION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Bebas Neue"/>
              </a:rPr>
              <a:t>SurakṣāMārga.ai</a:t>
            </a:r>
            <a:r>
              <a:rPr sz="900" b="1">
                <a:solidFill>
                  <a:srgbClr val="999999"/>
                </a:solidFill>
                <a:latin typeface="DM Sans"/>
              </a:rPr>
              <a:t>  (SuraksaMarga.ai)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5G INNOVATION HACKATHON  ·  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F5500"/>
                </a:solidFill>
                <a:latin typeface="Bebas Neue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070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200" b="0" i="0">
                <a:solidFill>
                  <a:srgbClr val="FFFFFF"/>
                </a:solidFill>
                <a:latin typeface="Bebas Neue"/>
              </a:rPr>
              <a:t>THE MAP IGNORES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200" b="0" i="0">
                <a:solidFill>
                  <a:srgbClr val="FF5500"/>
                </a:solidFill>
                <a:latin typeface="Bebas Neue"/>
              </a:rPr>
              <a:t>WHAT WOMEN ALREADY KNOW.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3545738" cy="23774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5500"/>
                </a:solidFill>
                <a:latin typeface="Bebas Neue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DM Sans"/>
              </a:rPr>
              <a:t>Time-Only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54880"/>
            <a:ext cx="290565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999999"/>
                </a:solidFill>
                <a:latin typeface="DM Sans"/>
              </a:rPr>
              <a:t>Commercial systems apply rigid pedestrian models focused entirely on reducing time and distance, never on safety.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2978" y="3657600"/>
            <a:ext cx="3545738" cy="23774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3018" y="39319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5500"/>
                </a:solidFill>
                <a:latin typeface="Bebas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3018" y="434340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DM Sans"/>
              </a:rPr>
              <a:t>Forced Unsafe Shortcuts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4754880"/>
            <a:ext cx="290565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999999"/>
                </a:solidFill>
                <a:latin typeface="DM Sans"/>
              </a:rPr>
              <a:t>Women are routed into inherently threatening terrain without any advanced warning of crime hotspots or isolation.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3657600"/>
            <a:ext cx="3545738" cy="23774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7356" y="39319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5500"/>
                </a:solidFill>
                <a:latin typeface="Bebas Neu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7356" y="434340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DM Sans"/>
              </a:rPr>
              <a:t>No Protective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4754880"/>
            <a:ext cx="290565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999999"/>
                </a:solidFill>
                <a:latin typeface="DM Sans"/>
              </a:rPr>
              <a:t>Users must exit the map to formulate emergency communications when danger is imminent, a critical systemic failure.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SURAKṢĀMĀRGA.AI  ·  WOMEN-FIRST SAFE NAVIGATION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Bebas Neue"/>
              </a:rPr>
              <a:t>SurakṣāMārga.ai</a:t>
            </a:r>
            <a:r>
              <a:rPr sz="900" b="1">
                <a:solidFill>
                  <a:srgbClr val="999999"/>
                </a:solidFill>
                <a:latin typeface="DM Sans"/>
              </a:rPr>
              <a:t>  (SuraksaMarga.ai)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5G INNOVATION HACKATHON  ·  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F5500"/>
                </a:solidFill>
                <a:latin typeface="Bebas Neue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070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200" b="0" i="0">
                <a:solidFill>
                  <a:srgbClr val="FFFFFF"/>
                </a:solidFill>
                <a:latin typeface="Bebas Neue"/>
              </a:rPr>
              <a:t>RAPID. SECURE.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200" b="0" i="0">
                <a:solidFill>
                  <a:srgbClr val="FF5500"/>
                </a:solidFill>
                <a:latin typeface="Bebas Neue"/>
              </a:rPr>
              <a:t>WOMEN-FIRST TRANSIT.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2622727" cy="23774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5500"/>
                </a:solidFill>
                <a:latin typeface="Bebas Neue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207408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DM Sans"/>
              </a:rPr>
              <a:t>Safe Route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2074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999999"/>
                </a:solidFill>
                <a:latin typeface="DM Sans"/>
              </a:rPr>
              <a:t>Map the safest traversal, explicitly avoiding identified danger zones.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2535" y="3657600"/>
            <a:ext cx="2622727" cy="23774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6855" y="39319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5500"/>
                </a:solidFill>
                <a:latin typeface="Bebas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6855" y="4434840"/>
            <a:ext cx="207408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DM Sans"/>
              </a:rPr>
              <a:t>Women-Centric Crime Weighting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6855" y="5212080"/>
            <a:ext cx="2074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999999"/>
                </a:solidFill>
                <a:latin typeface="DM Sans"/>
              </a:rPr>
              <a:t>Penalise routes featuring histories of gender-based crime incidents.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3657600"/>
            <a:ext cx="2622727" cy="23774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0751" y="39319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5500"/>
                </a:solidFill>
                <a:latin typeface="Bebas Neu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751" y="4434840"/>
            <a:ext cx="207408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DM Sans"/>
              </a:rPr>
              <a:t>SOS Emergency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0751" y="5212080"/>
            <a:ext cx="2074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999999"/>
                </a:solidFill>
                <a:latin typeface="DM Sans"/>
              </a:rPr>
              <a:t>Trigger live location tracking and responder alerts seamlessly.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0327" y="3657600"/>
            <a:ext cx="2622727" cy="23774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4647" y="39319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5500"/>
                </a:solidFill>
                <a:latin typeface="Bebas Neu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4647" y="4434840"/>
            <a:ext cx="207408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DM Sans"/>
              </a:rPr>
              <a:t>5G Low-Latency Capability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4647" y="5212080"/>
            <a:ext cx="20740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999999"/>
                </a:solidFill>
                <a:latin typeface="DM Sans"/>
              </a:rPr>
              <a:t>Utilise 5G for immediate safety-system distress broadcasts.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SURAKṢĀMĀRGA.AI  ·  WOMEN-FIRST SAFE NAVIGATION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Bebas Neue"/>
              </a:rPr>
              <a:t>SurakṣāMārga.ai</a:t>
            </a:r>
            <a:r>
              <a:rPr sz="900" b="1">
                <a:solidFill>
                  <a:srgbClr val="999999"/>
                </a:solidFill>
                <a:latin typeface="DM Sans"/>
              </a:rPr>
              <a:t>  (SuraksaMarga.ai)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5G INNOVATION HACKATHON  ·  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F5500"/>
                </a:solidFill>
                <a:latin typeface="Bebas Neue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070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EXISTING WORK &amp; RESEARCH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600" b="0" i="0">
                <a:solidFill>
                  <a:srgbClr val="FFFFFF"/>
                </a:solidFill>
                <a:latin typeface="Bebas Neue"/>
              </a:rPr>
              <a:t>FAST, NOT 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600" b="0" i="0">
                <a:solidFill>
                  <a:srgbClr val="FF5500"/>
                </a:solidFill>
                <a:latin typeface="Bebas Neue"/>
              </a:rPr>
              <a:t>WE BRIDGE THE 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6583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999999"/>
                </a:solidFill>
                <a:latin typeface="DM Sans"/>
              </a:rPr>
              <a:t>Google Maps and OSRM rely exclusively on the "fastest route" mentality. They possess no capacity to distinguish a secure, well-lit main avenue from an inherently unsafe, desolate alleyway.
Gender-specific risk is totally absent from modern mapping tools. Existing solutions treat all pedestrians uniformly. SuraksaMarga.ai directly enforces safety constraints first and speed constraints second.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600200"/>
            <a:ext cx="4114800" cy="45720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874520"/>
            <a:ext cx="16687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999999"/>
                </a:solidFill>
                <a:latin typeface="DM Sans"/>
              </a:rPr>
              <a:t>EXISTING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0" y="1874520"/>
            <a:ext cx="16687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5500"/>
                </a:solidFill>
                <a:latin typeface="DM Sans"/>
              </a:rPr>
              <a:t>OURS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9560" y="2240280"/>
            <a:ext cx="3474720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09560" y="2377440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999999"/>
                </a:solidFill>
                <a:latin typeface="DM Sans"/>
              </a:rPr>
              <a:t>ROUTING BASIS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633472"/>
            <a:ext cx="16687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99999"/>
                </a:solidFill>
                <a:latin typeface="DM Sans"/>
              </a:rPr>
              <a:t>Time / 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0" y="2633472"/>
            <a:ext cx="16687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5500"/>
                </a:solidFill>
                <a:latin typeface="DM Sans"/>
              </a:rPr>
              <a:t>Crime-weighted safety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09560" y="3044952"/>
            <a:ext cx="3474720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09560" y="3090672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999999"/>
                </a:solidFill>
                <a:latin typeface="DM Sans"/>
              </a:rPr>
              <a:t>GENDER AWARENESS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346704"/>
            <a:ext cx="16687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99999"/>
                </a:solidFill>
                <a:latin typeface="DM Sans"/>
              </a:rPr>
              <a:t>None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0" y="3346704"/>
            <a:ext cx="16687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5500"/>
                </a:solidFill>
                <a:latin typeface="DM Sans"/>
              </a:rPr>
              <a:t>Women-first weighting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09560" y="3758184"/>
            <a:ext cx="3474720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909560" y="3803904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999999"/>
                </a:solidFill>
                <a:latin typeface="DM Sans"/>
              </a:rPr>
              <a:t>NIGHT-TIME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059936"/>
            <a:ext cx="16687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99999"/>
                </a:solidFill>
                <a:latin typeface="DM Sans"/>
              </a:rPr>
              <a:t>Static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0" y="4059936"/>
            <a:ext cx="16687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5500"/>
                </a:solidFill>
                <a:latin typeface="DM Sans"/>
              </a:rPr>
              <a:t>Active multipliers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09560" y="4471416"/>
            <a:ext cx="3474720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09560" y="4517136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999999"/>
                </a:solidFill>
                <a:latin typeface="DM Sans"/>
              </a:rPr>
              <a:t>SOS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773168"/>
            <a:ext cx="16687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99999"/>
                </a:solidFill>
                <a:latin typeface="DM Sans"/>
              </a:rPr>
              <a:t>External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5500" y="4773168"/>
            <a:ext cx="16687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5500"/>
                </a:solidFill>
                <a:latin typeface="DM Sans"/>
              </a:rPr>
              <a:t>Built into route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09560" y="5184648"/>
            <a:ext cx="3474720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09560" y="5230368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999999"/>
                </a:solidFill>
                <a:latin typeface="DM Sans"/>
              </a:rPr>
              <a:t>LATENCY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5486400"/>
            <a:ext cx="16687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99999"/>
                </a:solidFill>
                <a:latin typeface="DM Sans"/>
              </a:rPr>
              <a:t>Best-effort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5500" y="5486400"/>
            <a:ext cx="16687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5500"/>
                </a:solidFill>
                <a:latin typeface="DM Sans"/>
              </a:rPr>
              <a:t>5G edge ~10 ms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09560" y="5897880"/>
            <a:ext cx="3474720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SURAKṢĀMĀRGA.AI  ·  WOMEN-FIRST SAFE NAVIGATION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Bebas Neue"/>
              </a:rPr>
              <a:t>SurakṣāMārga.ai</a:t>
            </a:r>
            <a:r>
              <a:rPr sz="900" b="1">
                <a:solidFill>
                  <a:srgbClr val="999999"/>
                </a:solidFill>
                <a:latin typeface="DM Sans"/>
              </a:rPr>
              <a:t>  (SuraksaMarga.ai)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5G INNOVATION HACKATHON  ·  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F5500"/>
                </a:solidFill>
                <a:latin typeface="Bebas Neue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070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PROPOSED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FFFFFF"/>
                </a:solidFill>
                <a:latin typeface="Bebas Neue"/>
              </a:rPr>
              <a:t>SIX SUBSYSTEMS. ONE SAFE JOURNEY.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2267712" cy="1677924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862072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5500"/>
                </a:solidFill>
                <a:latin typeface="Bebas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46120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DM Sans"/>
              </a:rPr>
              <a:t>Routing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11880"/>
            <a:ext cx="1865376" cy="672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999999"/>
                </a:solidFill>
                <a:latin typeface="DM Sans"/>
              </a:rPr>
              <a:t>Prioritises safest paths over shortest distance by penalising high-risk segments derived from crime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80944" y="2697480"/>
            <a:ext cx="2267712" cy="1677924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2862072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5500"/>
                </a:solidFill>
                <a:latin typeface="Bebas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3246120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DM Sans"/>
              </a:rPr>
              <a:t>Risk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3611880"/>
            <a:ext cx="1865376" cy="672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999999"/>
                </a:solidFill>
                <a:latin typeface="DM Sans"/>
              </a:rPr>
              <a:t>Crimes targeting women receive maximum analytical weight, guaranteed circumvention of historically hostile streets.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13248" y="2697480"/>
            <a:ext cx="2267712" cy="1677924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14416" y="2862072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5500"/>
                </a:solidFill>
                <a:latin typeface="Bebas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4416" y="3246120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DM Sans"/>
              </a:rPr>
              <a:t>Temporal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4416" y="3611880"/>
            <a:ext cx="1865376" cy="672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999999"/>
                </a:solidFill>
                <a:latin typeface="DM Sans"/>
              </a:rPr>
              <a:t>Night-time multipliers redirect predictive paths heavily toward well-lit, trafficked thoroughfares.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39996"/>
            <a:ext cx="2267712" cy="1677924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7045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5500"/>
                </a:solidFill>
                <a:latin typeface="Bebas Neu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088636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DM Sans"/>
              </a:rPr>
              <a:t>SOS Emergency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54396"/>
            <a:ext cx="1865376" cy="672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999999"/>
                </a:solidFill>
                <a:latin typeface="DM Sans"/>
              </a:rPr>
              <a:t>Long-press bypasses navigation to initiate live geo-tracking and transmit high-priority alerts to responders.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80944" y="4539996"/>
            <a:ext cx="2267712" cy="1677924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82112" y="47045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5500"/>
                </a:solidFill>
                <a:latin typeface="Bebas Neue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2112" y="5088636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DM Sans"/>
              </a:rPr>
              <a:t>5G Safety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5454396"/>
            <a:ext cx="1865376" cy="672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999999"/>
                </a:solidFill>
                <a:latin typeface="DM Sans"/>
              </a:rPr>
              <a:t>Removes data-transmission limits, split-second distress beacons without buffer wait times.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13248" y="4539996"/>
            <a:ext cx="2267712" cy="1677924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14416" y="47045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5500"/>
                </a:solidFill>
                <a:latin typeface="Bebas Neue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5088636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DM Sans"/>
              </a:rPr>
              <a:t>Scalable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14416" y="5454396"/>
            <a:ext cx="1865376" cy="672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999999"/>
                </a:solidFill>
                <a:latin typeface="DM Sans"/>
              </a:rPr>
              <a:t>Demonstrated in Bengaluru on 157,160 records; architecture designed to expand to additional cities.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2697480"/>
            <a:ext cx="3749039" cy="352044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urakṣāMārga.ai SAFETY LOOP CLOSURE Flow:START → Route Selected → Tracking → Arrival → SAFE CONFI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064" y="2862072"/>
            <a:ext cx="2537469" cy="319125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955279" y="237744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50">
                <a:solidFill>
                  <a:srgbClr val="999999"/>
                </a:solidFill>
                <a:latin typeface="DM Sans"/>
              </a:rPr>
              <a:t>SAFETY LOOP CLOSURE  ·  END-TO-END FLOW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SURAKṢĀMĀRGA.AI  ·  WOMEN-FIRST SAFE NAVIGATION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Bebas Neue"/>
              </a:rPr>
              <a:t>SurakṣāMārga.ai</a:t>
            </a:r>
            <a:r>
              <a:rPr sz="900" b="1">
                <a:solidFill>
                  <a:srgbClr val="999999"/>
                </a:solidFill>
                <a:latin typeface="DM Sans"/>
              </a:rPr>
              <a:t>  (SuraksaMarga.ai)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5G INNOVATION HACKATHON  ·  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F5500"/>
                </a:solidFill>
                <a:latin typeface="Bebas Neue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070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EXPERIMENTS &amp;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200" b="0" i="0">
                <a:solidFill>
                  <a:srgbClr val="FFFFFF"/>
                </a:solidFill>
                <a:latin typeface="Bebas Neue"/>
              </a:rPr>
              <a:t>5G EDGE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200" b="0" i="0">
                <a:solidFill>
                  <a:srgbClr val="FF5500"/>
                </a:solidFill>
                <a:latin typeface="Bebas Neue"/>
              </a:rPr>
              <a:t>EVERYTHING.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6949440" cy="292608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300">
                <a:solidFill>
                  <a:srgbClr val="999999"/>
                </a:solidFill>
                <a:latin typeface="DM Sans"/>
              </a:rPr>
              <a:t>EMERGENCY RESPONSE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776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50">
                <a:solidFill>
                  <a:srgbClr val="999999"/>
                </a:solidFill>
                <a:latin typeface="DM Sans"/>
              </a:rPr>
              <a:t>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97764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999999"/>
                </a:solidFill>
                <a:latin typeface="DM Sans"/>
              </a:rPr>
              <a:t>3G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97764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999999"/>
                </a:solidFill>
                <a:latin typeface="DM Sans"/>
              </a:rPr>
              <a:t>4G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97764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FF5500"/>
                </a:solidFill>
                <a:latin typeface="DM Sans"/>
              </a:rPr>
              <a:t>5G Edge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4361688"/>
            <a:ext cx="6309360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45262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DM Sans"/>
              </a:rPr>
              <a:t>Route Safety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52628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999999"/>
                </a:solidFill>
                <a:latin typeface="DM Sans"/>
              </a:rPr>
              <a:t>~700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52628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999999"/>
                </a:solidFill>
                <a:latin typeface="DM Sans"/>
              </a:rPr>
              <a:t>~250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52628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5500"/>
                </a:solidFill>
                <a:latin typeface="DM Sans"/>
              </a:rPr>
              <a:t>~50 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4937760"/>
            <a:ext cx="6309360" cy="0"/>
          </a:xfrm>
          <a:prstGeom prst="line">
            <a:avLst/>
          </a:prstGeom>
          <a:ln w="952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4937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DM Sans"/>
              </a:rPr>
              <a:t>SOS Distress Broadcast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93776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999999"/>
                </a:solidFill>
                <a:latin typeface="DM Sans"/>
              </a:rPr>
              <a:t>~400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93776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999999"/>
                </a:solidFill>
                <a:latin typeface="DM Sans"/>
              </a:rPr>
              <a:t>~150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93776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5500"/>
                </a:solidFill>
                <a:latin typeface="DM Sans"/>
              </a:rPr>
              <a:t>~10 ms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5349240"/>
            <a:ext cx="6309360" cy="0"/>
          </a:xfrm>
          <a:prstGeom prst="line">
            <a:avLst/>
          </a:prstGeom>
          <a:ln w="952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DM Sans"/>
              </a:rPr>
              <a:t>Live Tracker Updates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34924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999999"/>
                </a:solidFill>
                <a:latin typeface="DM Sans"/>
              </a:rPr>
              <a:t>Every 30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34924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999999"/>
                </a:solidFill>
                <a:latin typeface="DM Sans"/>
              </a:rPr>
              <a:t>Every 15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349240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5500"/>
                </a:solidFill>
                <a:latin typeface="DM Sans"/>
              </a:rPr>
              <a:t>Every 2 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8680" y="5760720"/>
            <a:ext cx="6309360" cy="0"/>
          </a:xfrm>
          <a:prstGeom prst="line">
            <a:avLst/>
          </a:prstGeom>
          <a:ln w="9525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68680" y="576072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1">
                <a:solidFill>
                  <a:srgbClr val="999999"/>
                </a:solidFill>
                <a:latin typeface="DM Sans"/>
              </a:rPr>
              <a:t>5G bypasses 4G connectivity ceilings, directly accelerating emergency response for women in transit.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3337560"/>
            <a:ext cx="4023360" cy="292608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urakṣāMārga.ai Complete safe route 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3686957"/>
            <a:ext cx="3694176" cy="22272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680960" y="30175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50">
                <a:solidFill>
                  <a:srgbClr val="999999"/>
                </a:solidFill>
                <a:latin typeface="DM Sans"/>
              </a:rPr>
              <a:t>COMPLETE ROUTE MATRIX  ·  PROTECTIVE INTERVENTIONS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SURAKṢĀMĀRGA.AI  ·  WOMEN-FIRST SAFE NAVIGATION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Bebas Neue"/>
              </a:rPr>
              <a:t>SurakṣāMārga.ai</a:t>
            </a:r>
            <a:r>
              <a:rPr sz="900" b="1">
                <a:solidFill>
                  <a:srgbClr val="999999"/>
                </a:solidFill>
                <a:latin typeface="DM Sans"/>
              </a:rPr>
              <a:t>  (SuraksaMarga.ai)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5G INNOVATION HACKATHON  · 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F5500"/>
                </a:solidFill>
                <a:latin typeface="Bebas Neue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070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NOVELTY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600" b="0" i="0">
                <a:solidFill>
                  <a:srgbClr val="FFFFFF"/>
                </a:solidFill>
                <a:latin typeface="Bebas Neue"/>
              </a:rPr>
              <a:t>BUILT UNIQUELY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600" b="0" i="0">
                <a:solidFill>
                  <a:srgbClr val="FF5500"/>
                </a:solidFill>
                <a:latin typeface="Bebas Neue"/>
              </a:rPr>
              <a:t>FOR PROTECTION.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7040880" cy="713232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564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5500"/>
                </a:solidFill>
                <a:latin typeface="Bebas Neue"/>
              </a:rPr>
              <a:t>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9300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DM Sans"/>
              </a:rPr>
              <a:t>Women-first safety routing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33088"/>
            <a:ext cx="7040880" cy="713232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5500"/>
                </a:solidFill>
                <a:latin typeface="Bebas Neue"/>
              </a:rPr>
              <a:t>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33425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DM Sans"/>
              </a:rPr>
              <a:t>Safety prioritised over speed.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74336"/>
            <a:ext cx="7040880" cy="713232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3892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5500"/>
                </a:solidFill>
                <a:latin typeface="Bebas Neue"/>
              </a:rPr>
              <a:t>INTEGRATED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17550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DM Sans"/>
              </a:rPr>
              <a:t>SOS + navigation in a single layer.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15584"/>
            <a:ext cx="7040880" cy="713232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98017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5500"/>
                </a:solidFill>
                <a:latin typeface="Bebas Neue"/>
              </a:rPr>
              <a:t>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601675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DM Sans"/>
              </a:rPr>
              <a:t>5G-enabled real-time protection.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1600200"/>
            <a:ext cx="3749039" cy="46177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urakṣāMārga.ai route suggestion 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1" y="1928835"/>
            <a:ext cx="3419855" cy="3960450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SURAKṢĀMĀRGA.AI  ·  WOMEN-FIRST SAFE NAVIGATION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 spc="300">
                <a:solidFill>
                  <a:srgbClr val="999999"/>
                </a:solidFill>
                <a:latin typeface="DM Sans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Bebas Neue"/>
              </a:rPr>
              <a:t>SurakṣāMārga.ai</a:t>
            </a:r>
            <a:r>
              <a:rPr sz="900" b="1">
                <a:solidFill>
                  <a:srgbClr val="999999"/>
                </a:solidFill>
                <a:latin typeface="DM Sans"/>
              </a:rPr>
              <a:t>  (SuraksaMarga.ai)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5G INNOVATION HACKATHON  ·  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F5500"/>
                </a:solidFill>
                <a:latin typeface="Bebas Neue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070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400" b="0" i="0">
                <a:solidFill>
                  <a:srgbClr val="FFFFFF"/>
                </a:solidFill>
                <a:latin typeface="Bebas Neue"/>
              </a:rPr>
              <a:t>NAVIGATION,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400" b="0" i="0">
                <a:solidFill>
                  <a:srgbClr val="FFFFFF"/>
                </a:solidFill>
                <a:latin typeface="Bebas Neue"/>
              </a:rPr>
              <a:t>REBUILT AS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400" b="0" i="0">
                <a:solidFill>
                  <a:srgbClr val="FF5500"/>
                </a:solidFill>
                <a:latin typeface="Bebas Neue"/>
              </a:rPr>
              <a:t>INFRASTRUCTURE.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6858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999999"/>
                </a:solidFill>
                <a:latin typeface="DM Sans"/>
              </a:rPr>
              <a:t>By shifting the foundational routing algorithm to prioritise protection over proximity, SuraksaMarga.ai solves a critical real-world safety problem, transforming navigation from a convenience tool into real-time safety infrastructure for women.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297680"/>
            <a:ext cx="4023360" cy="1874519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45262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300">
                <a:solidFill>
                  <a:srgbClr val="FF5500"/>
                </a:solidFill>
                <a:latin typeface="DM Sans"/>
              </a:rPr>
              <a:t>FUTURE ENHANCEMENT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4846320"/>
            <a:ext cx="347472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FFFFFF"/>
                </a:solidFill>
                <a:latin typeface="DM Sans"/>
              </a:rPr>
              <a:t>Real-time data integration enables predictive heat-mapping, anticipating risk zones dynamically by combining historical patterns with live situational awareness.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THANK YOU  ·  KAARTHIKEYA PAHALWAN  ·  NISARGA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300">
                <a:solidFill>
                  <a:srgbClr val="999999"/>
                </a:solidFill>
                <a:latin typeface="DM Sans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